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18"/>
  </p:notesMasterIdLst>
  <p:handoutMasterIdLst>
    <p:handoutMasterId r:id="rId19"/>
  </p:handoutMasterIdLst>
  <p:sldIdLst>
    <p:sldId id="257" r:id="rId4"/>
    <p:sldId id="311" r:id="rId5"/>
    <p:sldId id="298" r:id="rId6"/>
    <p:sldId id="299" r:id="rId7"/>
    <p:sldId id="309" r:id="rId8"/>
    <p:sldId id="300" r:id="rId9"/>
    <p:sldId id="301" r:id="rId10"/>
    <p:sldId id="303" r:id="rId11"/>
    <p:sldId id="307" r:id="rId12"/>
    <p:sldId id="305" r:id="rId13"/>
    <p:sldId id="308" r:id="rId14"/>
    <p:sldId id="310" r:id="rId15"/>
    <p:sldId id="302" r:id="rId16"/>
    <p:sldId id="304" r:id="rId17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6" autoAdjust="0"/>
    <p:restoredTop sz="94352" autoAdjust="0"/>
  </p:normalViewPr>
  <p:slideViewPr>
    <p:cSldViewPr snapToGrid="0">
      <p:cViewPr varScale="1">
        <p:scale>
          <a:sx n="114" d="100"/>
          <a:sy n="114" d="100"/>
        </p:scale>
        <p:origin x="12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70ED23-EA6C-4D91-885E-111C18F0ED7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96C443EF-4367-4B18-96C8-7842A15DEEF3}">
      <dgm:prSet phldrT="[Text]" custT="1"/>
      <dgm:spPr/>
      <dgm:t>
        <a:bodyPr anchor="t"/>
        <a:lstStyle/>
        <a:p>
          <a:pPr algn="l"/>
          <a:r>
            <a:rPr lang="de-DE" sz="2100" b="0" i="0" dirty="0" smtClean="0"/>
            <a:t>3/2015 </a:t>
          </a:r>
          <a:r>
            <a:rPr lang="de-DE" sz="2100" b="0" dirty="0" smtClean="0"/>
            <a:t>[1]</a:t>
          </a:r>
          <a:r>
            <a:rPr lang="de-DE" sz="2100" b="0" i="0" dirty="0" smtClean="0"/>
            <a:t>:</a:t>
          </a:r>
        </a:p>
        <a:p>
          <a:pPr algn="l"/>
          <a:r>
            <a:rPr lang="de-DE" sz="1900" dirty="0" smtClean="0"/>
            <a:t>- </a:t>
          </a:r>
          <a:r>
            <a:rPr lang="de-DE" sz="1900" dirty="0" smtClean="0"/>
            <a:t>90 </a:t>
          </a:r>
          <a:r>
            <a:rPr lang="de-DE" sz="1900" dirty="0" err="1" smtClean="0"/>
            <a:t>portals</a:t>
          </a:r>
          <a:r>
            <a:rPr lang="de-DE" sz="1900" dirty="0" smtClean="0"/>
            <a:t/>
          </a:r>
          <a:br>
            <a:rPr lang="de-DE" sz="1900" dirty="0" smtClean="0"/>
          </a:br>
          <a:r>
            <a:rPr lang="de-DE" sz="1900" dirty="0" smtClean="0"/>
            <a:t>- </a:t>
          </a:r>
          <a:r>
            <a:rPr lang="de-DE" sz="1900" dirty="0" err="1" smtClean="0"/>
            <a:t>Only</a:t>
          </a:r>
          <a:r>
            <a:rPr lang="de-DE" sz="1900" dirty="0" smtClean="0"/>
            <a:t> </a:t>
          </a:r>
          <a:r>
            <a:rPr lang="de-DE" sz="1900" b="1" dirty="0" smtClean="0"/>
            <a:t>CKAN</a:t>
          </a:r>
          <a:endParaRPr lang="de-DE" sz="1900" dirty="0"/>
        </a:p>
      </dgm:t>
    </dgm:pt>
    <dgm:pt modelId="{4E1C2CA5-E234-4365-8DD4-6BA3625ECC3A}" type="parTrans" cxnId="{4721233B-385E-4EAC-8FC1-F66DD5DB74AB}">
      <dgm:prSet/>
      <dgm:spPr/>
      <dgm:t>
        <a:bodyPr/>
        <a:lstStyle/>
        <a:p>
          <a:endParaRPr lang="de-DE" sz="1900"/>
        </a:p>
      </dgm:t>
    </dgm:pt>
    <dgm:pt modelId="{076726E5-0122-4E56-9DAC-31ED5E90BBAA}" type="sibTrans" cxnId="{4721233B-385E-4EAC-8FC1-F66DD5DB74AB}">
      <dgm:prSet custT="1"/>
      <dgm:spPr/>
      <dgm:t>
        <a:bodyPr anchor="t"/>
        <a:lstStyle/>
        <a:p>
          <a:pPr algn="l"/>
          <a:endParaRPr lang="de-DE" sz="1900"/>
        </a:p>
      </dgm:t>
    </dgm:pt>
    <dgm:pt modelId="{6B303ABF-346E-455D-A1D0-5BEE5B8A986A}">
      <dgm:prSet phldrT="[Text]" custT="1"/>
      <dgm:spPr/>
      <dgm:t>
        <a:bodyPr anchor="t"/>
        <a:lstStyle/>
        <a:p>
          <a:pPr algn="l"/>
          <a:r>
            <a:rPr lang="de-DE" sz="2100" b="0" dirty="0" smtClean="0"/>
            <a:t>8/2015 [2]:</a:t>
          </a:r>
        </a:p>
        <a:p>
          <a:pPr algn="l"/>
          <a:r>
            <a:rPr lang="de-DE" sz="1900" dirty="0" smtClean="0"/>
            <a:t>- 6 </a:t>
          </a:r>
          <a:r>
            <a:rPr lang="de-DE" sz="1900" b="1" dirty="0" err="1" smtClean="0"/>
            <a:t>quality</a:t>
          </a:r>
          <a:r>
            <a:rPr lang="de-DE" sz="1900" b="1" dirty="0" smtClean="0"/>
            <a:t> </a:t>
          </a:r>
          <a:r>
            <a:rPr lang="de-DE" sz="1900" b="1" dirty="0" err="1" smtClean="0"/>
            <a:t>metrics</a:t>
          </a:r>
          <a:r>
            <a:rPr lang="de-DE" sz="1900" b="1" dirty="0" smtClean="0"/>
            <a:t> </a:t>
          </a:r>
          <a:r>
            <a:rPr lang="de-DE" sz="1900" dirty="0" smtClean="0"/>
            <a:t/>
          </a:r>
          <a:br>
            <a:rPr lang="de-DE" sz="1900" dirty="0" smtClean="0"/>
          </a:br>
          <a:r>
            <a:rPr lang="de-DE" sz="1900" dirty="0" smtClean="0"/>
            <a:t>- </a:t>
          </a:r>
          <a:r>
            <a:rPr lang="de-DE" sz="1900" dirty="0" smtClean="0"/>
            <a:t>QA</a:t>
          </a:r>
          <a:endParaRPr lang="de-DE" sz="1900" dirty="0"/>
        </a:p>
      </dgm:t>
    </dgm:pt>
    <dgm:pt modelId="{16332E1C-9F77-49D5-B1B2-DD52277BC368}" type="parTrans" cxnId="{594EF054-2D4B-458D-ABB8-1FDF53354021}">
      <dgm:prSet/>
      <dgm:spPr/>
      <dgm:t>
        <a:bodyPr/>
        <a:lstStyle/>
        <a:p>
          <a:endParaRPr lang="de-DE" sz="1900"/>
        </a:p>
      </dgm:t>
    </dgm:pt>
    <dgm:pt modelId="{EB722806-2838-43CE-884F-00BC20D48B23}" type="sibTrans" cxnId="{594EF054-2D4B-458D-ABB8-1FDF53354021}">
      <dgm:prSet custT="1"/>
      <dgm:spPr/>
      <dgm:t>
        <a:bodyPr anchor="t"/>
        <a:lstStyle/>
        <a:p>
          <a:pPr algn="l"/>
          <a:endParaRPr lang="de-DE" sz="1900"/>
        </a:p>
      </dgm:t>
    </dgm:pt>
    <dgm:pt modelId="{3B08A441-78C6-412A-A38C-4F393F435D5C}">
      <dgm:prSet phldrT="[Text]" custT="1"/>
      <dgm:spPr/>
      <dgm:t>
        <a:bodyPr anchor="t"/>
        <a:lstStyle/>
        <a:p>
          <a:pPr algn="l"/>
          <a:r>
            <a:rPr lang="de-DE" sz="2100" b="0" dirty="0" smtClean="0"/>
            <a:t>6/2016 [3]:</a:t>
          </a:r>
        </a:p>
        <a:p>
          <a:pPr algn="l"/>
          <a:r>
            <a:rPr lang="de-DE" sz="2100" dirty="0" smtClean="0"/>
            <a:t>- 260 </a:t>
          </a:r>
          <a:r>
            <a:rPr lang="de-DE" sz="2100" dirty="0" err="1" smtClean="0"/>
            <a:t>portals</a:t>
          </a:r>
          <a:r>
            <a:rPr lang="de-DE" sz="2100" dirty="0" smtClean="0"/>
            <a:t/>
          </a:r>
          <a:br>
            <a:rPr lang="de-DE" sz="2100" dirty="0" smtClean="0"/>
          </a:br>
          <a:r>
            <a:rPr lang="de-DE" sz="1900" b="0" dirty="0" smtClean="0"/>
            <a:t>- </a:t>
          </a:r>
          <a:r>
            <a:rPr lang="de-DE" sz="1900" dirty="0" smtClean="0"/>
            <a:t>CKAN, </a:t>
          </a:r>
          <a:r>
            <a:rPr lang="de-DE" sz="1900" b="1" dirty="0" err="1" smtClean="0"/>
            <a:t>Socrata</a:t>
          </a:r>
          <a:r>
            <a:rPr lang="de-DE" sz="1900" dirty="0" smtClean="0"/>
            <a:t>, </a:t>
          </a:r>
          <a:r>
            <a:rPr lang="de-DE" sz="1900" b="1" dirty="0" err="1" smtClean="0"/>
            <a:t>OpenDataSoft</a:t>
          </a:r>
          <a:r>
            <a:rPr lang="de-DE" sz="1900" b="1" dirty="0" smtClean="0"/>
            <a:t/>
          </a:r>
          <a:br>
            <a:rPr lang="de-DE" sz="1900" b="1" dirty="0" smtClean="0"/>
          </a:br>
          <a:r>
            <a:rPr lang="de-DE" sz="1900" dirty="0" smtClean="0"/>
            <a:t>- 18  </a:t>
          </a:r>
          <a:r>
            <a:rPr lang="de-DE" sz="1900" dirty="0" err="1" smtClean="0"/>
            <a:t>metrics</a:t>
          </a:r>
          <a:endParaRPr lang="de-DE" sz="1900" dirty="0"/>
        </a:p>
      </dgm:t>
    </dgm:pt>
    <dgm:pt modelId="{3E108968-0441-445B-8D50-186A0E87FE01}" type="parTrans" cxnId="{9D182667-BD7F-4FFA-A707-1AD9E90BD820}">
      <dgm:prSet/>
      <dgm:spPr/>
      <dgm:t>
        <a:bodyPr/>
        <a:lstStyle/>
        <a:p>
          <a:endParaRPr lang="de-DE" sz="1900"/>
        </a:p>
      </dgm:t>
    </dgm:pt>
    <dgm:pt modelId="{B0A4C09B-0F4E-4931-8969-5B0F7095687E}" type="sibTrans" cxnId="{9D182667-BD7F-4FFA-A707-1AD9E90BD820}">
      <dgm:prSet/>
      <dgm:spPr/>
      <dgm:t>
        <a:bodyPr/>
        <a:lstStyle/>
        <a:p>
          <a:endParaRPr lang="de-DE" sz="1900"/>
        </a:p>
      </dgm:t>
    </dgm:pt>
    <dgm:pt modelId="{E838809A-6463-4E0A-8377-61825A6A6732}" type="pres">
      <dgm:prSet presAssocID="{C870ED23-EA6C-4D91-885E-111C18F0ED74}" presName="Name0" presStyleCnt="0">
        <dgm:presLayoutVars>
          <dgm:dir/>
          <dgm:resizeHandles val="exact"/>
        </dgm:presLayoutVars>
      </dgm:prSet>
      <dgm:spPr/>
    </dgm:pt>
    <dgm:pt modelId="{141A0151-2B1E-4F15-8812-57ACB3C1A2C6}" type="pres">
      <dgm:prSet presAssocID="{96C443EF-4367-4B18-96C8-7842A15DEEF3}" presName="node" presStyleLbl="node1" presStyleIdx="0" presStyleCnt="3" custScaleX="146283" custScaleY="10466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7BBEEBA0-BF78-4E83-A161-FDFE974833E3}" type="pres">
      <dgm:prSet presAssocID="{076726E5-0122-4E56-9DAC-31ED5E90BBAA}" presName="sibTrans" presStyleLbl="sibTrans2D1" presStyleIdx="0" presStyleCnt="2" custScaleY="121254"/>
      <dgm:spPr/>
      <dgm:t>
        <a:bodyPr/>
        <a:lstStyle/>
        <a:p>
          <a:endParaRPr lang="de-DE"/>
        </a:p>
      </dgm:t>
    </dgm:pt>
    <dgm:pt modelId="{FC8DD859-FBA0-43E5-860C-A117CBC64E34}" type="pres">
      <dgm:prSet presAssocID="{076726E5-0122-4E56-9DAC-31ED5E90BBAA}" presName="connectorText" presStyleLbl="sibTrans2D1" presStyleIdx="0" presStyleCnt="2"/>
      <dgm:spPr/>
      <dgm:t>
        <a:bodyPr/>
        <a:lstStyle/>
        <a:p>
          <a:endParaRPr lang="de-DE"/>
        </a:p>
      </dgm:t>
    </dgm:pt>
    <dgm:pt modelId="{DF5C5E73-210D-4744-8BB7-84175D1013BE}" type="pres">
      <dgm:prSet presAssocID="{6B303ABF-346E-455D-A1D0-5BEE5B8A986A}" presName="node" presStyleLbl="node1" presStyleIdx="1" presStyleCnt="3" custScaleX="198966" custScaleY="10466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FD52EDD-6ADA-4B35-ACCD-0673709E8D3E}" type="pres">
      <dgm:prSet presAssocID="{EB722806-2838-43CE-884F-00BC20D48B23}" presName="sibTrans" presStyleLbl="sibTrans2D1" presStyleIdx="1" presStyleCnt="2" custScaleY="121254"/>
      <dgm:spPr/>
      <dgm:t>
        <a:bodyPr/>
        <a:lstStyle/>
        <a:p>
          <a:endParaRPr lang="de-DE"/>
        </a:p>
      </dgm:t>
    </dgm:pt>
    <dgm:pt modelId="{BB5AB867-5F5C-4F48-AB7F-7FD46980AA2B}" type="pres">
      <dgm:prSet presAssocID="{EB722806-2838-43CE-884F-00BC20D48B23}" presName="connectorText" presStyleLbl="sibTrans2D1" presStyleIdx="1" presStyleCnt="2"/>
      <dgm:spPr/>
      <dgm:t>
        <a:bodyPr/>
        <a:lstStyle/>
        <a:p>
          <a:endParaRPr lang="de-DE"/>
        </a:p>
      </dgm:t>
    </dgm:pt>
    <dgm:pt modelId="{A2F98E54-17FD-4C29-937E-C5DB7D1B88F8}" type="pres">
      <dgm:prSet presAssocID="{3B08A441-78C6-412A-A38C-4F393F435D5C}" presName="node" presStyleLbl="node1" presStyleIdx="2" presStyleCnt="3" custScaleX="322381" custScaleY="104663" custLinFactNeighborX="1604" custLinFactNeighborY="-1301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33E99451-3D38-46D3-A642-9F12F406A135}" type="presOf" srcId="{EB722806-2838-43CE-884F-00BC20D48B23}" destId="{EFD52EDD-6ADA-4B35-ACCD-0673709E8D3E}" srcOrd="0" destOrd="0" presId="urn:microsoft.com/office/officeart/2005/8/layout/process1"/>
    <dgm:cxn modelId="{400BE1CC-13D7-4947-B3AF-D9C7BCDAA471}" type="presOf" srcId="{076726E5-0122-4E56-9DAC-31ED5E90BBAA}" destId="{7BBEEBA0-BF78-4E83-A161-FDFE974833E3}" srcOrd="0" destOrd="0" presId="urn:microsoft.com/office/officeart/2005/8/layout/process1"/>
    <dgm:cxn modelId="{594EF054-2D4B-458D-ABB8-1FDF53354021}" srcId="{C870ED23-EA6C-4D91-885E-111C18F0ED74}" destId="{6B303ABF-346E-455D-A1D0-5BEE5B8A986A}" srcOrd="1" destOrd="0" parTransId="{16332E1C-9F77-49D5-B1B2-DD52277BC368}" sibTransId="{EB722806-2838-43CE-884F-00BC20D48B23}"/>
    <dgm:cxn modelId="{B54A8AF6-0D41-4DBF-8B6F-982D869CA760}" type="presOf" srcId="{076726E5-0122-4E56-9DAC-31ED5E90BBAA}" destId="{FC8DD859-FBA0-43E5-860C-A117CBC64E34}" srcOrd="1" destOrd="0" presId="urn:microsoft.com/office/officeart/2005/8/layout/process1"/>
    <dgm:cxn modelId="{1DF3ACE6-7B00-4A46-B714-EFD914A12491}" type="presOf" srcId="{3B08A441-78C6-412A-A38C-4F393F435D5C}" destId="{A2F98E54-17FD-4C29-937E-C5DB7D1B88F8}" srcOrd="0" destOrd="0" presId="urn:microsoft.com/office/officeart/2005/8/layout/process1"/>
    <dgm:cxn modelId="{4721233B-385E-4EAC-8FC1-F66DD5DB74AB}" srcId="{C870ED23-EA6C-4D91-885E-111C18F0ED74}" destId="{96C443EF-4367-4B18-96C8-7842A15DEEF3}" srcOrd="0" destOrd="0" parTransId="{4E1C2CA5-E234-4365-8DD4-6BA3625ECC3A}" sibTransId="{076726E5-0122-4E56-9DAC-31ED5E90BBAA}"/>
    <dgm:cxn modelId="{0B9A6659-F84C-427A-A9B2-2F3566452FD9}" type="presOf" srcId="{6B303ABF-346E-455D-A1D0-5BEE5B8A986A}" destId="{DF5C5E73-210D-4744-8BB7-84175D1013BE}" srcOrd="0" destOrd="0" presId="urn:microsoft.com/office/officeart/2005/8/layout/process1"/>
    <dgm:cxn modelId="{9D182667-BD7F-4FFA-A707-1AD9E90BD820}" srcId="{C870ED23-EA6C-4D91-885E-111C18F0ED74}" destId="{3B08A441-78C6-412A-A38C-4F393F435D5C}" srcOrd="2" destOrd="0" parTransId="{3E108968-0441-445B-8D50-186A0E87FE01}" sibTransId="{B0A4C09B-0F4E-4931-8969-5B0F7095687E}"/>
    <dgm:cxn modelId="{536DC98F-CB30-432B-B47C-96D7AA4D18B2}" type="presOf" srcId="{EB722806-2838-43CE-884F-00BC20D48B23}" destId="{BB5AB867-5F5C-4F48-AB7F-7FD46980AA2B}" srcOrd="1" destOrd="0" presId="urn:microsoft.com/office/officeart/2005/8/layout/process1"/>
    <dgm:cxn modelId="{9545E1C1-E81F-4202-AD20-E26927583B83}" type="presOf" srcId="{96C443EF-4367-4B18-96C8-7842A15DEEF3}" destId="{141A0151-2B1E-4F15-8812-57ACB3C1A2C6}" srcOrd="0" destOrd="0" presId="urn:microsoft.com/office/officeart/2005/8/layout/process1"/>
    <dgm:cxn modelId="{DA0CF1F0-A25D-4485-B9E9-FD86AC56575E}" type="presOf" srcId="{C870ED23-EA6C-4D91-885E-111C18F0ED74}" destId="{E838809A-6463-4E0A-8377-61825A6A6732}" srcOrd="0" destOrd="0" presId="urn:microsoft.com/office/officeart/2005/8/layout/process1"/>
    <dgm:cxn modelId="{64E0B68A-540A-4B7A-BEFF-2FD3DA3AF0F9}" type="presParOf" srcId="{E838809A-6463-4E0A-8377-61825A6A6732}" destId="{141A0151-2B1E-4F15-8812-57ACB3C1A2C6}" srcOrd="0" destOrd="0" presId="urn:microsoft.com/office/officeart/2005/8/layout/process1"/>
    <dgm:cxn modelId="{4C0E1F99-8791-4F68-92A3-025C26B5FE33}" type="presParOf" srcId="{E838809A-6463-4E0A-8377-61825A6A6732}" destId="{7BBEEBA0-BF78-4E83-A161-FDFE974833E3}" srcOrd="1" destOrd="0" presId="urn:microsoft.com/office/officeart/2005/8/layout/process1"/>
    <dgm:cxn modelId="{D950C7F6-8269-4DB0-9EBA-1FAF54B4F633}" type="presParOf" srcId="{7BBEEBA0-BF78-4E83-A161-FDFE974833E3}" destId="{FC8DD859-FBA0-43E5-860C-A117CBC64E34}" srcOrd="0" destOrd="0" presId="urn:microsoft.com/office/officeart/2005/8/layout/process1"/>
    <dgm:cxn modelId="{1AC2EA03-1C9C-4543-9F79-7A9A5747420E}" type="presParOf" srcId="{E838809A-6463-4E0A-8377-61825A6A6732}" destId="{DF5C5E73-210D-4744-8BB7-84175D1013BE}" srcOrd="2" destOrd="0" presId="urn:microsoft.com/office/officeart/2005/8/layout/process1"/>
    <dgm:cxn modelId="{54F3F300-A34F-4169-A605-C2871DA56D7E}" type="presParOf" srcId="{E838809A-6463-4E0A-8377-61825A6A6732}" destId="{EFD52EDD-6ADA-4B35-ACCD-0673709E8D3E}" srcOrd="3" destOrd="0" presId="urn:microsoft.com/office/officeart/2005/8/layout/process1"/>
    <dgm:cxn modelId="{F0730AAC-AF9D-4D4C-9FDA-03B0A63B0C43}" type="presParOf" srcId="{EFD52EDD-6ADA-4B35-ACCD-0673709E8D3E}" destId="{BB5AB867-5F5C-4F48-AB7F-7FD46980AA2B}" srcOrd="0" destOrd="0" presId="urn:microsoft.com/office/officeart/2005/8/layout/process1"/>
    <dgm:cxn modelId="{AE5BE588-5024-4ECC-A9E3-D79A205D181B}" type="presParOf" srcId="{E838809A-6463-4E0A-8377-61825A6A6732}" destId="{A2F98E54-17FD-4C29-937E-C5DB7D1B88F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A26CB1-9EB9-46F4-80DB-22D9B4E1EB49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51E4F6AE-E1A3-427E-8E95-339E5A797504}">
      <dgm:prSet phldrT="[Text]" custT="1"/>
      <dgm:spPr/>
      <dgm:t>
        <a:bodyPr/>
        <a:lstStyle/>
        <a:p>
          <a:r>
            <a:rPr lang="de-DE" sz="2400" dirty="0" smtClean="0"/>
            <a:t>Mapping </a:t>
          </a:r>
          <a:r>
            <a:rPr lang="de-DE" sz="2400" dirty="0" err="1" smtClean="0"/>
            <a:t>to</a:t>
          </a:r>
          <a:r>
            <a:rPr lang="de-DE" sz="2400" dirty="0" smtClean="0"/>
            <a:t> </a:t>
          </a:r>
          <a:br>
            <a:rPr lang="de-DE" sz="2400" dirty="0" smtClean="0"/>
          </a:br>
          <a:r>
            <a:rPr lang="de-DE" sz="2400" dirty="0" err="1" smtClean="0"/>
            <a:t>standard</a:t>
          </a:r>
          <a:r>
            <a:rPr lang="de-DE" sz="2400" dirty="0" smtClean="0"/>
            <a:t> </a:t>
          </a:r>
          <a:r>
            <a:rPr lang="de-DE" sz="2400" dirty="0" err="1" smtClean="0"/>
            <a:t>vocabularies</a:t>
          </a:r>
          <a:r>
            <a:rPr lang="de-DE" sz="2800" dirty="0" smtClean="0"/>
            <a:t/>
          </a:r>
          <a:br>
            <a:rPr lang="de-DE" sz="2800" dirty="0" smtClean="0"/>
          </a:br>
          <a:r>
            <a:rPr lang="de-DE" sz="2000" i="1" dirty="0" smtClean="0"/>
            <a:t>DCAT, Schema.org</a:t>
          </a:r>
          <a:endParaRPr lang="de-DE" dirty="0"/>
        </a:p>
      </dgm:t>
    </dgm:pt>
    <dgm:pt modelId="{3D01BAF8-DC8E-4819-A17E-589FC866302A}" type="parTrans" cxnId="{FC01A5FF-D1D7-4C2A-A405-47D215B14F30}">
      <dgm:prSet/>
      <dgm:spPr/>
      <dgm:t>
        <a:bodyPr/>
        <a:lstStyle/>
        <a:p>
          <a:endParaRPr lang="de-DE"/>
        </a:p>
      </dgm:t>
    </dgm:pt>
    <dgm:pt modelId="{B66AF2CC-3C41-4AEE-9EDF-6B68911ECA0D}" type="sibTrans" cxnId="{FC01A5FF-D1D7-4C2A-A405-47D215B14F30}">
      <dgm:prSet/>
      <dgm:spPr/>
      <dgm:t>
        <a:bodyPr/>
        <a:lstStyle/>
        <a:p>
          <a:endParaRPr lang="de-DE"/>
        </a:p>
      </dgm:t>
    </dgm:pt>
    <dgm:pt modelId="{F7A1DE7D-3D9B-4A55-A5A6-8286CE2D92C8}">
      <dgm:prSet phldrT="[Text]" custT="1"/>
      <dgm:spPr/>
      <dgm:t>
        <a:bodyPr/>
        <a:lstStyle/>
        <a:p>
          <a:r>
            <a:rPr lang="de-DE" sz="2800" dirty="0" err="1" smtClean="0"/>
            <a:t>Enrich</a:t>
          </a:r>
          <a:r>
            <a:rPr lang="de-DE" sz="2800" dirty="0" smtClean="0"/>
            <a:t> </a:t>
          </a:r>
          <a:r>
            <a:rPr lang="de-DE" sz="2800" dirty="0" err="1" smtClean="0"/>
            <a:t>the</a:t>
          </a:r>
          <a:r>
            <a:rPr lang="de-DE" sz="2800" dirty="0" smtClean="0"/>
            <a:t> </a:t>
          </a:r>
          <a:r>
            <a:rPr lang="de-DE" sz="2800" dirty="0" err="1" smtClean="0"/>
            <a:t>datasets</a:t>
          </a:r>
          <a:r>
            <a:rPr lang="de-DE" sz="2800" dirty="0" smtClean="0"/>
            <a:t/>
          </a:r>
          <a:br>
            <a:rPr lang="de-DE" sz="2800" dirty="0" smtClean="0"/>
          </a:br>
          <a:r>
            <a:rPr lang="de-DE" sz="2000" i="1" dirty="0" smtClean="0"/>
            <a:t>DQV, CSVW, PROV </a:t>
          </a:r>
          <a:endParaRPr lang="de-DE" dirty="0"/>
        </a:p>
      </dgm:t>
    </dgm:pt>
    <dgm:pt modelId="{D1B26DF5-EFB3-43C2-AAC6-D784E00B915A}" type="parTrans" cxnId="{4C3BF82A-55B4-4F07-9B49-ECAFDB111B73}">
      <dgm:prSet/>
      <dgm:spPr/>
      <dgm:t>
        <a:bodyPr/>
        <a:lstStyle/>
        <a:p>
          <a:endParaRPr lang="de-DE"/>
        </a:p>
      </dgm:t>
    </dgm:pt>
    <dgm:pt modelId="{4411235A-65A2-41AE-908F-74EBADE4F28D}" type="sibTrans" cxnId="{4C3BF82A-55B4-4F07-9B49-ECAFDB111B73}">
      <dgm:prSet/>
      <dgm:spPr/>
      <dgm:t>
        <a:bodyPr/>
        <a:lstStyle/>
        <a:p>
          <a:endParaRPr lang="de-DE"/>
        </a:p>
      </dgm:t>
    </dgm:pt>
    <dgm:pt modelId="{6060654B-4685-46F8-AC07-71EFA63D3B34}">
      <dgm:prSet phldrT="[Text]" custT="1"/>
      <dgm:spPr/>
      <dgm:t>
        <a:bodyPr/>
        <a:lstStyle/>
        <a:p>
          <a:r>
            <a:rPr lang="de-DE" sz="2800" dirty="0" err="1" smtClean="0"/>
            <a:t>Enable</a:t>
          </a:r>
          <a:r>
            <a:rPr lang="de-DE" sz="2800" dirty="0" smtClean="0"/>
            <a:t> </a:t>
          </a:r>
          <a:r>
            <a:rPr lang="de-DE" sz="2800" dirty="0" err="1" smtClean="0"/>
            <a:t>access</a:t>
          </a:r>
          <a:r>
            <a:rPr lang="de-DE" sz="2800" dirty="0" smtClean="0"/>
            <a:t> </a:t>
          </a:r>
          <a:r>
            <a:rPr lang="de-DE" sz="3000" dirty="0" smtClean="0"/>
            <a:t/>
          </a:r>
          <a:br>
            <a:rPr lang="de-DE" sz="3000" dirty="0" smtClean="0"/>
          </a:br>
          <a:r>
            <a:rPr lang="de-DE" sz="2000" b="0" i="1" dirty="0" smtClean="0"/>
            <a:t>SPARQL, Memento, sitemap.xml</a:t>
          </a:r>
          <a:endParaRPr lang="de-DE" dirty="0"/>
        </a:p>
      </dgm:t>
    </dgm:pt>
    <dgm:pt modelId="{03C72C21-4C6F-46CC-9561-67FB88CC2BDA}" type="parTrans" cxnId="{D033490E-9F6E-4527-A6E6-C60996E0F007}">
      <dgm:prSet/>
      <dgm:spPr/>
      <dgm:t>
        <a:bodyPr/>
        <a:lstStyle/>
        <a:p>
          <a:endParaRPr lang="de-DE"/>
        </a:p>
      </dgm:t>
    </dgm:pt>
    <dgm:pt modelId="{952384D5-85DF-4CAF-A887-AFFF959D4C72}" type="sibTrans" cxnId="{D033490E-9F6E-4527-A6E6-C60996E0F007}">
      <dgm:prSet/>
      <dgm:spPr/>
      <dgm:t>
        <a:bodyPr/>
        <a:lstStyle/>
        <a:p>
          <a:endParaRPr lang="de-DE"/>
        </a:p>
      </dgm:t>
    </dgm:pt>
    <dgm:pt modelId="{19140891-8948-4511-952E-8136E49753E6}" type="pres">
      <dgm:prSet presAssocID="{26A26CB1-9EB9-46F4-80DB-22D9B4E1EB49}" presName="arrowDiagram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41220D6F-941C-4C64-9CF4-53F37970BB2C}" type="pres">
      <dgm:prSet presAssocID="{26A26CB1-9EB9-46F4-80DB-22D9B4E1EB49}" presName="arrow" presStyleLbl="bgShp" presStyleIdx="0" presStyleCnt="1" custScaleX="106017"/>
      <dgm:spPr/>
    </dgm:pt>
    <dgm:pt modelId="{A7DDEFFD-E125-4BA7-9809-2C7A54B18BF0}" type="pres">
      <dgm:prSet presAssocID="{26A26CB1-9EB9-46F4-80DB-22D9B4E1EB49}" presName="arrowDiagram3" presStyleCnt="0"/>
      <dgm:spPr/>
    </dgm:pt>
    <dgm:pt modelId="{C943FDE6-F01F-4560-9333-E1981489B9B8}" type="pres">
      <dgm:prSet presAssocID="{51E4F6AE-E1A3-427E-8E95-339E5A797504}" presName="bullet3a" presStyleLbl="node1" presStyleIdx="0" presStyleCnt="3" custLinFactX="-124628" custLinFactY="100000" custLinFactNeighborX="-200000" custLinFactNeighborY="164120"/>
      <dgm:spPr/>
    </dgm:pt>
    <dgm:pt modelId="{A740D876-8390-446C-A928-935F89379944}" type="pres">
      <dgm:prSet presAssocID="{51E4F6AE-E1A3-427E-8E95-339E5A797504}" presName="textBox3a" presStyleLbl="revTx" presStyleIdx="0" presStyleCnt="3" custFlipVert="0" custScaleX="250072" custScaleY="22312" custLinFactX="-3877" custLinFactNeighborX="-100000" custLinFactNeighborY="3098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1C70D206-035E-4917-943B-F88FB74904EA}" type="pres">
      <dgm:prSet presAssocID="{F7A1DE7D-3D9B-4A55-A5A6-8286CE2D92C8}" presName="bullet3b" presStyleLbl="node1" presStyleIdx="1" presStyleCnt="3" custLinFactNeighborX="-47044" custLinFactNeighborY="7841"/>
      <dgm:spPr/>
    </dgm:pt>
    <dgm:pt modelId="{819665F7-847C-4751-92C2-B44C33ED461E}" type="pres">
      <dgm:prSet presAssocID="{F7A1DE7D-3D9B-4A55-A5A6-8286CE2D92C8}" presName="textBox3b" presStyleLbl="revTx" presStyleIdx="1" presStyleCnt="3" custScaleX="178928" custScaleY="40903" custLinFactNeighborX="-1063" custLinFactNeighborY="-3756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AB8A39C5-EC01-495F-8F2F-5B77A80A481C}" type="pres">
      <dgm:prSet presAssocID="{6060654B-4685-46F8-AC07-71EFA63D3B34}" presName="bullet3c" presStyleLbl="node1" presStyleIdx="2" presStyleCnt="3" custLinFactX="100000" custLinFactNeighborX="167238" custLinFactNeighborY="-17008"/>
      <dgm:spPr/>
    </dgm:pt>
    <dgm:pt modelId="{99368117-23A7-470E-96DA-836B05DC2754}" type="pres">
      <dgm:prSet presAssocID="{6060654B-4685-46F8-AC07-71EFA63D3B34}" presName="textBox3c" presStyleLbl="revTx" presStyleIdx="2" presStyleCnt="3" custScaleX="197077" custScaleY="51316" custLinFactNeighborX="88869" custLinFactNeighborY="-15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FC01A5FF-D1D7-4C2A-A405-47D215B14F30}" srcId="{26A26CB1-9EB9-46F4-80DB-22D9B4E1EB49}" destId="{51E4F6AE-E1A3-427E-8E95-339E5A797504}" srcOrd="0" destOrd="0" parTransId="{3D01BAF8-DC8E-4819-A17E-589FC866302A}" sibTransId="{B66AF2CC-3C41-4AEE-9EDF-6B68911ECA0D}"/>
    <dgm:cxn modelId="{D033490E-9F6E-4527-A6E6-C60996E0F007}" srcId="{26A26CB1-9EB9-46F4-80DB-22D9B4E1EB49}" destId="{6060654B-4685-46F8-AC07-71EFA63D3B34}" srcOrd="2" destOrd="0" parTransId="{03C72C21-4C6F-46CC-9561-67FB88CC2BDA}" sibTransId="{952384D5-85DF-4CAF-A887-AFFF959D4C72}"/>
    <dgm:cxn modelId="{AE15CD4C-3C32-44BB-8576-CF38688CE163}" type="presOf" srcId="{F7A1DE7D-3D9B-4A55-A5A6-8286CE2D92C8}" destId="{819665F7-847C-4751-92C2-B44C33ED461E}" srcOrd="0" destOrd="0" presId="urn:microsoft.com/office/officeart/2005/8/layout/arrow2"/>
    <dgm:cxn modelId="{7D207F68-2390-41C4-B200-01730E61705A}" type="presOf" srcId="{6060654B-4685-46F8-AC07-71EFA63D3B34}" destId="{99368117-23A7-470E-96DA-836B05DC2754}" srcOrd="0" destOrd="0" presId="urn:microsoft.com/office/officeart/2005/8/layout/arrow2"/>
    <dgm:cxn modelId="{53E2FA84-5D22-4BD4-8B87-0A2A94157A85}" type="presOf" srcId="{51E4F6AE-E1A3-427E-8E95-339E5A797504}" destId="{A740D876-8390-446C-A928-935F89379944}" srcOrd="0" destOrd="0" presId="urn:microsoft.com/office/officeart/2005/8/layout/arrow2"/>
    <dgm:cxn modelId="{71FD57A7-1A4A-40BD-931E-DF26E0DC99B9}" type="presOf" srcId="{26A26CB1-9EB9-46F4-80DB-22D9B4E1EB49}" destId="{19140891-8948-4511-952E-8136E49753E6}" srcOrd="0" destOrd="0" presId="urn:microsoft.com/office/officeart/2005/8/layout/arrow2"/>
    <dgm:cxn modelId="{4C3BF82A-55B4-4F07-9B49-ECAFDB111B73}" srcId="{26A26CB1-9EB9-46F4-80DB-22D9B4E1EB49}" destId="{F7A1DE7D-3D9B-4A55-A5A6-8286CE2D92C8}" srcOrd="1" destOrd="0" parTransId="{D1B26DF5-EFB3-43C2-AAC6-D784E00B915A}" sibTransId="{4411235A-65A2-41AE-908F-74EBADE4F28D}"/>
    <dgm:cxn modelId="{0FF6268B-7A56-44EB-9E9F-C2E4ED8D41A3}" type="presParOf" srcId="{19140891-8948-4511-952E-8136E49753E6}" destId="{41220D6F-941C-4C64-9CF4-53F37970BB2C}" srcOrd="0" destOrd="0" presId="urn:microsoft.com/office/officeart/2005/8/layout/arrow2"/>
    <dgm:cxn modelId="{60F1A16F-B7CE-4EDE-9C93-62F0D767628A}" type="presParOf" srcId="{19140891-8948-4511-952E-8136E49753E6}" destId="{A7DDEFFD-E125-4BA7-9809-2C7A54B18BF0}" srcOrd="1" destOrd="0" presId="urn:microsoft.com/office/officeart/2005/8/layout/arrow2"/>
    <dgm:cxn modelId="{3E8CCEA9-E4FE-46FF-B24B-D352866D711F}" type="presParOf" srcId="{A7DDEFFD-E125-4BA7-9809-2C7A54B18BF0}" destId="{C943FDE6-F01F-4560-9333-E1981489B9B8}" srcOrd="0" destOrd="0" presId="urn:microsoft.com/office/officeart/2005/8/layout/arrow2"/>
    <dgm:cxn modelId="{A09C0E55-F461-4471-A6B3-6E6B4CDFAF8B}" type="presParOf" srcId="{A7DDEFFD-E125-4BA7-9809-2C7A54B18BF0}" destId="{A740D876-8390-446C-A928-935F89379944}" srcOrd="1" destOrd="0" presId="urn:microsoft.com/office/officeart/2005/8/layout/arrow2"/>
    <dgm:cxn modelId="{70D9D59F-D55D-4288-AD13-9A42641ADE33}" type="presParOf" srcId="{A7DDEFFD-E125-4BA7-9809-2C7A54B18BF0}" destId="{1C70D206-035E-4917-943B-F88FB74904EA}" srcOrd="2" destOrd="0" presId="urn:microsoft.com/office/officeart/2005/8/layout/arrow2"/>
    <dgm:cxn modelId="{A8C05064-B3AE-4113-91DE-6CDC5E93D2F4}" type="presParOf" srcId="{A7DDEFFD-E125-4BA7-9809-2C7A54B18BF0}" destId="{819665F7-847C-4751-92C2-B44C33ED461E}" srcOrd="3" destOrd="0" presId="urn:microsoft.com/office/officeart/2005/8/layout/arrow2"/>
    <dgm:cxn modelId="{79B4308D-5591-445B-AA29-3B89BBE4D20F}" type="presParOf" srcId="{A7DDEFFD-E125-4BA7-9809-2C7A54B18BF0}" destId="{AB8A39C5-EC01-495F-8F2F-5B77A80A481C}" srcOrd="4" destOrd="0" presId="urn:microsoft.com/office/officeart/2005/8/layout/arrow2"/>
    <dgm:cxn modelId="{4BAFD95B-BF79-49DB-8356-009B6B0514E2}" type="presParOf" srcId="{A7DDEFFD-E125-4BA7-9809-2C7A54B18BF0}" destId="{99368117-23A7-470E-96DA-836B05DC2754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1A0151-2B1E-4F15-8812-57ACB3C1A2C6}">
      <dsp:nvSpPr>
        <dsp:cNvPr id="0" name=""/>
        <dsp:cNvSpPr/>
      </dsp:nvSpPr>
      <dsp:spPr>
        <a:xfrm>
          <a:off x="10347" y="339383"/>
          <a:ext cx="1581945" cy="15724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100" b="0" i="0" kern="1200" dirty="0" smtClean="0"/>
            <a:t>3/2015 </a:t>
          </a:r>
          <a:r>
            <a:rPr lang="de-DE" sz="2100" b="0" kern="1200" dirty="0" smtClean="0"/>
            <a:t>[1]</a:t>
          </a:r>
          <a:r>
            <a:rPr lang="de-DE" sz="2100" b="0" i="0" kern="1200" dirty="0" smtClean="0"/>
            <a:t>:</a:t>
          </a:r>
        </a:p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900" kern="1200" dirty="0" smtClean="0"/>
            <a:t>- </a:t>
          </a:r>
          <a:r>
            <a:rPr lang="de-DE" sz="1900" kern="1200" dirty="0" smtClean="0"/>
            <a:t>90 </a:t>
          </a:r>
          <a:r>
            <a:rPr lang="de-DE" sz="1900" kern="1200" dirty="0" err="1" smtClean="0"/>
            <a:t>portals</a:t>
          </a:r>
          <a:r>
            <a:rPr lang="de-DE" sz="1900" kern="1200" dirty="0" smtClean="0"/>
            <a:t/>
          </a:r>
          <a:br>
            <a:rPr lang="de-DE" sz="1900" kern="1200" dirty="0" smtClean="0"/>
          </a:br>
          <a:r>
            <a:rPr lang="de-DE" sz="1900" kern="1200" dirty="0" smtClean="0"/>
            <a:t>- </a:t>
          </a:r>
          <a:r>
            <a:rPr lang="de-DE" sz="1900" kern="1200" dirty="0" err="1" smtClean="0"/>
            <a:t>Only</a:t>
          </a:r>
          <a:r>
            <a:rPr lang="de-DE" sz="1900" kern="1200" dirty="0" smtClean="0"/>
            <a:t> </a:t>
          </a:r>
          <a:r>
            <a:rPr lang="de-DE" sz="1900" b="1" kern="1200" dirty="0" smtClean="0"/>
            <a:t>CKAN</a:t>
          </a:r>
          <a:endParaRPr lang="de-DE" sz="1900" kern="1200" dirty="0"/>
        </a:p>
      </dsp:txBody>
      <dsp:txXfrm>
        <a:off x="56403" y="385439"/>
        <a:ext cx="1489833" cy="1480356"/>
      </dsp:txXfrm>
    </dsp:sp>
    <dsp:sp modelId="{7BBEEBA0-BF78-4E83-A161-FDFE974833E3}">
      <dsp:nvSpPr>
        <dsp:cNvPr id="0" name=""/>
        <dsp:cNvSpPr/>
      </dsp:nvSpPr>
      <dsp:spPr>
        <a:xfrm>
          <a:off x="1700435" y="963019"/>
          <a:ext cx="229262" cy="3251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1900" kern="1200"/>
        </a:p>
      </dsp:txBody>
      <dsp:txXfrm>
        <a:off x="1700435" y="1028058"/>
        <a:ext cx="160483" cy="195118"/>
      </dsp:txXfrm>
    </dsp:sp>
    <dsp:sp modelId="{DF5C5E73-210D-4744-8BB7-84175D1013BE}">
      <dsp:nvSpPr>
        <dsp:cNvPr id="0" name=""/>
        <dsp:cNvSpPr/>
      </dsp:nvSpPr>
      <dsp:spPr>
        <a:xfrm>
          <a:off x="2024863" y="339383"/>
          <a:ext cx="2151673" cy="15724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100" b="0" kern="1200" dirty="0" smtClean="0"/>
            <a:t>8/2015 [2]:</a:t>
          </a:r>
        </a:p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900" kern="1200" dirty="0" smtClean="0"/>
            <a:t>- 6 </a:t>
          </a:r>
          <a:r>
            <a:rPr lang="de-DE" sz="1900" b="1" kern="1200" dirty="0" err="1" smtClean="0"/>
            <a:t>quality</a:t>
          </a:r>
          <a:r>
            <a:rPr lang="de-DE" sz="1900" b="1" kern="1200" dirty="0" smtClean="0"/>
            <a:t> </a:t>
          </a:r>
          <a:r>
            <a:rPr lang="de-DE" sz="1900" b="1" kern="1200" dirty="0" err="1" smtClean="0"/>
            <a:t>metrics</a:t>
          </a:r>
          <a:r>
            <a:rPr lang="de-DE" sz="1900" b="1" kern="1200" dirty="0" smtClean="0"/>
            <a:t> </a:t>
          </a:r>
          <a:r>
            <a:rPr lang="de-DE" sz="1900" kern="1200" dirty="0" smtClean="0"/>
            <a:t/>
          </a:r>
          <a:br>
            <a:rPr lang="de-DE" sz="1900" kern="1200" dirty="0" smtClean="0"/>
          </a:br>
          <a:r>
            <a:rPr lang="de-DE" sz="1900" kern="1200" dirty="0" smtClean="0"/>
            <a:t>- </a:t>
          </a:r>
          <a:r>
            <a:rPr lang="de-DE" sz="1900" kern="1200" dirty="0" smtClean="0"/>
            <a:t>QA</a:t>
          </a:r>
          <a:endParaRPr lang="de-DE" sz="1900" kern="1200" dirty="0"/>
        </a:p>
      </dsp:txBody>
      <dsp:txXfrm>
        <a:off x="2070919" y="385439"/>
        <a:ext cx="2059561" cy="1480356"/>
      </dsp:txXfrm>
    </dsp:sp>
    <dsp:sp modelId="{EFD52EDD-6ADA-4B35-ACCD-0673709E8D3E}">
      <dsp:nvSpPr>
        <dsp:cNvPr id="0" name=""/>
        <dsp:cNvSpPr/>
      </dsp:nvSpPr>
      <dsp:spPr>
        <a:xfrm rot="21579379">
          <a:off x="4286413" y="955208"/>
          <a:ext cx="232944" cy="3251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1900" kern="1200"/>
        </a:p>
      </dsp:txBody>
      <dsp:txXfrm>
        <a:off x="4286414" y="1020457"/>
        <a:ext cx="163061" cy="195118"/>
      </dsp:txXfrm>
    </dsp:sp>
    <dsp:sp modelId="{A2F98E54-17FD-4C29-937E-C5DB7D1B88F8}">
      <dsp:nvSpPr>
        <dsp:cNvPr id="0" name=""/>
        <dsp:cNvSpPr/>
      </dsp:nvSpPr>
      <dsp:spPr>
        <a:xfrm>
          <a:off x="4616047" y="319836"/>
          <a:ext cx="3486318" cy="15724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100" b="0" kern="1200" dirty="0" smtClean="0"/>
            <a:t>6/2016 [3]:</a:t>
          </a:r>
        </a:p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100" kern="1200" dirty="0" smtClean="0"/>
            <a:t>- 260 </a:t>
          </a:r>
          <a:r>
            <a:rPr lang="de-DE" sz="2100" kern="1200" dirty="0" err="1" smtClean="0"/>
            <a:t>portals</a:t>
          </a:r>
          <a:r>
            <a:rPr lang="de-DE" sz="2100" kern="1200" dirty="0" smtClean="0"/>
            <a:t/>
          </a:r>
          <a:br>
            <a:rPr lang="de-DE" sz="2100" kern="1200" dirty="0" smtClean="0"/>
          </a:br>
          <a:r>
            <a:rPr lang="de-DE" sz="1900" b="0" kern="1200" dirty="0" smtClean="0"/>
            <a:t>- </a:t>
          </a:r>
          <a:r>
            <a:rPr lang="de-DE" sz="1900" kern="1200" dirty="0" smtClean="0"/>
            <a:t>CKAN, </a:t>
          </a:r>
          <a:r>
            <a:rPr lang="de-DE" sz="1900" b="1" kern="1200" dirty="0" err="1" smtClean="0"/>
            <a:t>Socrata</a:t>
          </a:r>
          <a:r>
            <a:rPr lang="de-DE" sz="1900" kern="1200" dirty="0" smtClean="0"/>
            <a:t>, </a:t>
          </a:r>
          <a:r>
            <a:rPr lang="de-DE" sz="1900" b="1" kern="1200" dirty="0" err="1" smtClean="0"/>
            <a:t>OpenDataSoft</a:t>
          </a:r>
          <a:r>
            <a:rPr lang="de-DE" sz="1900" b="1" kern="1200" dirty="0" smtClean="0"/>
            <a:t/>
          </a:r>
          <a:br>
            <a:rPr lang="de-DE" sz="1900" b="1" kern="1200" dirty="0" smtClean="0"/>
          </a:br>
          <a:r>
            <a:rPr lang="de-DE" sz="1900" kern="1200" dirty="0" smtClean="0"/>
            <a:t>- 18  </a:t>
          </a:r>
          <a:r>
            <a:rPr lang="de-DE" sz="1900" kern="1200" dirty="0" err="1" smtClean="0"/>
            <a:t>metrics</a:t>
          </a:r>
          <a:endParaRPr lang="de-DE" sz="1900" kern="1200" dirty="0"/>
        </a:p>
      </dsp:txBody>
      <dsp:txXfrm>
        <a:off x="4662103" y="365892"/>
        <a:ext cx="3394206" cy="14803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220D6F-941C-4C64-9CF4-53F37970BB2C}">
      <dsp:nvSpPr>
        <dsp:cNvPr id="0" name=""/>
        <dsp:cNvSpPr/>
      </dsp:nvSpPr>
      <dsp:spPr>
        <a:xfrm>
          <a:off x="1313164" y="0"/>
          <a:ext cx="5085496" cy="2998043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43FDE6-F01F-4560-9333-E1981489B9B8}">
      <dsp:nvSpPr>
        <dsp:cNvPr id="0" name=""/>
        <dsp:cNvSpPr/>
      </dsp:nvSpPr>
      <dsp:spPr>
        <a:xfrm>
          <a:off x="1661808" y="2398656"/>
          <a:ext cx="124718" cy="12471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40D876-8390-446C-A928-935F89379944}">
      <dsp:nvSpPr>
        <dsp:cNvPr id="0" name=""/>
        <dsp:cNvSpPr/>
      </dsp:nvSpPr>
      <dsp:spPr>
        <a:xfrm>
          <a:off x="129381" y="2736613"/>
          <a:ext cx="2794980" cy="193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86" tIns="0" rIns="0" bIns="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400" kern="1200" dirty="0" smtClean="0"/>
            <a:t>Mapping </a:t>
          </a:r>
          <a:r>
            <a:rPr lang="de-DE" sz="2400" kern="1200" dirty="0" err="1" smtClean="0"/>
            <a:t>to</a:t>
          </a:r>
          <a:r>
            <a:rPr lang="de-DE" sz="2400" kern="1200" dirty="0" smtClean="0"/>
            <a:t> </a:t>
          </a:r>
          <a:br>
            <a:rPr lang="de-DE" sz="2400" kern="1200" dirty="0" smtClean="0"/>
          </a:br>
          <a:r>
            <a:rPr lang="de-DE" sz="2400" kern="1200" dirty="0" err="1" smtClean="0"/>
            <a:t>standard</a:t>
          </a:r>
          <a:r>
            <a:rPr lang="de-DE" sz="2400" kern="1200" dirty="0" smtClean="0"/>
            <a:t> </a:t>
          </a:r>
          <a:r>
            <a:rPr lang="de-DE" sz="2400" kern="1200" dirty="0" err="1" smtClean="0"/>
            <a:t>vocabularies</a:t>
          </a:r>
          <a:r>
            <a:rPr lang="de-DE" sz="2800" kern="1200" dirty="0" smtClean="0"/>
            <a:t/>
          </a:r>
          <a:br>
            <a:rPr lang="de-DE" sz="2800" kern="1200" dirty="0" smtClean="0"/>
          </a:br>
          <a:r>
            <a:rPr lang="de-DE" sz="2000" i="1" kern="1200" dirty="0" smtClean="0"/>
            <a:t>DCAT, Schema.org</a:t>
          </a:r>
          <a:endParaRPr lang="de-DE" kern="1200" dirty="0"/>
        </a:p>
      </dsp:txBody>
      <dsp:txXfrm>
        <a:off x="129381" y="2736613"/>
        <a:ext cx="2794980" cy="193318"/>
      </dsp:txXfrm>
    </dsp:sp>
    <dsp:sp modelId="{1C70D206-035E-4917-943B-F88FB74904EA}">
      <dsp:nvSpPr>
        <dsp:cNvPr id="0" name=""/>
        <dsp:cNvSpPr/>
      </dsp:nvSpPr>
      <dsp:spPr>
        <a:xfrm>
          <a:off x="3061499" y="1272058"/>
          <a:ext cx="225452" cy="2254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9665F7-847C-4751-92C2-B44C33ED461E}">
      <dsp:nvSpPr>
        <dsp:cNvPr id="0" name=""/>
        <dsp:cNvSpPr/>
      </dsp:nvSpPr>
      <dsp:spPr>
        <a:xfrm>
          <a:off x="2813721" y="1787766"/>
          <a:ext cx="2059905" cy="667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463" tIns="0" rIns="0" bIns="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800" kern="1200" dirty="0" err="1" smtClean="0"/>
            <a:t>Enrich</a:t>
          </a:r>
          <a:r>
            <a:rPr lang="de-DE" sz="2800" kern="1200" dirty="0" smtClean="0"/>
            <a:t> </a:t>
          </a:r>
          <a:r>
            <a:rPr lang="de-DE" sz="2800" kern="1200" dirty="0" err="1" smtClean="0"/>
            <a:t>the</a:t>
          </a:r>
          <a:r>
            <a:rPr lang="de-DE" sz="2800" kern="1200" dirty="0" smtClean="0"/>
            <a:t> </a:t>
          </a:r>
          <a:r>
            <a:rPr lang="de-DE" sz="2800" kern="1200" dirty="0" err="1" smtClean="0"/>
            <a:t>datasets</a:t>
          </a:r>
          <a:r>
            <a:rPr lang="de-DE" sz="2800" kern="1200" dirty="0" smtClean="0"/>
            <a:t/>
          </a:r>
          <a:br>
            <a:rPr lang="de-DE" sz="2800" kern="1200" dirty="0" smtClean="0"/>
          </a:br>
          <a:r>
            <a:rPr lang="de-DE" sz="2000" i="1" kern="1200" dirty="0" smtClean="0"/>
            <a:t>DQV, CSVW, PROV </a:t>
          </a:r>
          <a:endParaRPr lang="de-DE" kern="1200" dirty="0"/>
        </a:p>
      </dsp:txBody>
      <dsp:txXfrm>
        <a:off x="2813721" y="1787766"/>
        <a:ext cx="2059905" cy="667101"/>
      </dsp:txXfrm>
    </dsp:sp>
    <dsp:sp modelId="{AB8A39C5-EC01-495F-8F2F-5B77A80A481C}">
      <dsp:nvSpPr>
        <dsp:cNvPr id="0" name=""/>
        <dsp:cNvSpPr/>
      </dsp:nvSpPr>
      <dsp:spPr>
        <a:xfrm>
          <a:off x="5324736" y="705474"/>
          <a:ext cx="311796" cy="3117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8117-23A7-470E-96DA-836B05DC2754}">
      <dsp:nvSpPr>
        <dsp:cNvPr id="0" name=""/>
        <dsp:cNvSpPr/>
      </dsp:nvSpPr>
      <dsp:spPr>
        <a:xfrm>
          <a:off x="5111700" y="1389514"/>
          <a:ext cx="2268846" cy="1069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214" tIns="0" rIns="0" bIns="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800" kern="1200" dirty="0" err="1" smtClean="0"/>
            <a:t>Enable</a:t>
          </a:r>
          <a:r>
            <a:rPr lang="de-DE" sz="2800" kern="1200" dirty="0" smtClean="0"/>
            <a:t> </a:t>
          </a:r>
          <a:r>
            <a:rPr lang="de-DE" sz="2800" kern="1200" dirty="0" err="1" smtClean="0"/>
            <a:t>access</a:t>
          </a:r>
          <a:r>
            <a:rPr lang="de-DE" sz="2800" kern="1200" dirty="0" smtClean="0"/>
            <a:t> </a:t>
          </a:r>
          <a:r>
            <a:rPr lang="de-DE" sz="3000" kern="1200" dirty="0" smtClean="0"/>
            <a:t/>
          </a:r>
          <a:br>
            <a:rPr lang="de-DE" sz="3000" kern="1200" dirty="0" smtClean="0"/>
          </a:br>
          <a:r>
            <a:rPr lang="de-DE" sz="2000" b="0" i="1" kern="1200" dirty="0" smtClean="0"/>
            <a:t>SPARQL, Memento, sitemap.xml</a:t>
          </a:r>
          <a:endParaRPr lang="de-DE" kern="1200" dirty="0"/>
        </a:p>
      </dsp:txBody>
      <dsp:txXfrm>
        <a:off x="5111700" y="1389514"/>
        <a:ext cx="2268846" cy="1069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F6CAC8-C865-439C-B16C-E492C30A4C63}" type="datetimeFigureOut">
              <a:rPr lang="en-US" smtClean="0"/>
              <a:t>3/29/2017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5214C-829A-4AE8-A066-5F37BB17B88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872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01122-C12C-4A76-90DD-A370507D9451}" type="datetimeFigureOut">
              <a:rPr lang="en-US" smtClean="0"/>
              <a:t>3/29/2017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CEF34-70B2-4A49-BBE5-E5FFC79283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9786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87012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6124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43503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 smtClean="0"/>
              <a:t>Metadata</a:t>
            </a:r>
            <a:r>
              <a:rPr lang="de-DE" baseline="0" dirty="0" smtClean="0"/>
              <a:t> still in </a:t>
            </a:r>
            <a:r>
              <a:rPr lang="de-DE" baseline="0" dirty="0" err="1" smtClean="0"/>
              <a:t>silos</a:t>
            </a:r>
            <a:r>
              <a:rPr lang="de-DE" baseline="0" dirty="0" smtClean="0"/>
              <a:t> -&gt; bring </a:t>
            </a:r>
            <a:r>
              <a:rPr lang="de-DE" baseline="0" dirty="0" err="1" smtClean="0"/>
              <a:t>it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Web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3156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 smtClean="0"/>
              <a:t>Bold</a:t>
            </a:r>
            <a:r>
              <a:rPr lang="de-DE" dirty="0" smtClean="0"/>
              <a:t> </a:t>
            </a:r>
            <a:r>
              <a:rPr lang="de-DE" dirty="0" err="1" smtClean="0"/>
              <a:t>arraws</a:t>
            </a:r>
            <a:r>
              <a:rPr lang="de-DE" dirty="0" smtClean="0"/>
              <a:t> _&gt; </a:t>
            </a:r>
            <a:r>
              <a:rPr lang="de-DE" dirty="0" err="1" smtClean="0"/>
              <a:t>cross</a:t>
            </a:r>
            <a:r>
              <a:rPr lang="de-DE" dirty="0" smtClean="0"/>
              <a:t> </a:t>
            </a:r>
            <a:r>
              <a:rPr lang="de-DE" dirty="0" err="1" smtClean="0"/>
              <a:t>vocab</a:t>
            </a:r>
            <a:r>
              <a:rPr lang="de-DE" baseline="0" dirty="0" smtClean="0"/>
              <a:t> links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06823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 err="1" smtClean="0"/>
              <a:t>Enrichment</a:t>
            </a:r>
            <a:r>
              <a:rPr lang="de-DE" dirty="0" smtClean="0"/>
              <a:t>:</a:t>
            </a:r>
          </a:p>
          <a:p>
            <a:pPr marL="628650" lvl="1" indent="-171450">
              <a:buFontTx/>
              <a:buChar char="-"/>
            </a:pPr>
            <a:r>
              <a:rPr lang="de-DE" dirty="0" smtClean="0"/>
              <a:t>CSV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RDF</a:t>
            </a:r>
          </a:p>
          <a:p>
            <a:pPr marL="628650" lvl="1" indent="-171450">
              <a:buFontTx/>
              <a:buChar char="-"/>
            </a:pPr>
            <a:r>
              <a:rPr lang="de-DE" baseline="0" dirty="0" err="1" smtClean="0"/>
              <a:t>Metadata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RDF</a:t>
            </a:r>
            <a:endParaRPr lang="de-DE" dirty="0" smtClean="0"/>
          </a:p>
          <a:p>
            <a:pPr marL="171450" indent="-171450">
              <a:buFontTx/>
              <a:buChar char="-"/>
            </a:pPr>
            <a:r>
              <a:rPr lang="de-DE" dirty="0" smtClean="0"/>
              <a:t>Historical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data</a:t>
            </a:r>
            <a:r>
              <a:rPr lang="de-DE" baseline="0" dirty="0" smtClean="0"/>
              <a:t>: 2 </a:t>
            </a:r>
            <a:r>
              <a:rPr lang="de-DE" baseline="0" dirty="0" err="1" smtClean="0"/>
              <a:t>years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data</a:t>
            </a:r>
            <a:r>
              <a:rPr lang="de-DE" baseline="0" dirty="0" smtClean="0"/>
              <a:t> -&gt; 5 </a:t>
            </a:r>
            <a:r>
              <a:rPr lang="de-DE" baseline="0" dirty="0" err="1" smtClean="0"/>
              <a:t>billion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statement</a:t>
            </a:r>
            <a:r>
              <a:rPr lang="de-DE" baseline="0" dirty="0" smtClean="0"/>
              <a:t>. </a:t>
            </a:r>
            <a:r>
              <a:rPr lang="de-DE" baseline="0" dirty="0" err="1" smtClean="0"/>
              <a:t>Allow</a:t>
            </a:r>
            <a:r>
              <a:rPr lang="de-DE" baseline="0" dirty="0" smtClean="0"/>
              <a:t> </a:t>
            </a:r>
            <a:r>
              <a:rPr lang="de-DE" baseline="0" dirty="0" err="1" smtClean="0"/>
              <a:t>users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query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over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prior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versions</a:t>
            </a:r>
            <a:endParaRPr lang="de-DE" baseline="0" dirty="0" smtClean="0"/>
          </a:p>
          <a:p>
            <a:pPr marL="628650" lvl="1" indent="-171450">
              <a:buFontTx/>
              <a:buChar char="-"/>
            </a:pPr>
            <a:r>
              <a:rPr lang="de-DE" baseline="0" dirty="0" err="1" smtClean="0"/>
              <a:t>Linked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data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fragments</a:t>
            </a:r>
            <a:endParaRPr lang="de-DE" baseline="0" dirty="0" smtClean="0"/>
          </a:p>
          <a:p>
            <a:pPr marL="628650" lvl="1" indent="-171450">
              <a:buFontTx/>
              <a:buChar char="-"/>
            </a:pPr>
            <a:r>
              <a:rPr lang="de-DE" dirty="0" smtClean="0"/>
              <a:t>BEAR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work</a:t>
            </a:r>
            <a:r>
              <a:rPr lang="de-DE" baseline="0" dirty="0" smtClean="0"/>
              <a:t> on </a:t>
            </a:r>
            <a:r>
              <a:rPr lang="de-DE" baseline="0" dirty="0" err="1" smtClean="0"/>
              <a:t>benchmarking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evolution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RDF (</a:t>
            </a:r>
            <a:r>
              <a:rPr lang="de-DE" baseline="0" dirty="0" err="1" smtClean="0"/>
              <a:t>put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reference</a:t>
            </a:r>
            <a:r>
              <a:rPr lang="de-DE" baseline="0" dirty="0" smtClean="0"/>
              <a:t> in)</a:t>
            </a:r>
          </a:p>
          <a:p>
            <a:pPr marL="628650" lvl="1" indent="-171450"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66059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0023-2CD6-4376-AA77-4237093685EF}" type="datetime1">
              <a:rPr lang="en-US" smtClean="0"/>
              <a:t>3/29/2017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990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31039-9D10-48A4-AF27-02225D98CF87}" type="datetime1">
              <a:rPr lang="en-US" smtClean="0"/>
              <a:t>3/29/2017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7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5B65-A596-4A84-8609-49EA144A6783}" type="datetime1">
              <a:rPr lang="en-US" smtClean="0"/>
              <a:t>3/29/2017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75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DA458-B8EA-4327-B3A6-CC2E5E75EE6C}" type="datetime1">
              <a:rPr lang="en-US" smtClean="0"/>
              <a:t>3/29/2017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07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66DF-2653-4CE5-B3EA-3EC8B6BAD671}" type="datetime1">
              <a:rPr lang="en-US" smtClean="0"/>
              <a:t>3/29/2017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B0749-E614-4DE9-829A-1851509FB8D5}" type="datetime1">
              <a:rPr lang="en-US" smtClean="0"/>
              <a:t>3/29/2017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080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9264E-F924-4C96-86B8-D7D8A2F255F2}" type="datetime1">
              <a:rPr lang="en-US" smtClean="0"/>
              <a:t>3/29/2017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32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5A774-492C-4D3D-9A19-74F4D5FA4F81}" type="datetime1">
              <a:rPr lang="en-US" smtClean="0"/>
              <a:t>3/29/2017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4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B3D53-C921-4E9F-8674-F06BB01FD335}" type="datetime1">
              <a:rPr lang="en-US" smtClean="0"/>
              <a:t>3/29/2017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2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5879-A771-4CA0-9683-49C2237E6D60}" type="datetime1">
              <a:rPr lang="en-US" smtClean="0"/>
              <a:t>3/29/2017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550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FAFDC-A8D1-405D-A263-2CDE2C285ECD}" type="datetime1">
              <a:rPr lang="en-US" smtClean="0"/>
              <a:t>3/29/2017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98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58373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46800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586714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61963" y="1857375"/>
            <a:ext cx="3781425" cy="4500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395788" y="1857375"/>
            <a:ext cx="3781425" cy="4500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25185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54177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078110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087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504268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AT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200729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4459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248400" y="431800"/>
            <a:ext cx="1928813" cy="59261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61963" y="431800"/>
            <a:ext cx="5634037" cy="5926138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488065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462405" y="3654044"/>
            <a:ext cx="7073458" cy="115056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>
                <a:latin typeface="Goudy Old Style"/>
                <a:ea typeface="Goudy Old Style"/>
                <a:cs typeface="Goudy Old Style"/>
                <a:sym typeface="Goudy Old Style"/>
              </a:defRPr>
            </a:lvl1pPr>
          </a:lstStyle>
          <a:p>
            <a:r>
              <a:t>Title Text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sz="half" idx="1"/>
          </p:nvPr>
        </p:nvSpPr>
        <p:spPr>
          <a:xfrm>
            <a:off x="462405" y="4804609"/>
            <a:ext cx="7073458" cy="20533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Tx/>
              <a:buSzTx/>
              <a:buFontTx/>
              <a:buNone/>
              <a:defRPr sz="3600">
                <a:solidFill>
                  <a:srgbClr val="FFFFFF"/>
                </a:solidFill>
              </a:defRPr>
            </a:lvl1pPr>
            <a:lvl2pPr marL="0" indent="457200">
              <a:buClrTx/>
              <a:buSzTx/>
              <a:buFontTx/>
              <a:buNone/>
              <a:defRPr sz="3600">
                <a:solidFill>
                  <a:srgbClr val="FFFFFF"/>
                </a:solidFill>
              </a:defRPr>
            </a:lvl2pPr>
            <a:lvl3pPr marL="0" indent="914400">
              <a:buClrTx/>
              <a:buSzTx/>
              <a:buFontTx/>
              <a:buNone/>
              <a:defRPr sz="3600">
                <a:solidFill>
                  <a:srgbClr val="FFFFFF"/>
                </a:solidFill>
              </a:defRPr>
            </a:lvl3pPr>
            <a:lvl4pPr marL="0" indent="1371600">
              <a:buClrTx/>
              <a:buSzTx/>
              <a:buFontTx/>
              <a:buNone/>
              <a:defRPr sz="3600">
                <a:solidFill>
                  <a:srgbClr val="FFFFFF"/>
                </a:solidFill>
              </a:defRPr>
            </a:lvl4pPr>
            <a:lvl5pPr marL="0" indent="1828800">
              <a:buClrTx/>
              <a:buSzTx/>
              <a:buFontTx/>
              <a:buNone/>
              <a:defRPr sz="36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900" b="0" i="0" u="none" strike="noStrike" kern="1200" cap="all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"/>
                <a:cs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sz="900" b="0" i="0" u="none" strike="noStrike" kern="1200" cap="all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21832319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und Inha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title"/>
          </p:nvPr>
        </p:nvSpPr>
        <p:spPr>
          <a:xfrm>
            <a:off x="462018" y="164377"/>
            <a:ext cx="6270228" cy="167488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Shape 21"/>
          <p:cNvSpPr>
            <a:spLocks noGrp="1"/>
          </p:cNvSpPr>
          <p:nvPr>
            <p:ph type="body" idx="1"/>
          </p:nvPr>
        </p:nvSpPr>
        <p:spPr>
          <a:xfrm>
            <a:off x="462018" y="1839258"/>
            <a:ext cx="7740596" cy="501874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hape 22"/>
          <p:cNvSpPr>
            <a:spLocks noGrp="1"/>
          </p:cNvSpPr>
          <p:nvPr>
            <p:ph type="sldNum" sz="quarter" idx="2"/>
          </p:nvPr>
        </p:nvSpPr>
        <p:spPr>
          <a:xfrm>
            <a:off x="462406" y="6402198"/>
            <a:ext cx="892151" cy="24384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900" b="0" i="0" u="none" strike="noStrike" kern="1200" cap="all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"/>
                <a:cs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sz="900" b="0" i="0" u="none" strike="noStrike" kern="1200" cap="all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6207191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Nur Titel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title"/>
          </p:nvPr>
        </p:nvSpPr>
        <p:spPr>
          <a:xfrm>
            <a:off x="465171" y="146261"/>
            <a:ext cx="6280167" cy="171111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Shape 30"/>
          <p:cNvSpPr>
            <a:spLocks noGrp="1"/>
          </p:cNvSpPr>
          <p:nvPr>
            <p:ph type="body" idx="1"/>
          </p:nvPr>
        </p:nvSpPr>
        <p:spPr>
          <a:xfrm>
            <a:off x="468312" y="1857375"/>
            <a:ext cx="8485188" cy="5000625"/>
          </a:xfrm>
          <a:prstGeom prst="rect">
            <a:avLst/>
          </a:prstGeom>
        </p:spPr>
        <p:txBody>
          <a:bodyPr/>
          <a:lstStyle>
            <a:lvl1pPr>
              <a:buClrTx/>
              <a:buSzTx/>
              <a:buFontTx/>
              <a:buNone/>
            </a:lvl1pPr>
            <a:lvl2pPr>
              <a:buClrTx/>
              <a:buFontTx/>
            </a:lvl2pPr>
            <a:lvl3pPr>
              <a:buClrTx/>
              <a:buFontTx/>
            </a:lvl3pPr>
            <a:lvl4pPr>
              <a:buClrTx/>
              <a:buFontTx/>
            </a:lvl4pPr>
            <a:lvl5pPr>
              <a:buClrTx/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900" b="0" i="0" u="none" strike="noStrike" kern="1200" cap="all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"/>
                <a:cs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sz="900" b="0" i="0" u="none" strike="noStrike" kern="1200" cap="all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07823799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Zwei Inhalt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title"/>
          </p:nvPr>
        </p:nvSpPr>
        <p:spPr>
          <a:xfrm>
            <a:off x="462405" y="157374"/>
            <a:ext cx="6281341" cy="168888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Shape 39"/>
          <p:cNvSpPr>
            <a:spLocks noGrp="1"/>
          </p:cNvSpPr>
          <p:nvPr>
            <p:ph type="body" sz="half" idx="1"/>
          </p:nvPr>
        </p:nvSpPr>
        <p:spPr>
          <a:xfrm>
            <a:off x="462405" y="1846261"/>
            <a:ext cx="3960001" cy="5011739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 marL="569912" indent="-314325">
              <a:defRPr sz="2200"/>
            </a:lvl2pPr>
            <a:lvl3pPr marL="865893" indent="-335668">
              <a:defRPr sz="2200"/>
            </a:lvl3pPr>
            <a:lvl4pPr marL="1182489" indent="-377627">
              <a:defRPr sz="2200"/>
            </a:lvl4pPr>
            <a:lvl5pPr marL="1444030" indent="-364530"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hape 40"/>
          <p:cNvSpPr>
            <a:spLocks noGrp="1"/>
          </p:cNvSpPr>
          <p:nvPr>
            <p:ph type="sldNum" sz="quarter" idx="2"/>
          </p:nvPr>
        </p:nvSpPr>
        <p:spPr>
          <a:xfrm>
            <a:off x="462406" y="6402198"/>
            <a:ext cx="892151" cy="24384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900" b="0" i="0" u="none" strike="noStrike" kern="1200" cap="all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"/>
                <a:cs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sz="900" b="0" i="0" u="none" strike="noStrike" kern="1200" cap="all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341595651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Zwei Inhalte Vergleich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title"/>
          </p:nvPr>
        </p:nvSpPr>
        <p:spPr>
          <a:xfrm>
            <a:off x="462405" y="0"/>
            <a:ext cx="6281341" cy="2003637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hape 48"/>
          <p:cNvSpPr>
            <a:spLocks noGrp="1"/>
          </p:cNvSpPr>
          <p:nvPr>
            <p:ph type="body" sz="half" idx="1"/>
          </p:nvPr>
        </p:nvSpPr>
        <p:spPr>
          <a:xfrm>
            <a:off x="462405" y="2571744"/>
            <a:ext cx="3960001" cy="4286256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 marL="569912" indent="-314325">
              <a:defRPr sz="2200"/>
            </a:lvl2pPr>
            <a:lvl3pPr marL="865893" indent="-335668">
              <a:defRPr sz="2200"/>
            </a:lvl3pPr>
            <a:lvl4pPr marL="1182489" indent="-377627">
              <a:defRPr sz="2200"/>
            </a:lvl4pPr>
            <a:lvl5pPr marL="1444030" indent="-364530"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xfrm>
            <a:off x="462406" y="6402198"/>
            <a:ext cx="892151" cy="24384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900" b="0" i="0" u="none" strike="noStrike" kern="1200" cap="all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"/>
                <a:cs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sz="900" b="0" i="0" u="none" strike="noStrike" kern="1200" cap="all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269719129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eere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900" b="0" i="0" u="none" strike="noStrike" kern="1200" cap="all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"/>
                <a:cs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sz="900" b="0" i="0" u="none" strike="noStrike" kern="1200" cap="all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746939586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bschlussfoli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/>
        </p:nvSpPr>
        <p:spPr>
          <a:xfrm>
            <a:off x="468311" y="2357429"/>
            <a:ext cx="5103822" cy="3260347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bevel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"/>
              <a:ea typeface="Avenir Next"/>
              <a:cs typeface="Avenir Next"/>
              <a:sym typeface="Avenir Next"/>
            </a:endParaRPr>
          </a:p>
        </p:txBody>
      </p:sp>
      <p:pic>
        <p:nvPicPr>
          <p:cNvPr id="64" name="image4.png" descr="Logo-für-VK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88975" y="2552694"/>
            <a:ext cx="488282" cy="2233628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Shape 65"/>
          <p:cNvSpPr>
            <a:spLocks noGrp="1"/>
          </p:cNvSpPr>
          <p:nvPr>
            <p:ph type="body" sz="quarter" idx="1"/>
          </p:nvPr>
        </p:nvSpPr>
        <p:spPr>
          <a:xfrm>
            <a:off x="1928817" y="3071810"/>
            <a:ext cx="3260323" cy="378619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1000"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 sz="1000"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 sz="1000"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 sz="1000"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 sz="1000">
                <a:latin typeface="Palatino Linotype"/>
                <a:ea typeface="Palatino Linotype"/>
                <a:cs typeface="Palatino Linotype"/>
                <a:sym typeface="Palatino Linotyp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xfrm>
            <a:off x="462405" y="0"/>
            <a:ext cx="6281341" cy="2003637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Shape 67"/>
          <p:cNvSpPr>
            <a:spLocks noGrp="1"/>
          </p:cNvSpPr>
          <p:nvPr>
            <p:ph type="sldNum" sz="quarter" idx="2"/>
          </p:nvPr>
        </p:nvSpPr>
        <p:spPr>
          <a:xfrm>
            <a:off x="462406" y="6402198"/>
            <a:ext cx="892151" cy="24384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900" b="0" i="0" u="none" strike="noStrike" kern="1200" cap="all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"/>
                <a:cs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sz="900" b="0" i="0" u="none" strike="noStrike" kern="1200" cap="all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25243965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enutzerdefiniertes Layou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>
            <a:spLocks noGrp="1"/>
          </p:cNvSpPr>
          <p:nvPr>
            <p:ph type="title"/>
          </p:nvPr>
        </p:nvSpPr>
        <p:spPr>
          <a:xfrm>
            <a:off x="456479" y="89098"/>
            <a:ext cx="8225282" cy="151110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5" name="Shape 75"/>
          <p:cNvSpPr>
            <a:spLocks noGrp="1"/>
          </p:cNvSpPr>
          <p:nvPr>
            <p:ph type="sldNum" sz="quarter" idx="2"/>
          </p:nvPr>
        </p:nvSpPr>
        <p:spPr>
          <a:xfrm>
            <a:off x="6554879" y="6360200"/>
            <a:ext cx="2126881" cy="24384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900" b="0" i="0" u="none" strike="noStrike" kern="1200" cap="all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"/>
                <a:cs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sz="900" b="0" i="0" u="none" strike="noStrike" kern="1200" cap="all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8031097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C6E88-17EF-4D2E-82A9-89D5331ABF77}" type="datetime1">
              <a:rPr lang="en-US" smtClean="0"/>
              <a:t>3/29/2017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29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1963" y="1857375"/>
            <a:ext cx="7715250" cy="4500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55800" rIns="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die Formate des Gliederungstextes zu bearbeiten</a:t>
            </a:r>
          </a:p>
          <a:p>
            <a:pPr lvl="1"/>
            <a:r>
              <a:rPr lang="en-GB" smtClean="0"/>
              <a:t>Zweite Gliederungsebene</a:t>
            </a:r>
          </a:p>
          <a:p>
            <a:pPr lvl="2"/>
            <a:r>
              <a:rPr lang="en-GB" smtClean="0"/>
              <a:t>Dritte Gliederungsebene</a:t>
            </a:r>
          </a:p>
          <a:p>
            <a:pPr lvl="3"/>
            <a:r>
              <a:rPr lang="en-GB" smtClean="0"/>
              <a:t>Vierte Gliederungsebene</a:t>
            </a:r>
          </a:p>
          <a:p>
            <a:pPr lvl="4"/>
            <a:r>
              <a:rPr lang="en-GB" smtClean="0"/>
              <a:t>Fünfte Gliederungsebene</a:t>
            </a:r>
          </a:p>
          <a:p>
            <a:pPr lvl="4"/>
            <a:r>
              <a:rPr lang="en-GB" smtClean="0"/>
              <a:t>Sechste Gliederungsebene</a:t>
            </a:r>
          </a:p>
          <a:p>
            <a:pPr lvl="4"/>
            <a:r>
              <a:rPr lang="en-GB" smtClean="0"/>
              <a:t>Siebente Gliederungsebene</a:t>
            </a:r>
          </a:p>
          <a:p>
            <a:pPr lvl="4"/>
            <a:r>
              <a:rPr lang="en-GB" smtClean="0"/>
              <a:t>Achte Gliederungsebene</a:t>
            </a:r>
          </a:p>
          <a:p>
            <a:pPr lvl="4"/>
            <a:r>
              <a:rPr lang="en-GB" smtClean="0"/>
              <a:t>Neunte Gliederungsebene</a:t>
            </a: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1963" y="431800"/>
            <a:ext cx="6254750" cy="1117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das Format des Titeltextes zu bearbeiten</a:t>
            </a:r>
          </a:p>
        </p:txBody>
      </p:sp>
    </p:spTree>
    <p:extLst>
      <p:ext uri="{BB962C8B-B14F-4D97-AF65-F5344CB8AC3E}">
        <p14:creationId xmlns:p14="http://schemas.microsoft.com/office/powerpoint/2010/main" val="3749274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2pPr>
      <a:lvl3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3pPr>
      <a:lvl4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4pPr>
      <a:lvl5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5pPr>
      <a:lvl6pPr marL="2514600" indent="-228600" algn="l" defTabSz="449263" rtl="0" fontAlgn="base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6pPr>
      <a:lvl7pPr marL="2971800" indent="-228600" algn="l" defTabSz="449263" rtl="0" fontAlgn="base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7pPr>
      <a:lvl8pPr marL="3429000" indent="-228600" algn="l" defTabSz="449263" rtl="0" fontAlgn="base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8pPr>
      <a:lvl9pPr marL="3886200" indent="-228600" algn="l" defTabSz="449263" rtl="0" fontAlgn="base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>
              <a:defRPr sz="900" cap="all">
                <a:solidFill>
                  <a:srgbClr val="888888"/>
                </a:solidFill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900" b="0" i="0" u="none" strike="noStrike" kern="0" cap="all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Palatino Linotype"/>
                <a:cs typeface="Helvetica"/>
                <a:sym typeface="Palatino Linotype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sz="900" b="0" i="0" u="none" strike="noStrike" kern="0" cap="all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Palatino Linotype"/>
              <a:cs typeface="Helvetica"/>
              <a:sym typeface="Palatino Linotype"/>
            </a:endParaRPr>
          </a:p>
        </p:txBody>
      </p:sp>
    </p:spTree>
    <p:extLst>
      <p:ext uri="{BB962C8B-B14F-4D97-AF65-F5344CB8AC3E}">
        <p14:creationId xmlns:p14="http://schemas.microsoft.com/office/powerpoint/2010/main" val="2158655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9pPr>
    </p:titleStyle>
    <p:bodyStyle>
      <a:lvl1pPr marL="265113" marR="0" indent="-265113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▪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1pPr>
      <a:lvl2pPr marL="598487" marR="0" indent="-3429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▪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2pPr>
      <a:lvl3pPr marL="896408" marR="0" indent="-366183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▪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3pPr>
      <a:lvl4pPr marL="1171045" marR="0" indent="-366183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▪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4pPr>
      <a:lvl5pPr marL="1477169" marR="0" indent="-39766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▪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5pPr>
      <a:lvl6pPr marL="2560320" marR="0" indent="-27432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6pPr>
      <a:lvl7pPr marL="3017520" marR="0" indent="-27432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7pPr>
      <a:lvl8pPr marL="3474720" marR="0" indent="-27432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8pPr>
      <a:lvl9pPr marL="3931920" marR="0" indent="-27432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data.wu.ac.at/odso/" TargetMode="External"/><Relationship Id="rId2" Type="http://schemas.openxmlformats.org/officeDocument/2006/relationships/hyperlink" Target="http://data.wu.ac.at/portalwatch/sparq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8"/>
          <p:cNvSpPr>
            <a:spLocks noGrp="1" noChangeArrowheads="1"/>
          </p:cNvSpPr>
          <p:nvPr>
            <p:ph type="ctrTitle"/>
          </p:nvPr>
        </p:nvSpPr>
        <p:spPr>
          <a:xfrm>
            <a:off x="426720" y="3621144"/>
            <a:ext cx="8223985" cy="1865258"/>
          </a:xfrm>
        </p:spPr>
        <p:txBody>
          <a:bodyPr/>
          <a:lstStyle/>
          <a:p>
            <a:pPr eaLnBrk="1" hangingPunct="1"/>
            <a:r>
              <a:rPr lang="en-US" sz="5400" b="0" dirty="0" smtClean="0">
                <a:latin typeface="Calibri" panose="020F0502020204030204" pitchFamily="34" charset="0"/>
              </a:rPr>
              <a:t>Lifting Data Portals </a:t>
            </a:r>
            <a:br>
              <a:rPr lang="en-US" sz="5400" b="0" dirty="0" smtClean="0">
                <a:latin typeface="Calibri" panose="020F0502020204030204" pitchFamily="34" charset="0"/>
              </a:rPr>
            </a:br>
            <a:r>
              <a:rPr lang="en-US" sz="5400" b="0" dirty="0" smtClean="0">
                <a:latin typeface="Calibri" panose="020F0502020204030204" pitchFamily="34" charset="0"/>
              </a:rPr>
              <a:t>to the Web of Data</a:t>
            </a:r>
          </a:p>
        </p:txBody>
      </p:sp>
      <p:sp>
        <p:nvSpPr>
          <p:cNvPr id="21510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416982" y="5582653"/>
            <a:ext cx="7975652" cy="1014087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sz="2000" u="sng" dirty="0" smtClean="0">
                <a:solidFill>
                  <a:schemeClr val="bg1"/>
                </a:solidFill>
                <a:latin typeface="Calibri" panose="020F0502020204030204" pitchFamily="34" charset="0"/>
              </a:rPr>
              <a:t>Sebastian </a:t>
            </a:r>
            <a:r>
              <a:rPr lang="en-US" sz="2000" u="sng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Neumaier</a:t>
            </a:r>
            <a:r>
              <a:rPr lang="en-US" sz="2000" dirty="0" smtClean="0">
                <a:solidFill>
                  <a:schemeClr val="bg1"/>
                </a:solidFill>
                <a:latin typeface="Calibri" panose="020F0502020204030204" pitchFamily="34" charset="0"/>
              </a:rPr>
              <a:t>, Jürgen </a:t>
            </a:r>
            <a:r>
              <a:rPr lang="en-US" sz="2000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Umbrich</a:t>
            </a:r>
            <a:r>
              <a:rPr lang="en-US" sz="2000" dirty="0" smtClean="0">
                <a:solidFill>
                  <a:schemeClr val="bg1"/>
                </a:solidFill>
                <a:latin typeface="Calibri" panose="020F0502020204030204" pitchFamily="34" charset="0"/>
              </a:rPr>
              <a:t>, Axel </a:t>
            </a:r>
            <a:r>
              <a:rPr lang="en-US" sz="2000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Polleres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algn="l" eaLnBrk="1" hangingPunct="1"/>
            <a:r>
              <a:rPr lang="en-US" sz="1600" dirty="0" smtClean="0">
                <a:solidFill>
                  <a:schemeClr val="bg1"/>
                </a:solidFill>
                <a:latin typeface="Calibri" panose="020F0502020204030204" pitchFamily="34" charset="0"/>
              </a:rPr>
              <a:t>Vienna University of Economics and Business, Vienna, Austria</a:t>
            </a:r>
            <a:endParaRPr lang="en-US" sz="1400" dirty="0" smtClean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20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806" y="1280623"/>
            <a:ext cx="4970834" cy="5043720"/>
          </a:xfr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Lifting Data Portals </a:t>
            </a:r>
            <a:r>
              <a:rPr lang="en-US" sz="3600" dirty="0" smtClean="0"/>
              <a:t> to </a:t>
            </a:r>
            <a:r>
              <a:rPr lang="en-US" sz="3600" dirty="0"/>
              <a:t>the Web of </a:t>
            </a:r>
            <a:r>
              <a:rPr lang="en-US" sz="3600" dirty="0" smtClean="0"/>
              <a:t>Data</a:t>
            </a:r>
            <a:endParaRPr lang="de-DE" sz="36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63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00" y="3637440"/>
            <a:ext cx="7510050" cy="217264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Open Data Portal </a:t>
            </a:r>
            <a:r>
              <a:rPr lang="de-DE" dirty="0" smtClean="0"/>
              <a:t>Watch Project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sz="3200" i="1" dirty="0" smtClean="0"/>
              <a:t>Monitoring </a:t>
            </a:r>
            <a:r>
              <a:rPr lang="de-DE" sz="3200" i="1" dirty="0" err="1" smtClean="0"/>
              <a:t>and</a:t>
            </a:r>
            <a:r>
              <a:rPr lang="de-DE" sz="3200" i="1" dirty="0" smtClean="0"/>
              <a:t> QA </a:t>
            </a:r>
            <a:r>
              <a:rPr lang="de-DE" sz="3200" i="1" dirty="0" err="1" smtClean="0"/>
              <a:t>over</a:t>
            </a:r>
            <a:r>
              <a:rPr lang="de-DE" sz="3200" i="1" dirty="0" smtClean="0"/>
              <a:t> </a:t>
            </a:r>
            <a:r>
              <a:rPr lang="de-DE" sz="3200" i="1" dirty="0" err="1" smtClean="0"/>
              <a:t>evolving</a:t>
            </a:r>
            <a:r>
              <a:rPr lang="de-DE" sz="3200" i="1" dirty="0" smtClean="0"/>
              <a:t> </a:t>
            </a:r>
            <a:r>
              <a:rPr lang="de-DE" sz="3200" i="1" dirty="0" err="1" smtClean="0"/>
              <a:t>data</a:t>
            </a:r>
            <a:r>
              <a:rPr lang="de-DE" sz="3200" i="1" dirty="0" smtClean="0"/>
              <a:t> </a:t>
            </a:r>
            <a:r>
              <a:rPr lang="de-DE" sz="3200" i="1" dirty="0" err="1" smtClean="0"/>
              <a:t>portals</a:t>
            </a:r>
            <a:endParaRPr lang="de-DE" i="1" dirty="0"/>
          </a:p>
        </p:txBody>
      </p:sp>
      <p:graphicFrame>
        <p:nvGraphicFramePr>
          <p:cNvPr id="6" name="Inhaltsplatzhalt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9756096"/>
              </p:ext>
            </p:extLst>
          </p:nvPr>
        </p:nvGraphicFramePr>
        <p:xfrm>
          <a:off x="542925" y="1577975"/>
          <a:ext cx="8105775" cy="2251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00717"/>
              </p:ext>
            </p:extLst>
          </p:nvPr>
        </p:nvGraphicFramePr>
        <p:xfrm>
          <a:off x="238125" y="5914864"/>
          <a:ext cx="8324850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025524425"/>
                    </a:ext>
                  </a:extLst>
                </a:gridCol>
                <a:gridCol w="7943850">
                  <a:extLst>
                    <a:ext uri="{9D8B030D-6E8A-4147-A177-3AD203B41FA5}">
                      <a16:colId xmlns:a16="http://schemas.microsoft.com/office/drawing/2014/main" val="504692956"/>
                    </a:ext>
                  </a:extLst>
                </a:gridCol>
              </a:tblGrid>
              <a:tr h="262944"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[1]</a:t>
                      </a:r>
                      <a:r>
                        <a:rPr lang="de-DE" sz="1200" baseline="0" dirty="0" smtClean="0"/>
                        <a:t> 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Towards assessing the quality evolution of open data portals. In ODQ2015: Open Data Quality Workshop, Munich, Germany</a:t>
                      </a:r>
                      <a:endParaRPr lang="de-D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420886"/>
                  </a:ext>
                </a:extLst>
              </a:tr>
              <a:tr h="262944"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[2]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Quality assessment &amp; evolution of open data portals. In: </a:t>
                      </a:r>
                      <a:r>
                        <a:rPr lang="en-US" sz="1200" dirty="0" smtClean="0"/>
                        <a:t>International </a:t>
                      </a:r>
                      <a:r>
                        <a:rPr lang="en-US" sz="1200" dirty="0" smtClean="0"/>
                        <a:t>Conference on Open and Big Data, Rome, Italy (2015)</a:t>
                      </a:r>
                      <a:endParaRPr lang="en-US" sz="1200" b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610156"/>
                  </a:ext>
                </a:extLst>
              </a:tr>
              <a:tr h="262944"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[3]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Automated quality assessment of metadata across open data portals. ACM Journal of Data and Information Quality (2016)</a:t>
                      </a:r>
                      <a:endParaRPr lang="de-D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651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480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Identified</a:t>
            </a:r>
            <a:r>
              <a:rPr lang="de-DE" dirty="0" smtClean="0"/>
              <a:t> </a:t>
            </a:r>
            <a:r>
              <a:rPr lang="de-DE" dirty="0" err="1" smtClean="0"/>
              <a:t>challenges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Metadata </a:t>
            </a:r>
            <a:r>
              <a:rPr lang="en-US" dirty="0" smtClean="0"/>
              <a:t>is </a:t>
            </a:r>
            <a:r>
              <a:rPr lang="en-US" b="1" dirty="0"/>
              <a:t>heterogeneous</a:t>
            </a:r>
            <a:r>
              <a:rPr lang="en-US" dirty="0"/>
              <a:t> and </a:t>
            </a:r>
            <a:r>
              <a:rPr lang="en-US" dirty="0" smtClean="0"/>
              <a:t>(partially) messy</a:t>
            </a:r>
          </a:p>
          <a:p>
            <a:pPr lvl="1"/>
            <a:r>
              <a:rPr lang="en-US" dirty="0" smtClean="0"/>
              <a:t>Software-specific metadata (CKAN vs </a:t>
            </a:r>
            <a:r>
              <a:rPr lang="en-US" dirty="0" err="1" smtClean="0"/>
              <a:t>Socrata</a:t>
            </a:r>
            <a:r>
              <a:rPr lang="en-US" dirty="0" smtClean="0"/>
              <a:t> vs …)</a:t>
            </a:r>
          </a:p>
          <a:p>
            <a:pPr lvl="1"/>
            <a:r>
              <a:rPr lang="en-US" dirty="0" smtClean="0"/>
              <a:t>Portal-specific metadata</a:t>
            </a:r>
          </a:p>
          <a:p>
            <a:pPr lvl="1"/>
            <a:r>
              <a:rPr lang="en-US" dirty="0" smtClean="0"/>
              <a:t>Missing metadata (file formats, API descriptions, …)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Metadata not available as Linked Data</a:t>
            </a:r>
          </a:p>
          <a:p>
            <a:pPr lvl="1"/>
            <a:r>
              <a:rPr lang="en-US" dirty="0" smtClean="0"/>
              <a:t>Only partially in DCAT vocabulary</a:t>
            </a:r>
          </a:p>
          <a:p>
            <a:pPr lvl="1"/>
            <a:r>
              <a:rPr lang="en-US" b="1" dirty="0" smtClean="0"/>
              <a:t>No mappings </a:t>
            </a:r>
            <a:r>
              <a:rPr lang="en-US" dirty="0" smtClean="0"/>
              <a:t>for additional metadata fields</a:t>
            </a:r>
          </a:p>
          <a:p>
            <a:pPr lvl="5"/>
            <a:endParaRPr lang="en-US" dirty="0" smtClean="0"/>
          </a:p>
          <a:p>
            <a:r>
              <a:rPr lang="en-US" dirty="0" smtClean="0"/>
              <a:t>Poor </a:t>
            </a:r>
            <a:r>
              <a:rPr lang="en-US" b="1" dirty="0" smtClean="0"/>
              <a:t>discoverability</a:t>
            </a:r>
            <a:r>
              <a:rPr lang="en-US" dirty="0" smtClean="0"/>
              <a:t> of datasets</a:t>
            </a:r>
          </a:p>
          <a:p>
            <a:pPr lvl="1"/>
            <a:r>
              <a:rPr lang="en-US" dirty="0" smtClean="0"/>
              <a:t>No content information in </a:t>
            </a:r>
            <a:r>
              <a:rPr lang="en-US" dirty="0" smtClean="0"/>
              <a:t>metadata </a:t>
            </a:r>
            <a:r>
              <a:rPr lang="en-US" dirty="0" smtClean="0"/>
              <a:t>(e.g., CSV headers)</a:t>
            </a:r>
          </a:p>
          <a:p>
            <a:pPr lvl="1"/>
            <a:r>
              <a:rPr lang="en-US" dirty="0" err="1" smtClean="0"/>
              <a:t>Datasets’</a:t>
            </a:r>
            <a:r>
              <a:rPr lang="en-US" dirty="0" smtClean="0"/>
              <a:t> metadata not optimized for search engines</a:t>
            </a:r>
          </a:p>
          <a:p>
            <a:pPr lvl="1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80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Current</a:t>
            </a:r>
            <a:r>
              <a:rPr lang="de-DE" dirty="0" smtClean="0"/>
              <a:t> </a:t>
            </a:r>
            <a:r>
              <a:rPr lang="de-DE" dirty="0" err="1" smtClean="0"/>
              <a:t>progress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2331487133"/>
              </p:ext>
            </p:extLst>
          </p:nvPr>
        </p:nvGraphicFramePr>
        <p:xfrm>
          <a:off x="453006" y="1388685"/>
          <a:ext cx="7689045" cy="2998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3421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Mapping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standard</a:t>
            </a:r>
            <a:r>
              <a:rPr lang="de-DE" dirty="0" smtClean="0"/>
              <a:t> </a:t>
            </a:r>
            <a:r>
              <a:rPr lang="de-DE" dirty="0" err="1" smtClean="0"/>
              <a:t>vocabularies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 smtClean="0"/>
              <a:t>DCAT</a:t>
            </a:r>
            <a:r>
              <a:rPr lang="de-DE" dirty="0" smtClean="0"/>
              <a:t> </a:t>
            </a:r>
            <a:r>
              <a:rPr lang="de-DE" dirty="0" err="1" smtClean="0"/>
              <a:t>export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metadata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 CKAN, </a:t>
            </a:r>
            <a:r>
              <a:rPr lang="de-DE" dirty="0" err="1" smtClean="0"/>
              <a:t>Socrata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OpenDataSoft</a:t>
            </a:r>
            <a:r>
              <a:rPr lang="de-DE" dirty="0"/>
              <a:t> </a:t>
            </a:r>
            <a:r>
              <a:rPr lang="de-DE" dirty="0" err="1" smtClean="0"/>
              <a:t>portals</a:t>
            </a:r>
            <a:endParaRPr lang="de-DE" dirty="0" smtClean="0"/>
          </a:p>
          <a:p>
            <a:pPr lvl="1"/>
            <a:r>
              <a:rPr lang="de-DE" dirty="0" smtClean="0"/>
              <a:t>Mapping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most</a:t>
            </a:r>
            <a:r>
              <a:rPr lang="de-DE" dirty="0" smtClean="0"/>
              <a:t> </a:t>
            </a:r>
            <a:r>
              <a:rPr lang="de-DE" dirty="0" err="1" smtClean="0"/>
              <a:t>frequent</a:t>
            </a:r>
            <a:r>
              <a:rPr lang="de-DE" dirty="0" smtClean="0"/>
              <a:t> (</a:t>
            </a:r>
            <a:r>
              <a:rPr lang="de-DE" dirty="0" err="1" smtClean="0"/>
              <a:t>portal</a:t>
            </a:r>
            <a:r>
              <a:rPr lang="de-DE" dirty="0" smtClean="0"/>
              <a:t>/</a:t>
            </a:r>
            <a:r>
              <a:rPr lang="de-DE" dirty="0" err="1" smtClean="0"/>
              <a:t>domain</a:t>
            </a:r>
            <a:r>
              <a:rPr lang="de-DE" dirty="0" smtClean="0"/>
              <a:t> </a:t>
            </a:r>
            <a:r>
              <a:rPr lang="de-DE" dirty="0" err="1" smtClean="0"/>
              <a:t>specific</a:t>
            </a:r>
            <a:r>
              <a:rPr lang="de-DE" dirty="0" smtClean="0"/>
              <a:t>) extra-</a:t>
            </a:r>
            <a:r>
              <a:rPr lang="de-DE" dirty="0" err="1" smtClean="0"/>
              <a:t>metadata</a:t>
            </a:r>
            <a:r>
              <a:rPr lang="de-DE" dirty="0" smtClean="0"/>
              <a:t> </a:t>
            </a:r>
            <a:r>
              <a:rPr lang="de-DE" dirty="0" err="1" smtClean="0"/>
              <a:t>fields</a:t>
            </a:r>
            <a:endParaRPr lang="de-DE" dirty="0" smtClean="0"/>
          </a:p>
          <a:p>
            <a:pPr lvl="4"/>
            <a:endParaRPr lang="de-DE" dirty="0" smtClean="0"/>
          </a:p>
          <a:p>
            <a:r>
              <a:rPr lang="de-DE" dirty="0" smtClean="0"/>
              <a:t>Mapping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publishing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b="1" dirty="0" smtClean="0"/>
              <a:t>Schema.org</a:t>
            </a:r>
            <a:r>
              <a:rPr lang="de-DE" dirty="0" smtClean="0"/>
              <a:t>:</a:t>
            </a:r>
          </a:p>
          <a:p>
            <a:pPr lvl="1"/>
            <a:r>
              <a:rPr lang="de-DE" dirty="0" smtClean="0"/>
              <a:t>Mapping </a:t>
            </a:r>
            <a:r>
              <a:rPr lang="de-DE" dirty="0" err="1" smtClean="0"/>
              <a:t>of</a:t>
            </a:r>
            <a:r>
              <a:rPr lang="de-DE" dirty="0" smtClean="0"/>
              <a:t> DCAT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Schema.org‘s</a:t>
            </a:r>
            <a:r>
              <a:rPr lang="de-DE" dirty="0" smtClean="0"/>
              <a:t> </a:t>
            </a:r>
            <a:r>
              <a:rPr lang="de-DE" dirty="0" err="1" smtClean="0"/>
              <a:t>dataset</a:t>
            </a:r>
            <a:r>
              <a:rPr lang="de-DE" dirty="0" smtClean="0"/>
              <a:t> </a:t>
            </a:r>
            <a:r>
              <a:rPr lang="de-DE" dirty="0" err="1" smtClean="0"/>
              <a:t>vocabulary</a:t>
            </a:r>
            <a:endParaRPr lang="de-DE" dirty="0" smtClean="0"/>
          </a:p>
          <a:p>
            <a:pPr lvl="1"/>
            <a:r>
              <a:rPr lang="en-US" dirty="0" smtClean="0"/>
              <a:t>Enabling integration into knowledge graphs </a:t>
            </a:r>
            <a:r>
              <a:rPr lang="en-US" dirty="0"/>
              <a:t>of </a:t>
            </a:r>
            <a:r>
              <a:rPr lang="en-US" dirty="0" smtClean="0"/>
              <a:t>major search engines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3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Enrich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datasets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85750" y="1825625"/>
            <a:ext cx="4248150" cy="4351338"/>
          </a:xfrm>
        </p:spPr>
        <p:txBody>
          <a:bodyPr/>
          <a:lstStyle/>
          <a:p>
            <a:r>
              <a:rPr lang="de-DE" i="1" dirty="0" smtClean="0"/>
              <a:t>Portal Watch </a:t>
            </a:r>
            <a:r>
              <a:rPr lang="de-DE" i="1" dirty="0" err="1" smtClean="0"/>
              <a:t>quality</a:t>
            </a:r>
            <a:r>
              <a:rPr lang="de-DE" i="1" dirty="0" smtClean="0"/>
              <a:t> </a:t>
            </a:r>
            <a:r>
              <a:rPr lang="de-DE" i="1" dirty="0" err="1" smtClean="0"/>
              <a:t>dimensions</a:t>
            </a:r>
            <a:r>
              <a:rPr lang="de-DE" i="1" dirty="0" smtClean="0"/>
              <a:t>:</a:t>
            </a:r>
            <a:endParaRPr lang="de-DE" i="1" dirty="0" smtClean="0"/>
          </a:p>
          <a:p>
            <a:pPr lvl="1"/>
            <a:r>
              <a:rPr lang="de-DE" b="1" dirty="0" smtClean="0"/>
              <a:t>Data Quality </a:t>
            </a:r>
            <a:r>
              <a:rPr lang="de-DE" b="1" dirty="0" err="1" smtClean="0"/>
              <a:t>vocabulary</a:t>
            </a:r>
            <a:endParaRPr lang="de-DE" b="1" dirty="0" smtClean="0"/>
          </a:p>
          <a:p>
            <a:pPr lvl="4"/>
            <a:endParaRPr lang="de-DE" b="1" dirty="0" smtClean="0"/>
          </a:p>
          <a:p>
            <a:r>
              <a:rPr lang="de-DE" i="1" dirty="0" err="1" smtClean="0"/>
              <a:t>Metadata</a:t>
            </a:r>
            <a:r>
              <a:rPr lang="de-DE" i="1" dirty="0" smtClean="0"/>
              <a:t> </a:t>
            </a:r>
            <a:r>
              <a:rPr lang="de-DE" i="1" dirty="0" err="1" smtClean="0"/>
              <a:t>for</a:t>
            </a:r>
            <a:r>
              <a:rPr lang="de-DE" i="1" dirty="0" smtClean="0"/>
              <a:t> </a:t>
            </a:r>
            <a:r>
              <a:rPr lang="de-DE" i="1" dirty="0" err="1" smtClean="0"/>
              <a:t>tables</a:t>
            </a:r>
            <a:r>
              <a:rPr lang="de-DE" i="1" dirty="0" smtClean="0"/>
              <a:t>:</a:t>
            </a:r>
            <a:endParaRPr lang="de-DE" i="1" dirty="0" smtClean="0"/>
          </a:p>
          <a:p>
            <a:pPr lvl="1"/>
            <a:r>
              <a:rPr lang="de-DE" b="1" dirty="0" smtClean="0"/>
              <a:t>CSV on </a:t>
            </a:r>
            <a:r>
              <a:rPr lang="de-DE" b="1" dirty="0" err="1" smtClean="0"/>
              <a:t>the</a:t>
            </a:r>
            <a:r>
              <a:rPr lang="de-DE" b="1" dirty="0" smtClean="0"/>
              <a:t> Web</a:t>
            </a:r>
            <a:r>
              <a:rPr lang="de-DE" dirty="0" smtClean="0"/>
              <a:t> </a:t>
            </a:r>
            <a:r>
              <a:rPr lang="de-DE" dirty="0" err="1" smtClean="0"/>
              <a:t>vocabulary</a:t>
            </a:r>
            <a:endParaRPr lang="de-DE" dirty="0" smtClean="0"/>
          </a:p>
          <a:p>
            <a:pPr lvl="5"/>
            <a:endParaRPr lang="de-DE" dirty="0" smtClean="0"/>
          </a:p>
          <a:p>
            <a:r>
              <a:rPr lang="de-DE" i="1" dirty="0" err="1" smtClean="0"/>
              <a:t>Record</a:t>
            </a:r>
            <a:r>
              <a:rPr lang="de-DE" i="1" dirty="0" smtClean="0"/>
              <a:t> </a:t>
            </a:r>
            <a:r>
              <a:rPr lang="de-DE" i="1" dirty="0" err="1" smtClean="0"/>
              <a:t>provenance</a:t>
            </a:r>
            <a:r>
              <a:rPr lang="de-DE" i="1" dirty="0" smtClean="0"/>
              <a:t>:</a:t>
            </a:r>
          </a:p>
          <a:p>
            <a:pPr lvl="1"/>
            <a:r>
              <a:rPr lang="de-DE" b="1" dirty="0"/>
              <a:t>PROV </a:t>
            </a:r>
            <a:r>
              <a:rPr lang="de-DE" b="1" dirty="0" err="1"/>
              <a:t>ontology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7</a:t>
            </a:fld>
            <a:endParaRPr lang="en-US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171" y="1558154"/>
            <a:ext cx="4626906" cy="476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10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smtClean="0"/>
              <a:t>CSV </a:t>
            </a:r>
            <a:r>
              <a:rPr lang="de-DE" i="1" dirty="0" smtClean="0"/>
              <a:t>on </a:t>
            </a:r>
            <a:r>
              <a:rPr lang="de-DE" i="1" dirty="0" err="1" smtClean="0"/>
              <a:t>the</a:t>
            </a:r>
            <a:r>
              <a:rPr lang="de-DE" i="1" dirty="0" smtClean="0"/>
              <a:t> Web</a:t>
            </a:r>
            <a:r>
              <a:rPr lang="de-DE" dirty="0" smtClean="0"/>
              <a:t> </a:t>
            </a:r>
            <a:r>
              <a:rPr lang="de-DE" dirty="0" err="1" smtClean="0"/>
              <a:t>metadata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1950" y="1825625"/>
            <a:ext cx="3724275" cy="4351338"/>
          </a:xfrm>
        </p:spPr>
        <p:txBody>
          <a:bodyPr>
            <a:normAutofit lnSpcReduction="10000"/>
          </a:bodyPr>
          <a:lstStyle/>
          <a:p>
            <a:r>
              <a:rPr lang="de-DE" dirty="0" err="1" smtClean="0"/>
              <a:t>Dialect</a:t>
            </a:r>
            <a:r>
              <a:rPr lang="de-DE" dirty="0" smtClean="0"/>
              <a:t> </a:t>
            </a:r>
            <a:r>
              <a:rPr lang="de-DE" dirty="0" err="1" smtClean="0"/>
              <a:t>properties</a:t>
            </a:r>
            <a:r>
              <a:rPr lang="de-DE" dirty="0" smtClean="0"/>
              <a:t>:</a:t>
            </a:r>
          </a:p>
          <a:p>
            <a:pPr marL="457200" lvl="1" indent="0">
              <a:buNone/>
            </a:pPr>
            <a:r>
              <a:rPr lang="de-DE" i="1" dirty="0" smtClean="0"/>
              <a:t>HTTP Content-Type </a:t>
            </a:r>
            <a:br>
              <a:rPr lang="de-DE" i="1" dirty="0" smtClean="0"/>
            </a:br>
            <a:r>
              <a:rPr lang="de-DE" i="1" dirty="0" smtClean="0"/>
              <a:t>   </a:t>
            </a:r>
            <a:r>
              <a:rPr lang="de-DE" dirty="0" smtClean="0"/>
              <a:t>→ </a:t>
            </a:r>
            <a:r>
              <a:rPr lang="de-DE" sz="2000" dirty="0" err="1" smtClean="0">
                <a:latin typeface="Consolas" panose="020B0609020204030204" pitchFamily="49" charset="0"/>
              </a:rPr>
              <a:t>dcat:mediaType</a:t>
            </a:r>
            <a:endParaRPr lang="de-DE" sz="2000" dirty="0" smtClean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de-DE" i="1" dirty="0" smtClean="0"/>
              <a:t>Encoding </a:t>
            </a:r>
            <a:r>
              <a:rPr lang="de-DE" i="1" dirty="0" err="1" smtClean="0"/>
              <a:t>detection</a:t>
            </a:r>
            <a:r>
              <a:rPr lang="de-DE" i="1" dirty="0" smtClean="0"/>
              <a:t> </a:t>
            </a:r>
            <a:br>
              <a:rPr lang="de-DE" i="1" dirty="0" smtClean="0"/>
            </a:br>
            <a:r>
              <a:rPr lang="de-DE" i="1" dirty="0" smtClean="0"/>
              <a:t>   </a:t>
            </a:r>
            <a:r>
              <a:rPr lang="de-DE" dirty="0" smtClean="0"/>
              <a:t>→ </a:t>
            </a:r>
            <a:r>
              <a:rPr lang="de-DE" sz="2000" dirty="0" err="1" smtClean="0">
                <a:latin typeface="Consolas" panose="020B0609020204030204" pitchFamily="49" charset="0"/>
              </a:rPr>
              <a:t>csvw:encoding</a:t>
            </a:r>
            <a:endParaRPr lang="de-DE" sz="200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de-DE" i="1" dirty="0" err="1" smtClean="0">
                <a:solidFill>
                  <a:prstClr val="black"/>
                </a:solidFill>
              </a:rPr>
              <a:t>Delimiter</a:t>
            </a:r>
            <a:r>
              <a:rPr lang="de-DE" i="1" dirty="0" smtClean="0">
                <a:solidFill>
                  <a:prstClr val="black"/>
                </a:solidFill>
              </a:rPr>
              <a:t> </a:t>
            </a:r>
            <a:r>
              <a:rPr lang="de-DE" i="1" dirty="0" err="1">
                <a:solidFill>
                  <a:prstClr val="black"/>
                </a:solidFill>
              </a:rPr>
              <a:t>detection</a:t>
            </a:r>
            <a:r>
              <a:rPr lang="de-DE" i="1" dirty="0">
                <a:solidFill>
                  <a:prstClr val="black"/>
                </a:solidFill>
              </a:rPr>
              <a:t> </a:t>
            </a:r>
            <a:br>
              <a:rPr lang="de-DE" i="1" dirty="0">
                <a:solidFill>
                  <a:prstClr val="black"/>
                </a:solidFill>
              </a:rPr>
            </a:br>
            <a:r>
              <a:rPr lang="de-DE" i="1" dirty="0">
                <a:solidFill>
                  <a:prstClr val="black"/>
                </a:solidFill>
              </a:rPr>
              <a:t>   </a:t>
            </a:r>
            <a:r>
              <a:rPr lang="de-DE" dirty="0">
                <a:solidFill>
                  <a:prstClr val="black"/>
                </a:solidFill>
              </a:rPr>
              <a:t>→ </a:t>
            </a:r>
            <a:r>
              <a:rPr lang="de-DE" sz="2000" dirty="0" err="1" smtClean="0">
                <a:solidFill>
                  <a:prstClr val="black"/>
                </a:solidFill>
                <a:latin typeface="Consolas" panose="020B0609020204030204" pitchFamily="49" charset="0"/>
              </a:rPr>
              <a:t>csvw:delimiter</a:t>
            </a:r>
            <a:endParaRPr lang="de-DE" sz="2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de-DE" sz="1400" dirty="0" smtClean="0">
              <a:latin typeface="Consolas" panose="020B0609020204030204" pitchFamily="49" charset="0"/>
            </a:endParaRPr>
          </a:p>
          <a:p>
            <a:r>
              <a:rPr lang="de-DE" sz="2400" dirty="0" smtClean="0">
                <a:latin typeface="Consolas" panose="020B0609020204030204" pitchFamily="49" charset="0"/>
              </a:rPr>
              <a:t>Schema </a:t>
            </a:r>
            <a:r>
              <a:rPr lang="de-DE" sz="2400" dirty="0" err="1" smtClean="0">
                <a:latin typeface="Consolas" panose="020B0609020204030204" pitchFamily="49" charset="0"/>
              </a:rPr>
              <a:t>properties</a:t>
            </a:r>
            <a:r>
              <a:rPr lang="de-DE" sz="2400" dirty="0" smtClean="0">
                <a:latin typeface="Consolas" panose="020B0609020204030204" pitchFamily="49" charset="0"/>
              </a:rPr>
              <a:t>:</a:t>
            </a:r>
          </a:p>
          <a:p>
            <a:pPr marL="457200" lvl="1" indent="0">
              <a:buNone/>
            </a:pPr>
            <a:r>
              <a:rPr lang="de-DE" i="1" dirty="0" smtClean="0"/>
              <a:t>CSV </a:t>
            </a:r>
            <a:r>
              <a:rPr lang="de-DE" i="1" dirty="0" err="1" smtClean="0"/>
              <a:t>header</a:t>
            </a:r>
            <a:r>
              <a:rPr lang="de-DE" i="1" dirty="0" smtClean="0"/>
              <a:t> </a:t>
            </a:r>
            <a:r>
              <a:rPr lang="de-DE" i="1" dirty="0" err="1" smtClean="0"/>
              <a:t>line</a:t>
            </a:r>
            <a:r>
              <a:rPr lang="de-DE" i="1" dirty="0" smtClean="0"/>
              <a:t> </a:t>
            </a:r>
            <a:br>
              <a:rPr lang="de-DE" i="1" dirty="0" smtClean="0"/>
            </a:br>
            <a:r>
              <a:rPr lang="de-DE" i="1" dirty="0" smtClean="0"/>
              <a:t>   </a:t>
            </a:r>
            <a:r>
              <a:rPr lang="de-DE" dirty="0" smtClean="0"/>
              <a:t>→ </a:t>
            </a:r>
            <a:r>
              <a:rPr lang="de-DE" sz="2000" dirty="0" err="1" smtClean="0">
                <a:latin typeface="Consolas" panose="020B0609020204030204" pitchFamily="49" charset="0"/>
              </a:rPr>
              <a:t>csvw:name</a:t>
            </a:r>
            <a:endParaRPr lang="de-DE" sz="2000" dirty="0" smtClean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de-DE" i="1" dirty="0" err="1" smtClean="0"/>
              <a:t>Column</a:t>
            </a:r>
            <a:r>
              <a:rPr lang="de-DE" i="1" dirty="0" smtClean="0"/>
              <a:t> type </a:t>
            </a:r>
            <a:r>
              <a:rPr lang="de-DE" i="1" dirty="0" err="1" smtClean="0"/>
              <a:t>detection</a:t>
            </a:r>
            <a:r>
              <a:rPr lang="de-DE" i="1" dirty="0" smtClean="0"/>
              <a:t> </a:t>
            </a:r>
            <a:br>
              <a:rPr lang="de-DE" i="1" dirty="0" smtClean="0"/>
            </a:br>
            <a:r>
              <a:rPr lang="de-DE" i="1" dirty="0" smtClean="0"/>
              <a:t>   </a:t>
            </a:r>
            <a:r>
              <a:rPr lang="de-DE" dirty="0" smtClean="0"/>
              <a:t>→ </a:t>
            </a:r>
            <a:r>
              <a:rPr lang="de-DE" sz="2000" dirty="0" err="1" smtClean="0">
                <a:latin typeface="Consolas" panose="020B0609020204030204" pitchFamily="49" charset="0"/>
              </a:rPr>
              <a:t>xsd:datatype</a:t>
            </a:r>
            <a:endParaRPr lang="de-DE" sz="2000" dirty="0">
              <a:latin typeface="Consolas" panose="020B0609020204030204" pitchFamily="49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8</a:t>
            </a:fld>
            <a:endParaRPr lang="en-US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150" y="1686315"/>
            <a:ext cx="5143499" cy="458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58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The </a:t>
            </a:r>
            <a:r>
              <a:rPr lang="de-DE" dirty="0" err="1" smtClean="0"/>
              <a:t>big</a:t>
            </a:r>
            <a:r>
              <a:rPr lang="de-DE" dirty="0" smtClean="0"/>
              <a:t> </a:t>
            </a:r>
            <a:r>
              <a:rPr lang="de-DE" dirty="0" err="1" smtClean="0"/>
              <a:t>picture</a:t>
            </a:r>
            <a:endParaRPr lang="de-DE" dirty="0"/>
          </a:p>
        </p:txBody>
      </p:sp>
      <p:pic>
        <p:nvPicPr>
          <p:cNvPr id="5" name="Inhaltsplatzhalt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7229" y="1539687"/>
            <a:ext cx="8861764" cy="4385258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9</a:t>
            </a:fld>
            <a:endParaRPr lang="en-US"/>
          </a:p>
        </p:txBody>
      </p:sp>
      <p:sp>
        <p:nvSpPr>
          <p:cNvPr id="3" name="Ellipse 2"/>
          <p:cNvSpPr/>
          <p:nvPr/>
        </p:nvSpPr>
        <p:spPr>
          <a:xfrm>
            <a:off x="2709644" y="3220588"/>
            <a:ext cx="1484851" cy="428624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/>
          <p:cNvSpPr/>
          <p:nvPr/>
        </p:nvSpPr>
        <p:spPr>
          <a:xfrm>
            <a:off x="2442596" y="1762367"/>
            <a:ext cx="1357618" cy="443937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/>
          <p:cNvSpPr/>
          <p:nvPr/>
        </p:nvSpPr>
        <p:spPr>
          <a:xfrm>
            <a:off x="1115736" y="2305794"/>
            <a:ext cx="1326860" cy="412239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185956" y="3212199"/>
            <a:ext cx="1366007" cy="428624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/>
          <p:cNvSpPr/>
          <p:nvPr/>
        </p:nvSpPr>
        <p:spPr>
          <a:xfrm>
            <a:off x="5395520" y="2289409"/>
            <a:ext cx="1484851" cy="428624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/>
          <p:cNvSpPr/>
          <p:nvPr/>
        </p:nvSpPr>
        <p:spPr>
          <a:xfrm>
            <a:off x="3909909" y="2305896"/>
            <a:ext cx="813093" cy="412137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/>
          <p:cNvSpPr/>
          <p:nvPr/>
        </p:nvSpPr>
        <p:spPr>
          <a:xfrm>
            <a:off x="5538772" y="3362125"/>
            <a:ext cx="1046586" cy="41292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/>
          <p:cNvSpPr/>
          <p:nvPr/>
        </p:nvSpPr>
        <p:spPr>
          <a:xfrm>
            <a:off x="5536734" y="1779145"/>
            <a:ext cx="788565" cy="24663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/>
          <p:cNvSpPr/>
          <p:nvPr/>
        </p:nvSpPr>
        <p:spPr>
          <a:xfrm>
            <a:off x="5395521" y="4410750"/>
            <a:ext cx="1484850" cy="379364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Ellipse 13"/>
          <p:cNvSpPr/>
          <p:nvPr/>
        </p:nvSpPr>
        <p:spPr>
          <a:xfrm>
            <a:off x="7659148" y="3791825"/>
            <a:ext cx="1216404" cy="528505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/>
          <p:cNvSpPr/>
          <p:nvPr/>
        </p:nvSpPr>
        <p:spPr>
          <a:xfrm>
            <a:off x="6593747" y="5264001"/>
            <a:ext cx="1216404" cy="528505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/>
          <p:cNvSpPr/>
          <p:nvPr/>
        </p:nvSpPr>
        <p:spPr>
          <a:xfrm>
            <a:off x="7239699" y="2305794"/>
            <a:ext cx="1093745" cy="41292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7939161" y="3379136"/>
            <a:ext cx="788565" cy="27007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Ellipse 17"/>
          <p:cNvSpPr/>
          <p:nvPr/>
        </p:nvSpPr>
        <p:spPr>
          <a:xfrm>
            <a:off x="3800214" y="5375486"/>
            <a:ext cx="1595306" cy="387752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Ellipse 18"/>
          <p:cNvSpPr/>
          <p:nvPr/>
        </p:nvSpPr>
        <p:spPr>
          <a:xfrm>
            <a:off x="2203129" y="4303552"/>
            <a:ext cx="1046586" cy="412922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Ellipse 19"/>
          <p:cNvSpPr/>
          <p:nvPr/>
        </p:nvSpPr>
        <p:spPr>
          <a:xfrm>
            <a:off x="177566" y="5289168"/>
            <a:ext cx="2017173" cy="470713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318257" y="4157956"/>
            <a:ext cx="788565" cy="24663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3453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Enable</a:t>
            </a:r>
            <a:r>
              <a:rPr lang="de-DE" dirty="0" smtClean="0"/>
              <a:t> Access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49" y="1825625"/>
            <a:ext cx="8010526" cy="4146551"/>
          </a:xfrm>
        </p:spPr>
        <p:txBody>
          <a:bodyPr/>
          <a:lstStyle/>
          <a:p>
            <a:r>
              <a:rPr lang="de-DE" dirty="0" smtClean="0"/>
              <a:t>SPARQL </a:t>
            </a:r>
            <a:r>
              <a:rPr lang="de-DE" dirty="0" err="1" smtClean="0"/>
              <a:t>endpoint</a:t>
            </a:r>
            <a:r>
              <a:rPr lang="de-DE" dirty="0" smtClean="0"/>
              <a:t> [1]:</a:t>
            </a:r>
          </a:p>
          <a:p>
            <a:pPr lvl="1"/>
            <a:r>
              <a:rPr lang="en-US" dirty="0" smtClean="0"/>
              <a:t>Three versions in RDF </a:t>
            </a:r>
            <a:r>
              <a:rPr lang="en-US" dirty="0"/>
              <a:t>triple </a:t>
            </a:r>
            <a:r>
              <a:rPr lang="en-US" dirty="0" smtClean="0"/>
              <a:t>store (as named graphs)</a:t>
            </a:r>
          </a:p>
          <a:p>
            <a:pPr lvl="1"/>
            <a:r>
              <a:rPr lang="de-DE" dirty="0"/>
              <a:t>120 </a:t>
            </a:r>
            <a:r>
              <a:rPr lang="de-DE" dirty="0" err="1"/>
              <a:t>million</a:t>
            </a:r>
            <a:r>
              <a:rPr lang="de-DE" dirty="0"/>
              <a:t> </a:t>
            </a:r>
            <a:r>
              <a:rPr lang="de-DE" dirty="0" err="1"/>
              <a:t>triples</a:t>
            </a:r>
            <a:r>
              <a:rPr lang="de-DE" dirty="0"/>
              <a:t> </a:t>
            </a:r>
            <a:r>
              <a:rPr lang="de-DE" dirty="0" err="1"/>
              <a:t>each</a:t>
            </a:r>
            <a:endParaRPr lang="de-DE" dirty="0" smtClean="0"/>
          </a:p>
          <a:p>
            <a:r>
              <a:rPr lang="de-DE" dirty="0" smtClean="0"/>
              <a:t>Memento </a:t>
            </a:r>
            <a:r>
              <a:rPr lang="de-DE" dirty="0" err="1" smtClean="0"/>
              <a:t>framework</a:t>
            </a:r>
            <a:r>
              <a:rPr lang="de-DE" dirty="0" smtClean="0"/>
              <a:t>:</a:t>
            </a:r>
          </a:p>
          <a:p>
            <a:pPr lvl="1"/>
            <a:r>
              <a:rPr lang="de-DE" dirty="0" err="1" smtClean="0"/>
              <a:t>Datetime</a:t>
            </a:r>
            <a:r>
              <a:rPr lang="de-DE" dirty="0" smtClean="0"/>
              <a:t> </a:t>
            </a:r>
            <a:r>
              <a:rPr lang="de-DE" dirty="0" err="1" smtClean="0"/>
              <a:t>negotiation</a:t>
            </a:r>
            <a:r>
              <a:rPr lang="de-DE" dirty="0"/>
              <a:t> on “</a:t>
            </a:r>
            <a:r>
              <a:rPr lang="de-DE" dirty="0" err="1"/>
              <a:t>Accept-Datetime</a:t>
            </a:r>
            <a:r>
              <a:rPr lang="de-DE" dirty="0"/>
              <a:t>” </a:t>
            </a:r>
            <a:r>
              <a:rPr lang="de-DE" dirty="0" smtClean="0"/>
              <a:t>HTTP </a:t>
            </a:r>
            <a:r>
              <a:rPr lang="de-DE" dirty="0" err="1" smtClean="0"/>
              <a:t>header</a:t>
            </a:r>
            <a:endParaRPr lang="de-DE" dirty="0" smtClean="0"/>
          </a:p>
          <a:p>
            <a:pPr lvl="1"/>
            <a:r>
              <a:rPr lang="de-DE" dirty="0" smtClean="0"/>
              <a:t>Access </a:t>
            </a:r>
            <a:r>
              <a:rPr lang="de-DE" dirty="0" err="1" smtClean="0"/>
              <a:t>to</a:t>
            </a:r>
            <a:r>
              <a:rPr lang="de-DE" dirty="0" smtClean="0"/>
              <a:t> original </a:t>
            </a:r>
            <a:r>
              <a:rPr lang="de-DE" dirty="0" err="1" smtClean="0"/>
              <a:t>metadata</a:t>
            </a:r>
            <a:r>
              <a:rPr lang="de-DE" dirty="0" smtClean="0"/>
              <a:t>, DCAT, </a:t>
            </a:r>
            <a:r>
              <a:rPr lang="de-DE" dirty="0" err="1" smtClean="0"/>
              <a:t>and</a:t>
            </a:r>
            <a:r>
              <a:rPr lang="de-DE" dirty="0" smtClean="0"/>
              <a:t> DQV </a:t>
            </a:r>
            <a:r>
              <a:rPr lang="de-DE" dirty="0" err="1" smtClean="0"/>
              <a:t>measures</a:t>
            </a:r>
            <a:endParaRPr lang="de-DE" dirty="0" smtClean="0"/>
          </a:p>
          <a:p>
            <a:r>
              <a:rPr lang="de-DE" dirty="0" smtClean="0"/>
              <a:t>Schema.org via sitemap.xml [2]:</a:t>
            </a:r>
          </a:p>
          <a:p>
            <a:pPr lvl="1"/>
            <a:r>
              <a:rPr lang="de-DE" dirty="0" smtClean="0"/>
              <a:t>Publishing </a:t>
            </a:r>
            <a:r>
              <a:rPr lang="de-DE" dirty="0" err="1" smtClean="0"/>
              <a:t>of</a:t>
            </a:r>
            <a:r>
              <a:rPr lang="de-DE" dirty="0" smtClean="0"/>
              <a:t> all 850k </a:t>
            </a:r>
            <a:r>
              <a:rPr lang="de-DE" dirty="0" err="1" smtClean="0"/>
              <a:t>datasets</a:t>
            </a:r>
            <a:r>
              <a:rPr lang="de-DE" dirty="0" smtClean="0"/>
              <a:t> </a:t>
            </a:r>
            <a:r>
              <a:rPr lang="de-DE" dirty="0" err="1" smtClean="0"/>
              <a:t>as</a:t>
            </a:r>
            <a:r>
              <a:rPr lang="de-DE" dirty="0" smtClean="0"/>
              <a:t> HTML-</a:t>
            </a:r>
            <a:r>
              <a:rPr lang="de-DE" dirty="0" err="1" smtClean="0"/>
              <a:t>embedded</a:t>
            </a:r>
            <a:r>
              <a:rPr lang="de-DE" dirty="0" smtClean="0"/>
              <a:t> Schema.org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719905"/>
              </p:ext>
            </p:extLst>
          </p:nvPr>
        </p:nvGraphicFramePr>
        <p:xfrm>
          <a:off x="628649" y="5833111"/>
          <a:ext cx="609600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1">
                  <a:extLst>
                    <a:ext uri="{9D8B030D-6E8A-4147-A177-3AD203B41FA5}">
                      <a16:colId xmlns:a16="http://schemas.microsoft.com/office/drawing/2014/main" val="3762192123"/>
                    </a:ext>
                  </a:extLst>
                </a:gridCol>
                <a:gridCol w="5619749">
                  <a:extLst>
                    <a:ext uri="{9D8B030D-6E8A-4147-A177-3AD203B41FA5}">
                      <a16:colId xmlns:a16="http://schemas.microsoft.com/office/drawing/2014/main" val="969536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[1]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hlinkClick r:id="rId2"/>
                        </a:rPr>
                        <a:t>http://data.wu.ac.at/portalwatch/sparql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150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[2]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hlinkClick r:id="rId3"/>
                        </a:rPr>
                        <a:t>http://data.wu.ac.at/odso/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232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197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Outlook &amp;</a:t>
            </a:r>
            <a:r>
              <a:rPr kumimoji="0" lang="en-US" sz="4400" b="0" i="0" u="none" strike="noStrike" kern="120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Future Work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aseline="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data.wu.ac.at/</a:t>
            </a:r>
            <a:r>
              <a:rPr lang="en-US" sz="2800" baseline="0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portalwatch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4" name="Inhaltsplatzhalter 2"/>
          <p:cNvSpPr txBox="1">
            <a:spLocks/>
          </p:cNvSpPr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</a:endParaRPr>
          </a:p>
        </p:txBody>
      </p:sp>
      <p:sp>
        <p:nvSpPr>
          <p:cNvPr id="15" name="Rechteck 14"/>
          <p:cNvSpPr/>
          <p:nvPr/>
        </p:nvSpPr>
        <p:spPr>
          <a:xfrm>
            <a:off x="571048" y="5473149"/>
            <a:ext cx="4741181" cy="126336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6193" tIns="38096" rIns="76193" bIns="3809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5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Helvetica"/>
            </a:endParaRPr>
          </a:p>
        </p:txBody>
      </p:sp>
      <p:pic>
        <p:nvPicPr>
          <p:cNvPr id="16" name="Grafik 15" descr="Logo-für-V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9957" y="5513339"/>
            <a:ext cx="273773" cy="1179635"/>
          </a:xfrm>
          <a:prstGeom prst="rect">
            <a:avLst/>
          </a:prstGeom>
        </p:spPr>
      </p:pic>
      <p:sp>
        <p:nvSpPr>
          <p:cNvPr id="17" name="Textplatzhalter 1"/>
          <p:cNvSpPr txBox="1">
            <a:spLocks/>
          </p:cNvSpPr>
          <p:nvPr/>
        </p:nvSpPr>
        <p:spPr>
          <a:xfrm>
            <a:off x="1142639" y="5527115"/>
            <a:ext cx="5166133" cy="1165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Helvetica"/>
              </a:rPr>
              <a:t>Sebastian Neumaier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Helvetica"/>
              </a:rPr>
              <a:t>WU Vienna, Institute for Information Business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Helvetic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Helvetica"/>
              </a:rPr>
              <a:t>email</a:t>
            </a: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Helvetica"/>
              </a:rPr>
              <a:t>: sebastian.neumaier@wu.ac.at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Helvetica"/>
              </a:rPr>
              <a:t>url</a:t>
            </a: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Helvetica"/>
              </a:rPr>
              <a:t>: https://sebneumaier.wordpress.com/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Helvetica"/>
              </a:rPr>
              <a:t>twitter</a:t>
            </a: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Helvetica"/>
              </a:rPr>
              <a:t>: @</a:t>
            </a:r>
            <a:r>
              <a:rPr kumimoji="0" lang="en-US" sz="11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Helvetica"/>
              </a:rPr>
              <a:t>sebneum</a:t>
            </a:r>
            <a:endParaRPr kumimoji="0" lang="en-US" sz="11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Helvetica"/>
            </a:endParaRPr>
          </a:p>
        </p:txBody>
      </p:sp>
      <p:sp>
        <p:nvSpPr>
          <p:cNvPr id="8" name="Inhaltsplatzhalter 2"/>
          <p:cNvSpPr txBox="1">
            <a:spLocks/>
          </p:cNvSpPr>
          <p:nvPr/>
        </p:nvSpPr>
        <p:spPr>
          <a:xfrm>
            <a:off x="781050" y="1978025"/>
            <a:ext cx="7886700" cy="34141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de-DE" dirty="0" err="1" smtClean="0">
                <a:solidFill>
                  <a:sysClr val="windowText" lastClr="000000"/>
                </a:solidFill>
                <a:latin typeface="Calibri" panose="020F0502020204030204"/>
              </a:rPr>
              <a:t>Richer</a:t>
            </a:r>
            <a:r>
              <a:rPr lang="de-DE" dirty="0" smtClean="0">
                <a:solidFill>
                  <a:sysClr val="windowText" lastClr="000000"/>
                </a:solidFill>
                <a:latin typeface="Calibri" panose="020F0502020204030204"/>
              </a:rPr>
              <a:t> </a:t>
            </a:r>
            <a:r>
              <a:rPr lang="de-DE" dirty="0">
                <a:solidFill>
                  <a:sysClr val="windowText" lastClr="000000"/>
                </a:solidFill>
                <a:latin typeface="Calibri" panose="020F0502020204030204"/>
              </a:rPr>
              <a:t>CSVW </a:t>
            </a:r>
            <a:r>
              <a:rPr lang="de-DE" dirty="0" err="1" smtClean="0">
                <a:solidFill>
                  <a:sysClr val="windowText" lastClr="000000"/>
                </a:solidFill>
                <a:latin typeface="Calibri" panose="020F0502020204030204"/>
              </a:rPr>
              <a:t>metadata</a:t>
            </a:r>
            <a:endParaRPr lang="de-DE" dirty="0" smtClean="0">
              <a:solidFill>
                <a:sysClr val="windowText" lastClr="000000"/>
              </a:solidFill>
              <a:latin typeface="Calibri" panose="020F0502020204030204"/>
            </a:endParaRPr>
          </a:p>
          <a:p>
            <a:pPr lvl="1"/>
            <a:r>
              <a:rPr lang="de-DE" dirty="0">
                <a:solidFill>
                  <a:sysClr val="windowText" lastClr="000000"/>
                </a:solidFill>
                <a:latin typeface="Calibri" panose="020F0502020204030204"/>
              </a:rPr>
              <a:t>XSD </a:t>
            </a:r>
            <a:r>
              <a:rPr lang="de-DE" dirty="0" err="1" smtClean="0">
                <a:solidFill>
                  <a:sysClr val="windowText" lastClr="000000"/>
                </a:solidFill>
                <a:latin typeface="Calibri" panose="020F0502020204030204"/>
              </a:rPr>
              <a:t>datatypes</a:t>
            </a:r>
            <a:r>
              <a:rPr lang="de-DE" dirty="0" smtClean="0">
                <a:solidFill>
                  <a:sysClr val="windowText" lastClr="000000"/>
                </a:solidFill>
                <a:latin typeface="Calibri" panose="020F0502020204030204"/>
              </a:rPr>
              <a:t>, </a:t>
            </a:r>
            <a:r>
              <a:rPr lang="de-DE" dirty="0" err="1" smtClean="0">
                <a:solidFill>
                  <a:sysClr val="windowText" lastClr="000000"/>
                </a:solidFill>
                <a:latin typeface="Calibri" panose="020F0502020204030204"/>
              </a:rPr>
              <a:t>date</a:t>
            </a:r>
            <a:r>
              <a:rPr lang="de-DE" dirty="0" smtClean="0">
                <a:solidFill>
                  <a:sysClr val="windowText" lastClr="000000"/>
                </a:solidFill>
                <a:latin typeface="Calibri" panose="020F0502020204030204"/>
              </a:rPr>
              <a:t>(time) </a:t>
            </a:r>
            <a:r>
              <a:rPr lang="de-DE" dirty="0" err="1" smtClean="0">
                <a:solidFill>
                  <a:sysClr val="windowText" lastClr="000000"/>
                </a:solidFill>
                <a:latin typeface="Calibri" panose="020F0502020204030204"/>
              </a:rPr>
              <a:t>patterns</a:t>
            </a:r>
            <a:r>
              <a:rPr lang="de-DE" dirty="0" smtClean="0">
                <a:solidFill>
                  <a:sysClr val="windowText" lastClr="000000"/>
                </a:solidFill>
                <a:latin typeface="Calibri" panose="020F0502020204030204"/>
              </a:rPr>
              <a:t>, …</a:t>
            </a:r>
          </a:p>
          <a:p>
            <a:r>
              <a:rPr kumimoji="0" lang="de-DE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Access/</a:t>
            </a:r>
            <a:r>
              <a:rPr kumimoji="0" lang="de-DE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query</a:t>
            </a:r>
            <a:r>
              <a:rPr kumimoji="0" lang="de-DE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historical</a:t>
            </a:r>
            <a:r>
              <a:rPr kumimoji="0" lang="de-DE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  <a:endParaRPr kumimoji="0" lang="de-DE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1"/>
            <a:r>
              <a:rPr kumimoji="0" lang="de-DE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Named</a:t>
            </a:r>
            <a:r>
              <a:rPr kumimoji="0" lang="de-DE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graphs</a:t>
            </a:r>
            <a:r>
              <a:rPr kumimoji="0" lang="de-DE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vs</a:t>
            </a:r>
            <a:r>
              <a:rPr lang="de-DE" dirty="0">
                <a:solidFill>
                  <a:sysClr val="windowText" lastClr="000000"/>
                </a:solidFill>
                <a:latin typeface="Calibri" panose="020F0502020204030204"/>
              </a:rPr>
              <a:t> </a:t>
            </a:r>
            <a:r>
              <a:rPr lang="de-DE" dirty="0" err="1" smtClean="0">
                <a:solidFill>
                  <a:sysClr val="windowText" lastClr="000000"/>
                </a:solidFill>
                <a:latin typeface="Calibri" panose="020F0502020204030204"/>
              </a:rPr>
              <a:t>change-based</a:t>
            </a:r>
            <a:r>
              <a:rPr lang="de-DE" dirty="0" smtClean="0">
                <a:solidFill>
                  <a:sysClr val="windowText" lastClr="000000"/>
                </a:solidFill>
                <a:latin typeface="Calibri" panose="020F0502020204030204"/>
              </a:rPr>
              <a:t> </a:t>
            </a:r>
            <a:r>
              <a:rPr lang="de-DE" dirty="0" err="1" smtClean="0">
                <a:solidFill>
                  <a:sysClr val="windowText" lastClr="000000"/>
                </a:solidFill>
                <a:latin typeface="Calibri" panose="020F0502020204030204"/>
              </a:rPr>
              <a:t>vs</a:t>
            </a:r>
            <a:r>
              <a:rPr lang="de-DE" dirty="0" smtClean="0">
                <a:solidFill>
                  <a:sysClr val="windowText" lastClr="000000"/>
                </a:solidFill>
                <a:latin typeface="Calibri" panose="020F0502020204030204"/>
              </a:rPr>
              <a:t> </a:t>
            </a:r>
            <a:r>
              <a:rPr lang="de-DE" dirty="0" err="1" smtClean="0">
                <a:solidFill>
                  <a:sysClr val="windowText" lastClr="000000"/>
                </a:solidFill>
                <a:latin typeface="Calibri" panose="020F0502020204030204"/>
              </a:rPr>
              <a:t>timestamp-based</a:t>
            </a:r>
            <a:endParaRPr lang="de-DE" dirty="0" smtClean="0">
              <a:solidFill>
                <a:sysClr val="windowText" lastClr="000000"/>
              </a:solidFill>
              <a:latin typeface="Calibri" panose="020F0502020204030204"/>
            </a:endParaRPr>
          </a:p>
          <a:p>
            <a:r>
              <a:rPr lang="de-DE" dirty="0" smtClean="0">
                <a:solidFill>
                  <a:sysClr val="windowText" lastClr="000000"/>
                </a:solidFill>
                <a:latin typeface="Calibri" panose="020F0502020204030204"/>
              </a:rPr>
              <a:t>Add links </a:t>
            </a:r>
            <a:r>
              <a:rPr lang="de-DE" dirty="0" err="1" smtClean="0">
                <a:solidFill>
                  <a:sysClr val="windowText" lastClr="000000"/>
                </a:solidFill>
                <a:latin typeface="Calibri" panose="020F0502020204030204"/>
              </a:rPr>
              <a:t>to</a:t>
            </a:r>
            <a:r>
              <a:rPr kumimoji="0" lang="de-DE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datasets</a:t>
            </a:r>
            <a:r>
              <a:rPr kumimoji="0" lang="de-DE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</a:t>
            </a:r>
            <a:r>
              <a:rPr kumimoji="0" lang="de-DE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external</a:t>
            </a:r>
            <a:r>
              <a:rPr kumimoji="0" lang="de-DE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knowledge</a:t>
            </a:r>
            <a:endParaRPr kumimoji="0" lang="de-DE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1"/>
            <a:r>
              <a:rPr lang="de-DE" dirty="0" err="1" smtClean="0">
                <a:solidFill>
                  <a:sysClr val="windowText" lastClr="000000"/>
                </a:solidFill>
                <a:latin typeface="Calibri" panose="020F0502020204030204"/>
              </a:rPr>
              <a:t>Enrich</a:t>
            </a:r>
            <a:r>
              <a:rPr lang="de-DE" dirty="0" smtClean="0">
                <a:solidFill>
                  <a:sysClr val="windowText" lastClr="000000"/>
                </a:solidFill>
                <a:latin typeface="Calibri" panose="020F0502020204030204"/>
              </a:rPr>
              <a:t>/link </a:t>
            </a:r>
            <a:r>
              <a:rPr lang="de-DE" dirty="0" err="1" smtClean="0">
                <a:solidFill>
                  <a:sysClr val="windowText" lastClr="000000"/>
                </a:solidFill>
                <a:latin typeface="Calibri" panose="020F0502020204030204"/>
              </a:rPr>
              <a:t>metadata</a:t>
            </a:r>
            <a:r>
              <a:rPr lang="de-DE" dirty="0" smtClean="0">
                <a:solidFill>
                  <a:sysClr val="windowText" lastClr="000000"/>
                </a:solidFill>
                <a:latin typeface="Calibri" panose="020F0502020204030204"/>
              </a:rPr>
              <a:t> (e.g</a:t>
            </a:r>
            <a:r>
              <a:rPr lang="de-DE" dirty="0" smtClean="0">
                <a:solidFill>
                  <a:sysClr val="windowText" lastClr="000000"/>
                </a:solidFill>
                <a:latin typeface="Calibri" panose="020F0502020204030204"/>
              </a:rPr>
              <a:t>., </a:t>
            </a:r>
            <a:r>
              <a:rPr lang="de-DE" dirty="0" smtClean="0">
                <a:solidFill>
                  <a:sysClr val="windowText" lastClr="000000"/>
                </a:solidFill>
                <a:latin typeface="Calibri" panose="020F0502020204030204"/>
              </a:rPr>
              <a:t>tags/</a:t>
            </a:r>
            <a:r>
              <a:rPr lang="de-DE" dirty="0" err="1" smtClean="0">
                <a:solidFill>
                  <a:sysClr val="windowText" lastClr="000000"/>
                </a:solidFill>
                <a:latin typeface="Calibri" panose="020F0502020204030204"/>
              </a:rPr>
              <a:t>keywords</a:t>
            </a:r>
            <a:r>
              <a:rPr lang="de-DE" dirty="0" smtClean="0">
                <a:solidFill>
                  <a:sysClr val="windowText" lastClr="000000"/>
                </a:solidFill>
                <a:latin typeface="Calibri" panose="020F0502020204030204"/>
              </a:rPr>
              <a:t>)</a:t>
            </a:r>
            <a:endParaRPr lang="de-DE" dirty="0" smtClean="0">
              <a:solidFill>
                <a:sysClr val="windowText" lastClr="000000"/>
              </a:solidFill>
              <a:latin typeface="Calibri" panose="020F0502020204030204"/>
            </a:endParaRPr>
          </a:p>
          <a:p>
            <a:pPr lvl="1"/>
            <a:r>
              <a:rPr lang="de-DE" dirty="0" err="1" smtClean="0">
                <a:solidFill>
                  <a:sysClr val="windowText" lastClr="000000"/>
                </a:solidFill>
                <a:latin typeface="Calibri" panose="020F0502020204030204"/>
              </a:rPr>
              <a:t>Derive</a:t>
            </a:r>
            <a:r>
              <a:rPr lang="de-DE" dirty="0" smtClean="0">
                <a:solidFill>
                  <a:sysClr val="windowText" lastClr="000000"/>
                </a:solidFill>
                <a:latin typeface="Calibri" panose="020F0502020204030204"/>
              </a:rPr>
              <a:t> </a:t>
            </a:r>
            <a:r>
              <a:rPr lang="de-DE" dirty="0" err="1" smtClean="0">
                <a:solidFill>
                  <a:sysClr val="windowText" lastClr="000000"/>
                </a:solidFill>
                <a:latin typeface="Calibri" panose="020F0502020204030204"/>
              </a:rPr>
              <a:t>semantic</a:t>
            </a:r>
            <a:r>
              <a:rPr lang="de-DE" dirty="0" smtClean="0">
                <a:solidFill>
                  <a:sysClr val="windowText" lastClr="000000"/>
                </a:solidFill>
                <a:latin typeface="Calibri" panose="020F0502020204030204"/>
              </a:rPr>
              <a:t> </a:t>
            </a:r>
            <a:r>
              <a:rPr lang="de-DE" dirty="0" err="1" smtClean="0">
                <a:solidFill>
                  <a:sysClr val="windowText" lastClr="000000"/>
                </a:solidFill>
                <a:latin typeface="Calibri" panose="020F0502020204030204"/>
              </a:rPr>
              <a:t>labels</a:t>
            </a:r>
            <a:r>
              <a:rPr lang="de-DE" dirty="0" smtClean="0">
                <a:solidFill>
                  <a:sysClr val="windowText" lastClr="000000"/>
                </a:solidFill>
                <a:latin typeface="Calibri" panose="020F0502020204030204"/>
              </a:rPr>
              <a:t> </a:t>
            </a:r>
            <a:r>
              <a:rPr lang="de-DE" dirty="0" err="1" smtClean="0">
                <a:solidFill>
                  <a:sysClr val="windowText" lastClr="000000"/>
                </a:solidFill>
                <a:latin typeface="Calibri" panose="020F0502020204030204"/>
              </a:rPr>
              <a:t>from</a:t>
            </a:r>
            <a:r>
              <a:rPr lang="de-DE" dirty="0" smtClean="0">
                <a:solidFill>
                  <a:sysClr val="windowText" lastClr="000000"/>
                </a:solidFill>
                <a:latin typeface="Calibri" panose="020F0502020204030204"/>
              </a:rPr>
              <a:t> </a:t>
            </a:r>
            <a:r>
              <a:rPr lang="de-DE" dirty="0" err="1" smtClean="0">
                <a:solidFill>
                  <a:sysClr val="windowText" lastClr="000000"/>
                </a:solidFill>
                <a:latin typeface="Calibri" panose="020F0502020204030204"/>
              </a:rPr>
              <a:t>data</a:t>
            </a:r>
            <a:r>
              <a:rPr lang="de-DE" dirty="0" smtClean="0">
                <a:solidFill>
                  <a:sysClr val="windowText" lastClr="000000"/>
                </a:solidFill>
                <a:latin typeface="Calibri" panose="020F0502020204030204"/>
              </a:rPr>
              <a:t> </a:t>
            </a:r>
            <a:r>
              <a:rPr lang="de-DE" dirty="0" err="1" smtClean="0">
                <a:solidFill>
                  <a:sysClr val="windowText" lastClr="000000"/>
                </a:solidFill>
                <a:latin typeface="Calibri" panose="020F0502020204030204"/>
              </a:rPr>
              <a:t>sources</a:t>
            </a:r>
            <a:endParaRPr lang="de-DE" dirty="0" smtClean="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0462045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Backup Slides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403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525" y="1496819"/>
            <a:ext cx="4705349" cy="471723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Portal Watch </a:t>
            </a:r>
            <a:r>
              <a:rPr lang="de-DE" dirty="0" err="1" smtClean="0"/>
              <a:t>quality</a:t>
            </a:r>
            <a:r>
              <a:rPr lang="de-DE" dirty="0" smtClean="0"/>
              <a:t> </a:t>
            </a:r>
            <a:r>
              <a:rPr lang="de-DE" dirty="0" err="1" smtClean="0"/>
              <a:t>measures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36371" y="1825625"/>
            <a:ext cx="4471856" cy="4351338"/>
          </a:xfrm>
        </p:spPr>
        <p:txBody>
          <a:bodyPr/>
          <a:lstStyle/>
          <a:p>
            <a:r>
              <a:rPr lang="de-DE" dirty="0" err="1" smtClean="0"/>
              <a:t>Existence</a:t>
            </a:r>
            <a:endParaRPr lang="de-DE" dirty="0" smtClean="0"/>
          </a:p>
          <a:p>
            <a:pPr lvl="1"/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certain</a:t>
            </a:r>
            <a:r>
              <a:rPr lang="de-DE" dirty="0" smtClean="0"/>
              <a:t> </a:t>
            </a:r>
            <a:r>
              <a:rPr lang="de-DE" dirty="0" err="1" smtClean="0"/>
              <a:t>metadata</a:t>
            </a:r>
            <a:r>
              <a:rPr lang="de-DE" dirty="0" smtClean="0"/>
              <a:t> </a:t>
            </a:r>
            <a:r>
              <a:rPr lang="de-DE" dirty="0" err="1" smtClean="0"/>
              <a:t>available</a:t>
            </a:r>
            <a:endParaRPr lang="de-DE" dirty="0" smtClean="0"/>
          </a:p>
          <a:p>
            <a:r>
              <a:rPr lang="de-DE" dirty="0" err="1" smtClean="0"/>
              <a:t>Conformance</a:t>
            </a:r>
            <a:endParaRPr lang="de-DE" dirty="0" smtClean="0"/>
          </a:p>
          <a:p>
            <a:pPr lvl="1"/>
            <a:r>
              <a:rPr lang="de-DE" dirty="0" smtClean="0"/>
              <a:t>Valid </a:t>
            </a:r>
            <a:r>
              <a:rPr lang="de-DE" dirty="0" err="1" smtClean="0"/>
              <a:t>emails</a:t>
            </a:r>
            <a:r>
              <a:rPr lang="de-DE" dirty="0" smtClean="0"/>
              <a:t>/URLs/</a:t>
            </a:r>
            <a:r>
              <a:rPr lang="de-DE" dirty="0" err="1" smtClean="0"/>
              <a:t>dates</a:t>
            </a:r>
            <a:endParaRPr lang="de-DE" dirty="0" smtClean="0"/>
          </a:p>
          <a:p>
            <a:r>
              <a:rPr lang="de-DE" dirty="0" smtClean="0"/>
              <a:t>Open Data</a:t>
            </a:r>
          </a:p>
          <a:p>
            <a:pPr lvl="1"/>
            <a:r>
              <a:rPr lang="de-DE" dirty="0" smtClean="0"/>
              <a:t>Open </a:t>
            </a:r>
            <a:r>
              <a:rPr lang="de-DE" dirty="0" err="1" smtClean="0"/>
              <a:t>format</a:t>
            </a:r>
            <a:endParaRPr lang="de-DE" dirty="0" smtClean="0"/>
          </a:p>
          <a:p>
            <a:pPr lvl="1"/>
            <a:r>
              <a:rPr lang="de-DE" dirty="0" err="1" smtClean="0"/>
              <a:t>Machine-readable</a:t>
            </a:r>
            <a:endParaRPr lang="de-DE" dirty="0" smtClean="0"/>
          </a:p>
          <a:p>
            <a:pPr lvl="1"/>
            <a:r>
              <a:rPr lang="de-DE" dirty="0" smtClean="0"/>
              <a:t>Open </a:t>
            </a:r>
            <a:r>
              <a:rPr lang="de-DE" dirty="0" err="1" smtClean="0"/>
              <a:t>license</a:t>
            </a:r>
            <a:endParaRPr lang="de-DE" dirty="0" smtClean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65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2"/>
          <a:srcRect l="3964" r="4329"/>
          <a:stretch/>
        </p:blipFill>
        <p:spPr>
          <a:xfrm>
            <a:off x="4613944" y="1218439"/>
            <a:ext cx="4387443" cy="529983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Add </a:t>
            </a:r>
            <a:r>
              <a:rPr lang="de-DE" dirty="0" err="1" smtClean="0"/>
              <a:t>provenance</a:t>
            </a:r>
            <a:r>
              <a:rPr lang="de-DE" dirty="0" smtClean="0"/>
              <a:t> </a:t>
            </a:r>
            <a:r>
              <a:rPr lang="de-DE" dirty="0" err="1" smtClean="0"/>
              <a:t>information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3006" y="1825625"/>
            <a:ext cx="4110604" cy="4351338"/>
          </a:xfrm>
        </p:spPr>
        <p:txBody>
          <a:bodyPr/>
          <a:lstStyle/>
          <a:p>
            <a:r>
              <a:rPr lang="de-DE" dirty="0" err="1" smtClean="0"/>
              <a:t>We</a:t>
            </a:r>
            <a:r>
              <a:rPr lang="de-DE" dirty="0" smtClean="0"/>
              <a:t> </a:t>
            </a:r>
            <a:r>
              <a:rPr lang="de-DE" dirty="0" err="1" smtClean="0"/>
              <a:t>a</a:t>
            </a:r>
            <a:r>
              <a:rPr lang="de-DE" dirty="0" err="1" smtClean="0"/>
              <a:t>nnotate</a:t>
            </a:r>
            <a:r>
              <a:rPr lang="de-DE" dirty="0" smtClean="0"/>
              <a:t>:</a:t>
            </a:r>
          </a:p>
          <a:p>
            <a:pPr lvl="1"/>
            <a:r>
              <a:rPr lang="de-DE" dirty="0" err="1" smtClean="0"/>
              <a:t>Mapped</a:t>
            </a:r>
            <a:r>
              <a:rPr lang="de-DE" dirty="0" smtClean="0"/>
              <a:t> DCAT </a:t>
            </a:r>
            <a:r>
              <a:rPr lang="de-DE" dirty="0" err="1" smtClean="0"/>
              <a:t>description</a:t>
            </a:r>
            <a:endParaRPr lang="de-DE" dirty="0" smtClean="0"/>
          </a:p>
          <a:p>
            <a:pPr lvl="1"/>
            <a:r>
              <a:rPr lang="de-DE" dirty="0" smtClean="0"/>
              <a:t>Quality </a:t>
            </a:r>
            <a:r>
              <a:rPr lang="de-DE" dirty="0" err="1" smtClean="0"/>
              <a:t>measurements</a:t>
            </a:r>
            <a:endParaRPr lang="de-DE" dirty="0" smtClean="0"/>
          </a:p>
          <a:p>
            <a:pPr lvl="1"/>
            <a:r>
              <a:rPr lang="de-DE" dirty="0" smtClean="0"/>
              <a:t>CSVW </a:t>
            </a:r>
            <a:r>
              <a:rPr lang="de-DE" dirty="0" err="1" smtClean="0"/>
              <a:t>metadata</a:t>
            </a:r>
            <a:endParaRPr lang="de-DE" dirty="0" smtClean="0"/>
          </a:p>
          <a:p>
            <a:r>
              <a:rPr lang="de-DE" dirty="0" smtClean="0"/>
              <a:t>PROV-</a:t>
            </a:r>
            <a:r>
              <a:rPr lang="de-DE" dirty="0" err="1" smtClean="0"/>
              <a:t>Activities</a:t>
            </a:r>
            <a:r>
              <a:rPr lang="de-DE" dirty="0" smtClean="0"/>
              <a:t>:</a:t>
            </a:r>
          </a:p>
          <a:p>
            <a:pPr lvl="1"/>
            <a:r>
              <a:rPr lang="de-DE" dirty="0" smtClean="0"/>
              <a:t>„</a:t>
            </a:r>
            <a:r>
              <a:rPr lang="de-DE" dirty="0" err="1" smtClean="0"/>
              <a:t>fetch</a:t>
            </a:r>
            <a:r>
              <a:rPr lang="de-DE" dirty="0" smtClean="0"/>
              <a:t>“-</a:t>
            </a:r>
            <a:r>
              <a:rPr lang="de-DE" dirty="0" err="1" smtClean="0"/>
              <a:t>activity</a:t>
            </a:r>
            <a:endParaRPr lang="de-DE" dirty="0" smtClean="0"/>
          </a:p>
          <a:p>
            <a:pPr lvl="1"/>
            <a:r>
              <a:rPr lang="de-DE" dirty="0" smtClean="0"/>
              <a:t>„</a:t>
            </a:r>
            <a:r>
              <a:rPr lang="de-DE" dirty="0" err="1" smtClean="0"/>
              <a:t>csvw</a:t>
            </a:r>
            <a:r>
              <a:rPr lang="de-DE" dirty="0" smtClean="0"/>
              <a:t>“-</a:t>
            </a:r>
            <a:r>
              <a:rPr lang="de-DE" dirty="0" err="1" smtClean="0"/>
              <a:t>activity</a:t>
            </a:r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30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Larissa-Design">
  <a:themeElements>
    <a:clrScheme name="Larissa-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-Design">
      <a:majorFont>
        <a:latin typeface="Verdana"/>
        <a:ea typeface="DejaVu Sans"/>
        <a:cs typeface="DejaVu Sans"/>
      </a:majorFont>
      <a:minorFont>
        <a:latin typeface="Verdana"/>
        <a:ea typeface="DejaVu Sans"/>
        <a:cs typeface="DejaVu San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Larissa-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-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96D3"/>
      </a:accent1>
      <a:accent2>
        <a:srgbClr val="002E60"/>
      </a:accent2>
      <a:accent3>
        <a:srgbClr val="532481"/>
      </a:accent3>
      <a:accent4>
        <a:srgbClr val="457AA0"/>
      </a:accent4>
      <a:accent5>
        <a:srgbClr val="A991C0"/>
      </a:accent5>
      <a:accent6>
        <a:srgbClr val="7FCAE9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"/>
            <a:ea typeface="Avenir Next"/>
            <a:cs typeface="Avenir Next"/>
            <a:sym typeface="Avenir Nex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alatino Linotype"/>
            <a:ea typeface="Palatino Linotype"/>
            <a:cs typeface="Palatino Linotype"/>
            <a:sym typeface="Palatino Linotyp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547</Words>
  <Application>Microsoft Office PowerPoint</Application>
  <PresentationFormat>Bildschirmpräsentation (4:3)</PresentationFormat>
  <Paragraphs>126</Paragraphs>
  <Slides>14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13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14</vt:i4>
      </vt:variant>
    </vt:vector>
  </HeadingPairs>
  <TitlesOfParts>
    <vt:vector size="30" baseType="lpstr">
      <vt:lpstr>Arial</vt:lpstr>
      <vt:lpstr>Avenir Next</vt:lpstr>
      <vt:lpstr>Calibri</vt:lpstr>
      <vt:lpstr>Calibri Light</vt:lpstr>
      <vt:lpstr>Consolas</vt:lpstr>
      <vt:lpstr>DejaVu Sans</vt:lpstr>
      <vt:lpstr>Goudy Old Style</vt:lpstr>
      <vt:lpstr>Helvetica</vt:lpstr>
      <vt:lpstr>Helvetica Neue</vt:lpstr>
      <vt:lpstr>Palatino Linotype</vt:lpstr>
      <vt:lpstr>Times New Roman</vt:lpstr>
      <vt:lpstr>Verdana</vt:lpstr>
      <vt:lpstr>Wingdings</vt:lpstr>
      <vt:lpstr>Office Theme</vt:lpstr>
      <vt:lpstr>1_Larissa-Design</vt:lpstr>
      <vt:lpstr>Default</vt:lpstr>
      <vt:lpstr>Lifting Data Portals  to the Web of Data</vt:lpstr>
      <vt:lpstr>Lifting Data Portals  to the Web of Data</vt:lpstr>
      <vt:lpstr>Open Data Portal Watch Project Monitoring and QA over evolving data portals</vt:lpstr>
      <vt:lpstr>Identified challenges</vt:lpstr>
      <vt:lpstr>Current progress</vt:lpstr>
      <vt:lpstr>Mapping to standard vocabularies</vt:lpstr>
      <vt:lpstr>Enrich the datasets</vt:lpstr>
      <vt:lpstr>CSV on the Web metadata</vt:lpstr>
      <vt:lpstr>The big picture</vt:lpstr>
      <vt:lpstr>Enable Access</vt:lpstr>
      <vt:lpstr>PowerPoint-Präsentation</vt:lpstr>
      <vt:lpstr>Backup Slides</vt:lpstr>
      <vt:lpstr>Portal Watch quality measures</vt:lpstr>
      <vt:lpstr>Add provenance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Multi-level semantic labelling of numerical values</dc:title>
  <dc:creator>Sebastian Neumaier</dc:creator>
  <cp:lastModifiedBy>Windows-Benutzer</cp:lastModifiedBy>
  <cp:revision>137</cp:revision>
  <dcterms:created xsi:type="dcterms:W3CDTF">2016-09-26T07:48:28Z</dcterms:created>
  <dcterms:modified xsi:type="dcterms:W3CDTF">2017-03-29T13:51:44Z</dcterms:modified>
</cp:coreProperties>
</file>