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  <p:sldMasterId id="2147483684" r:id="rId3"/>
  </p:sldMasterIdLst>
  <p:notesMasterIdLst>
    <p:notesMasterId r:id="rId32"/>
  </p:notesMasterIdLst>
  <p:handoutMasterIdLst>
    <p:handoutMasterId r:id="rId33"/>
  </p:handoutMasterIdLst>
  <p:sldIdLst>
    <p:sldId id="298" r:id="rId4"/>
    <p:sldId id="257" r:id="rId5"/>
    <p:sldId id="258" r:id="rId6"/>
    <p:sldId id="294" r:id="rId7"/>
    <p:sldId id="277" r:id="rId8"/>
    <p:sldId id="296" r:id="rId9"/>
    <p:sldId id="273" r:id="rId10"/>
    <p:sldId id="295" r:id="rId11"/>
    <p:sldId id="274" r:id="rId12"/>
    <p:sldId id="297" r:id="rId13"/>
    <p:sldId id="275" r:id="rId14"/>
    <p:sldId id="267" r:id="rId15"/>
    <p:sldId id="293" r:id="rId16"/>
    <p:sldId id="281" r:id="rId17"/>
    <p:sldId id="287" r:id="rId18"/>
    <p:sldId id="285" r:id="rId19"/>
    <p:sldId id="262" r:id="rId20"/>
    <p:sldId id="280" r:id="rId21"/>
    <p:sldId id="286" r:id="rId22"/>
    <p:sldId id="276" r:id="rId23"/>
    <p:sldId id="290" r:id="rId24"/>
    <p:sldId id="269" r:id="rId25"/>
    <p:sldId id="270" r:id="rId26"/>
    <p:sldId id="261" r:id="rId27"/>
    <p:sldId id="278" r:id="rId28"/>
    <p:sldId id="279" r:id="rId29"/>
    <p:sldId id="260" r:id="rId30"/>
    <p:sldId id="263" r:id="rId31"/>
  </p:sldIdLst>
  <p:sldSz cx="9144000" cy="6858000" type="screen4x3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B9B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86" autoAdjust="0"/>
    <p:restoredTop sz="66464" autoAdjust="0"/>
  </p:normalViewPr>
  <p:slideViewPr>
    <p:cSldViewPr snapToGrid="0">
      <p:cViewPr varScale="1">
        <p:scale>
          <a:sx n="73" d="100"/>
          <a:sy n="73" d="100"/>
        </p:scale>
        <p:origin x="156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34" Type="http://schemas.openxmlformats.org/officeDocument/2006/relationships/presProps" Target="pres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theme" Target="theme/theme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-Arbeitsblatt1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Missing Format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Tabelle1!$A$2</c:f>
              <c:strCache>
                <c:ptCount val="1"/>
                <c:pt idx="0">
                  <c:v>Kategorie 1</c:v>
                </c:pt>
              </c:strCache>
            </c:strRef>
          </c:cat>
          <c:val>
            <c:numRef>
              <c:f>Tabelle1!$B$2</c:f>
              <c:numCache>
                <c:formatCode>General</c:formatCode>
                <c:ptCount val="1"/>
                <c:pt idx="0">
                  <c:v>0.16</c:v>
                </c:pt>
              </c:numCache>
            </c:numRef>
          </c:val>
        </c:ser>
        <c:ser>
          <c:idx val="1"/>
          <c:order val="1"/>
          <c:tx>
            <c:strRef>
              <c:f>Tabelle1!$C$1</c:f>
              <c:strCache>
                <c:ptCount val="1"/>
                <c:pt idx="0">
                  <c:v>PDF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Tabelle1!$A$2</c:f>
              <c:strCache>
                <c:ptCount val="1"/>
                <c:pt idx="0">
                  <c:v>Kategorie 1</c:v>
                </c:pt>
              </c:strCache>
            </c:strRef>
          </c:cat>
          <c:val>
            <c:numRef>
              <c:f>Tabelle1!$C$2</c:f>
              <c:numCache>
                <c:formatCode>General</c:formatCode>
                <c:ptCount val="1"/>
                <c:pt idx="0">
                  <c:v>0.1</c:v>
                </c:pt>
              </c:numCache>
            </c:numRef>
          </c:val>
        </c:ser>
        <c:ser>
          <c:idx val="2"/>
          <c:order val="2"/>
          <c:tx>
            <c:strRef>
              <c:f>Tabelle1!$D$1</c:f>
              <c:strCache>
                <c:ptCount val="1"/>
                <c:pt idx="0">
                  <c:v>Excel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Tabelle1!$A$2</c:f>
              <c:strCache>
                <c:ptCount val="1"/>
                <c:pt idx="0">
                  <c:v>Kategorie 1</c:v>
                </c:pt>
              </c:strCache>
            </c:strRef>
          </c:cat>
          <c:val>
            <c:numRef>
              <c:f>Tabelle1!$D$2</c:f>
              <c:numCache>
                <c:formatCode>General</c:formatCode>
                <c:ptCount val="1"/>
                <c:pt idx="0">
                  <c:v>0.12</c:v>
                </c:pt>
              </c:numCache>
            </c:numRef>
          </c:val>
        </c:ser>
        <c:ser>
          <c:idx val="3"/>
          <c:order val="3"/>
          <c:tx>
            <c:strRef>
              <c:f>Tabelle1!$E$1</c:f>
              <c:strCache>
                <c:ptCount val="1"/>
                <c:pt idx="0">
                  <c:v>CSV</c:v>
                </c:pt>
              </c:strCache>
            </c:strRef>
          </c:tx>
          <c:spPr>
            <a:solidFill>
              <a:schemeClr val="accent1">
                <a:lumMod val="60000"/>
              </a:schemeClr>
            </a:solidFill>
            <a:ln>
              <a:noFill/>
            </a:ln>
            <a:effectLst/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Tabelle1!$A$2</c:f>
              <c:strCache>
                <c:ptCount val="1"/>
                <c:pt idx="0">
                  <c:v>Kategorie 1</c:v>
                </c:pt>
              </c:strCache>
            </c:strRef>
          </c:cat>
          <c:val>
            <c:numRef>
              <c:f>Tabelle1!$E$2</c:f>
              <c:numCache>
                <c:formatCode>General</c:formatCode>
                <c:ptCount val="1"/>
                <c:pt idx="0">
                  <c:v>0.27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82"/>
        <c:axId val="225436584"/>
        <c:axId val="225436976"/>
      </c:barChart>
      <c:catAx>
        <c:axId val="225436584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225436976"/>
        <c:crosses val="autoZero"/>
        <c:auto val="1"/>
        <c:lblAlgn val="ctr"/>
        <c:lblOffset val="100"/>
        <c:noMultiLvlLbl val="0"/>
      </c:catAx>
      <c:valAx>
        <c:axId val="225436976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22543658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3"/>
        <c:txPr>
          <a:bodyPr rot="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</c:legendEntry>
      <c:layout>
        <c:manualLayout>
          <c:xMode val="edge"/>
          <c:yMode val="edge"/>
          <c:x val="0"/>
          <c:y val="0.8570159857904085"/>
          <c:w val="0.58712343508791431"/>
          <c:h val="0.14298401420959148"/>
        </c:manualLayout>
      </c:layout>
      <c:overlay val="1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200"/>
      </a:pPr>
      <a:endParaRPr lang="de-DE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F6CAC8-C865-439C-B16C-E492C30A4C63}" type="datetimeFigureOut">
              <a:rPr lang="en-US" smtClean="0"/>
              <a:t>10/20/2016</a:t>
            </a:fld>
            <a:endParaRPr lang="en-US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D5214C-829A-4AE8-A066-5F37BB17B88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7787257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601122-C12C-4A76-90DD-A370507D9451}" type="datetimeFigureOut">
              <a:rPr lang="en-US" smtClean="0"/>
              <a:t>10/20/2016</a:t>
            </a:fld>
            <a:endParaRPr lang="en-US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6CEF34-70B2-4A49-BBE5-E5FFC79283B8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1897865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Yesterday in a talk this slide was presented.</a:t>
            </a:r>
          </a:p>
          <a:p>
            <a:r>
              <a:rPr lang="en-US" dirty="0" smtClean="0"/>
              <a:t>Our approach which I</a:t>
            </a:r>
            <a:r>
              <a:rPr lang="en-US" baseline="0" dirty="0" smtClean="0"/>
              <a:t> will present now is maybe a way to tackle this problem.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55265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15870128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40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few years ago many public institutions and governments started to open up some of their data and  published it on central points.</a:t>
            </a:r>
          </a:p>
          <a:p>
            <a:r>
              <a:rPr lang="en-US" sz="40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datasets certainly contain interesting and useful information like transport, geography, economics or science data.</a:t>
            </a:r>
          </a:p>
          <a:p>
            <a:r>
              <a:rPr lang="en-US" sz="40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However, when we looked in more detail into these datasets, we found out…</a:t>
            </a:r>
          </a:p>
        </p:txBody>
      </p:sp>
    </p:spTree>
    <p:extLst>
      <p:ext uri="{BB962C8B-B14F-4D97-AF65-F5344CB8AC3E}">
        <p14:creationId xmlns:p14="http://schemas.microsoft.com/office/powerpoint/2010/main" val="15492149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Of course we are not the first ones who work</a:t>
            </a:r>
            <a:r>
              <a:rPr lang="en-US" baseline="0" dirty="0" smtClean="0"/>
              <a:t> with tabular data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43927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98372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Realistic</a:t>
            </a:r>
            <a:r>
              <a:rPr lang="en-US" baseline="0" dirty="0" smtClean="0"/>
              <a:t> open data csv would look more like this</a:t>
            </a:r>
          </a:p>
          <a:p>
            <a:r>
              <a:rPr lang="en-US" baseline="0" dirty="0" smtClean="0"/>
              <a:t>Which makes the previous showed job much more harder</a:t>
            </a: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78984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Realistic</a:t>
            </a:r>
            <a:r>
              <a:rPr lang="en-US" baseline="0" dirty="0" smtClean="0"/>
              <a:t> open data csv would look more like this</a:t>
            </a:r>
          </a:p>
          <a:p>
            <a:r>
              <a:rPr lang="en-US" baseline="0" dirty="0" smtClean="0"/>
              <a:t>Which makes the previous showed job much more harder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38981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650821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234044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31411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smtClean="0"/>
              <a:t>Formatvorlage des Untertitelmasters durch Klicken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80023-2CD6-4376-AA77-4237093685EF}" type="datetime1">
              <a:rPr lang="en-US" smtClean="0"/>
              <a:t>10/20/2016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B03EE-0F65-4FB3-87AD-3AF455168DB9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9900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E31039-9D10-48A4-AF27-02225D98CF87}" type="datetime1">
              <a:rPr lang="en-US" smtClean="0"/>
              <a:t>10/20/2016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B03EE-0F65-4FB3-87AD-3AF455168DB9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6078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75B65-A596-4A84-8609-49EA144A6783}" type="datetime1">
              <a:rPr lang="en-US" smtClean="0"/>
              <a:t>10/20/2016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B03EE-0F65-4FB3-87AD-3AF455168DB9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81757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7DA458-B8EA-4327-B3A6-CC2E5E75EE6C}" type="datetime1">
              <a:rPr lang="en-US" smtClean="0"/>
              <a:t>10/20/2016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B03EE-0F65-4FB3-87AD-3AF455168DB9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5077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F66DF-2653-4CE5-B3EA-3EC8B6BAD671}" type="datetime1">
              <a:rPr lang="en-US" smtClean="0"/>
              <a:t>10/20/2016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B03EE-0F65-4FB3-87AD-3AF455168DB9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03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B0749-E614-4DE9-829A-1851509FB8D5}" type="datetime1">
              <a:rPr lang="en-US" smtClean="0"/>
              <a:t>10/20/2016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B03EE-0F65-4FB3-87AD-3AF455168DB9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0807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59264E-F924-4C96-86B8-D7D8A2F255F2}" type="datetime1">
              <a:rPr lang="en-US" smtClean="0"/>
              <a:t>10/20/2016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B03EE-0F65-4FB3-87AD-3AF455168DB9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83325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5A774-492C-4D3D-9A19-74F4D5FA4F81}" type="datetime1">
              <a:rPr lang="en-US" smtClean="0"/>
              <a:t>10/20/2016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B03EE-0F65-4FB3-87AD-3AF455168DB9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6540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 smtClean="0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1B3D53-C921-4E9F-8674-F06BB01FD335}" type="datetime1">
              <a:rPr lang="en-US" smtClean="0"/>
              <a:t>10/20/2016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B03EE-0F65-4FB3-87AD-3AF455168DB9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37227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05879-A771-4CA0-9683-49C2237E6D60}" type="datetime1">
              <a:rPr lang="en-US" smtClean="0"/>
              <a:t>10/20/2016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B03EE-0F65-4FB3-87AD-3AF455168DB9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0550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FAFDC-A8D1-405D-A263-2CDE2C285ECD}" type="datetime1">
              <a:rPr lang="en-US" smtClean="0"/>
              <a:t>10/20/2016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B03EE-0F65-4FB3-87AD-3AF455168DB9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95987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de-DE" smtClean="0"/>
              <a:t>Titelmasterformat durch Klicken bearbeiten</a:t>
            </a:r>
            <a:endParaRPr lang="de-AT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de-DE" smtClean="0"/>
              <a:t>Formatvorlage des Untertitelmasters durch Klicken bearbeiten</a:t>
            </a:r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9583739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AT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94680025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de-DE" smtClean="0"/>
              <a:t>Titelmasterformat durch Klicken bearbeiten</a:t>
            </a:r>
            <a:endParaRPr lang="de-AT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de-DE" smtClean="0"/>
              <a:t>Textmasterformate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158671499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AT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461963" y="1857375"/>
            <a:ext cx="3781425" cy="45005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AT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395788" y="1857375"/>
            <a:ext cx="3781425" cy="45005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52518522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de-DE" smtClean="0"/>
              <a:t>Titelmasterformat durch Klicken bearbeiten</a:t>
            </a:r>
            <a:endParaRPr lang="de-AT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Textmasterformate durch Klicken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AT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Textmasterformate durch Klicken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35417730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70781101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608760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 smtClean="0"/>
              <a:t>Titelmasterformat durch Klicken bearbeiten</a:t>
            </a:r>
            <a:endParaRPr lang="de-AT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AT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Textmasterformate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215042686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 smtClean="0"/>
              <a:t>Titelmasterformat durch Klicken bearbeiten</a:t>
            </a:r>
            <a:endParaRPr lang="de-AT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de-AT" noProof="0" smtClean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Textmasterformate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112007292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AT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744592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6248400" y="431800"/>
            <a:ext cx="1928813" cy="5926138"/>
          </a:xfrm>
        </p:spPr>
        <p:txBody>
          <a:bodyPr vert="eaVert"/>
          <a:lstStyle/>
          <a:p>
            <a:r>
              <a:rPr lang="de-DE" smtClean="0"/>
              <a:t>Titelmasterformat durch Klicken bearbeiten</a:t>
            </a:r>
            <a:endParaRPr lang="de-AT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461963" y="431800"/>
            <a:ext cx="5634037" cy="5926138"/>
          </a:xfrm>
        </p:spPr>
        <p:txBody>
          <a:bodyPr vert="eaVert"/>
          <a:lstStyle/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44880652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elfolie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11"/>
          <p:cNvSpPr>
            <a:spLocks noGrp="1"/>
          </p:cNvSpPr>
          <p:nvPr>
            <p:ph type="title"/>
          </p:nvPr>
        </p:nvSpPr>
        <p:spPr>
          <a:xfrm>
            <a:off x="462405" y="3654044"/>
            <a:ext cx="7073458" cy="1150566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2800">
                <a:latin typeface="Goudy Old Style"/>
                <a:ea typeface="Goudy Old Style"/>
                <a:cs typeface="Goudy Old Style"/>
                <a:sym typeface="Goudy Old Style"/>
              </a:defRPr>
            </a:lvl1pPr>
          </a:lstStyle>
          <a:p>
            <a:r>
              <a:t>Title Text</a:t>
            </a:r>
          </a:p>
        </p:txBody>
      </p:sp>
      <p:sp>
        <p:nvSpPr>
          <p:cNvPr id="12" name="Shape 12"/>
          <p:cNvSpPr>
            <a:spLocks noGrp="1"/>
          </p:cNvSpPr>
          <p:nvPr>
            <p:ph type="body" sz="half" idx="1"/>
          </p:nvPr>
        </p:nvSpPr>
        <p:spPr>
          <a:xfrm>
            <a:off x="462405" y="4804609"/>
            <a:ext cx="7073458" cy="205339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ClrTx/>
              <a:buSzTx/>
              <a:buFontTx/>
              <a:buNone/>
              <a:defRPr sz="3600">
                <a:solidFill>
                  <a:srgbClr val="FFFFFF"/>
                </a:solidFill>
              </a:defRPr>
            </a:lvl1pPr>
            <a:lvl2pPr marL="0" indent="457200">
              <a:buClrTx/>
              <a:buSzTx/>
              <a:buFontTx/>
              <a:buNone/>
              <a:defRPr sz="3600">
                <a:solidFill>
                  <a:srgbClr val="FFFFFF"/>
                </a:solidFill>
              </a:defRPr>
            </a:lvl2pPr>
            <a:lvl3pPr marL="0" indent="914400">
              <a:buClrTx/>
              <a:buSzTx/>
              <a:buFontTx/>
              <a:buNone/>
              <a:defRPr sz="3600">
                <a:solidFill>
                  <a:srgbClr val="FFFFFF"/>
                </a:solidFill>
              </a:defRPr>
            </a:lvl3pPr>
            <a:lvl4pPr marL="0" indent="1371600">
              <a:buClrTx/>
              <a:buSzTx/>
              <a:buFontTx/>
              <a:buNone/>
              <a:defRPr sz="3600">
                <a:solidFill>
                  <a:srgbClr val="FFFFFF"/>
                </a:solidFill>
              </a:defRPr>
            </a:lvl4pPr>
            <a:lvl5pPr marL="0" indent="1828800">
              <a:buClrTx/>
              <a:buSzTx/>
              <a:buFontTx/>
              <a:buNone/>
              <a:defRPr sz="3600">
                <a:solidFill>
                  <a:srgbClr val="FFFFFF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hape 13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‹Nr.›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12363869"/>
      </p:ext>
    </p:extLst>
  </p:cSld>
  <p:clrMapOvr>
    <a:masterClrMapping/>
  </p:clrMapOvr>
  <p:transition spd="med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el und Inhalt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20"/>
          <p:cNvSpPr>
            <a:spLocks noGrp="1"/>
          </p:cNvSpPr>
          <p:nvPr>
            <p:ph type="title"/>
          </p:nvPr>
        </p:nvSpPr>
        <p:spPr>
          <a:xfrm>
            <a:off x="462018" y="164377"/>
            <a:ext cx="6270228" cy="1674882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1" name="Shape 21"/>
          <p:cNvSpPr>
            <a:spLocks noGrp="1"/>
          </p:cNvSpPr>
          <p:nvPr>
            <p:ph type="body" idx="1"/>
          </p:nvPr>
        </p:nvSpPr>
        <p:spPr>
          <a:xfrm>
            <a:off x="462018" y="1839258"/>
            <a:ext cx="7740596" cy="5018742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hape 22"/>
          <p:cNvSpPr>
            <a:spLocks noGrp="1"/>
          </p:cNvSpPr>
          <p:nvPr>
            <p:ph type="sldNum" sz="quarter" idx="2"/>
          </p:nvPr>
        </p:nvSpPr>
        <p:spPr>
          <a:xfrm>
            <a:off x="462406" y="6402198"/>
            <a:ext cx="892151" cy="24384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‹Nr.›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1991365"/>
      </p:ext>
    </p:extLst>
  </p:cSld>
  <p:clrMapOvr>
    <a:masterClrMapping/>
  </p:clrMapOvr>
  <p:transition spd="med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Nur Titel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29"/>
          <p:cNvSpPr>
            <a:spLocks noGrp="1"/>
          </p:cNvSpPr>
          <p:nvPr>
            <p:ph type="title"/>
          </p:nvPr>
        </p:nvSpPr>
        <p:spPr>
          <a:xfrm>
            <a:off x="465171" y="146261"/>
            <a:ext cx="6280167" cy="1711114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0" name="Shape 30"/>
          <p:cNvSpPr>
            <a:spLocks noGrp="1"/>
          </p:cNvSpPr>
          <p:nvPr>
            <p:ph type="body" idx="1"/>
          </p:nvPr>
        </p:nvSpPr>
        <p:spPr>
          <a:xfrm>
            <a:off x="468312" y="1857375"/>
            <a:ext cx="8485188" cy="5000625"/>
          </a:xfrm>
          <a:prstGeom prst="rect">
            <a:avLst/>
          </a:prstGeom>
        </p:spPr>
        <p:txBody>
          <a:bodyPr/>
          <a:lstStyle>
            <a:lvl1pPr>
              <a:buClrTx/>
              <a:buSzTx/>
              <a:buFontTx/>
              <a:buNone/>
            </a:lvl1pPr>
            <a:lvl2pPr>
              <a:buClrTx/>
              <a:buFontTx/>
            </a:lvl2pPr>
            <a:lvl3pPr>
              <a:buClrTx/>
              <a:buFontTx/>
            </a:lvl3pPr>
            <a:lvl4pPr>
              <a:buClrTx/>
              <a:buFontTx/>
            </a:lvl4pPr>
            <a:lvl5pPr>
              <a:buClrTx/>
              <a:buFontTx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hape 31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‹Nr.›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30771547"/>
      </p:ext>
    </p:extLst>
  </p:cSld>
  <p:clrMapOvr>
    <a:masterClrMapping/>
  </p:clrMapOvr>
  <p:transition spd="med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Zwei Inhalte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38"/>
          <p:cNvSpPr>
            <a:spLocks noGrp="1"/>
          </p:cNvSpPr>
          <p:nvPr>
            <p:ph type="title"/>
          </p:nvPr>
        </p:nvSpPr>
        <p:spPr>
          <a:xfrm>
            <a:off x="462405" y="157374"/>
            <a:ext cx="6281341" cy="1688888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9" name="Shape 39"/>
          <p:cNvSpPr>
            <a:spLocks noGrp="1"/>
          </p:cNvSpPr>
          <p:nvPr>
            <p:ph type="body" sz="half" idx="1"/>
          </p:nvPr>
        </p:nvSpPr>
        <p:spPr>
          <a:xfrm>
            <a:off x="462405" y="1846261"/>
            <a:ext cx="3960001" cy="5011739"/>
          </a:xfrm>
          <a:prstGeom prst="rect">
            <a:avLst/>
          </a:prstGeom>
        </p:spPr>
        <p:txBody>
          <a:bodyPr/>
          <a:lstStyle>
            <a:lvl1pPr>
              <a:defRPr sz="2200"/>
            </a:lvl1pPr>
            <a:lvl2pPr marL="569912" indent="-314325">
              <a:defRPr sz="2200"/>
            </a:lvl2pPr>
            <a:lvl3pPr marL="865893" indent="-335668">
              <a:defRPr sz="2200"/>
            </a:lvl3pPr>
            <a:lvl4pPr marL="1182489" indent="-377627">
              <a:defRPr sz="2200"/>
            </a:lvl4pPr>
            <a:lvl5pPr marL="1444030" indent="-364530">
              <a:defRPr sz="2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hape 40"/>
          <p:cNvSpPr>
            <a:spLocks noGrp="1"/>
          </p:cNvSpPr>
          <p:nvPr>
            <p:ph type="sldNum" sz="quarter" idx="2"/>
          </p:nvPr>
        </p:nvSpPr>
        <p:spPr>
          <a:xfrm>
            <a:off x="462406" y="6402198"/>
            <a:ext cx="892151" cy="24384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‹Nr.›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33119789"/>
      </p:ext>
    </p:extLst>
  </p:cSld>
  <p:clrMapOvr>
    <a:masterClrMapping/>
  </p:clrMapOvr>
  <p:transition spd="med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Zwei Inhalte Vergleich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hape 47"/>
          <p:cNvSpPr>
            <a:spLocks noGrp="1"/>
          </p:cNvSpPr>
          <p:nvPr>
            <p:ph type="title"/>
          </p:nvPr>
        </p:nvSpPr>
        <p:spPr>
          <a:xfrm>
            <a:off x="462405" y="0"/>
            <a:ext cx="6281341" cy="2003637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8" name="Shape 48"/>
          <p:cNvSpPr>
            <a:spLocks noGrp="1"/>
          </p:cNvSpPr>
          <p:nvPr>
            <p:ph type="body" sz="half" idx="1"/>
          </p:nvPr>
        </p:nvSpPr>
        <p:spPr>
          <a:xfrm>
            <a:off x="462405" y="2571744"/>
            <a:ext cx="3960001" cy="4286256"/>
          </a:xfrm>
          <a:prstGeom prst="rect">
            <a:avLst/>
          </a:prstGeom>
        </p:spPr>
        <p:txBody>
          <a:bodyPr/>
          <a:lstStyle>
            <a:lvl1pPr>
              <a:defRPr sz="2200"/>
            </a:lvl1pPr>
            <a:lvl2pPr marL="569912" indent="-314325">
              <a:defRPr sz="2200"/>
            </a:lvl2pPr>
            <a:lvl3pPr marL="865893" indent="-335668">
              <a:defRPr sz="2200"/>
            </a:lvl3pPr>
            <a:lvl4pPr marL="1182489" indent="-377627">
              <a:defRPr sz="2200"/>
            </a:lvl4pPr>
            <a:lvl5pPr marL="1444030" indent="-364530">
              <a:defRPr sz="2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Shape 49"/>
          <p:cNvSpPr>
            <a:spLocks noGrp="1"/>
          </p:cNvSpPr>
          <p:nvPr>
            <p:ph type="sldNum" sz="quarter" idx="2"/>
          </p:nvPr>
        </p:nvSpPr>
        <p:spPr>
          <a:xfrm>
            <a:off x="462406" y="6402198"/>
            <a:ext cx="892151" cy="24384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‹Nr.›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27003762"/>
      </p:ext>
    </p:extLst>
  </p:cSld>
  <p:clrMapOvr>
    <a:masterClrMapping/>
  </p:clrMapOvr>
  <p:transition spd="med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Leere 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Shape 56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‹Nr.›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20001320"/>
      </p:ext>
    </p:extLst>
  </p:cSld>
  <p:clrMapOvr>
    <a:masterClrMapping/>
  </p:clrMapOvr>
  <p:transition spd="med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Abschlussfolie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Shape 63"/>
          <p:cNvSpPr/>
          <p:nvPr/>
        </p:nvSpPr>
        <p:spPr>
          <a:xfrm>
            <a:off x="468311" y="2357429"/>
            <a:ext cx="5103822" cy="3260347"/>
          </a:xfrm>
          <a:prstGeom prst="rect">
            <a:avLst/>
          </a:prstGeom>
          <a:solidFill>
            <a:srgbClr val="FFFFFF"/>
          </a:solidFill>
          <a:ln w="12700">
            <a:solidFill>
              <a:srgbClr val="808080"/>
            </a:solidFill>
            <a:bevel/>
          </a:ln>
          <a:effectLst>
            <a:outerShdw blurRad="50800" dist="38100" dir="2700000" rotWithShape="0">
              <a:srgbClr val="000000">
                <a:alpha val="40000"/>
              </a:srgbClr>
            </a:outerShdw>
          </a:effectLst>
        </p:spPr>
        <p:txBody>
          <a:bodyPr lIns="45719" rIns="45719" anchor="ctr"/>
          <a:lstStyle/>
          <a:p>
            <a:pPr algn="ctr" hangingPunct="0">
              <a:defRPr>
                <a:latin typeface="Avenir Next"/>
                <a:ea typeface="Avenir Next"/>
                <a:cs typeface="Avenir Next"/>
                <a:sym typeface="Avenir Next"/>
              </a:defRPr>
            </a:pPr>
            <a:endParaRPr kern="0">
              <a:solidFill>
                <a:srgbClr val="000000"/>
              </a:solidFill>
              <a:latin typeface="Avenir Next"/>
              <a:ea typeface="Avenir Next"/>
              <a:cs typeface="Avenir Next"/>
              <a:sym typeface="Avenir Next"/>
            </a:endParaRPr>
          </a:p>
        </p:txBody>
      </p:sp>
      <p:pic>
        <p:nvPicPr>
          <p:cNvPr id="64" name="image4.png" descr="Logo-für-VK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888975" y="2552694"/>
            <a:ext cx="488282" cy="2233628"/>
          </a:xfrm>
          <a:prstGeom prst="rect">
            <a:avLst/>
          </a:prstGeom>
          <a:ln w="12700">
            <a:miter lim="400000"/>
          </a:ln>
        </p:spPr>
      </p:pic>
      <p:sp>
        <p:nvSpPr>
          <p:cNvPr id="65" name="Shape 65"/>
          <p:cNvSpPr>
            <a:spLocks noGrp="1"/>
          </p:cNvSpPr>
          <p:nvPr>
            <p:ph type="body" sz="quarter" idx="1"/>
          </p:nvPr>
        </p:nvSpPr>
        <p:spPr>
          <a:xfrm>
            <a:off x="1928817" y="3071810"/>
            <a:ext cx="3260323" cy="378619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ClrTx/>
              <a:buSzTx/>
              <a:buFontTx/>
              <a:buNone/>
              <a:defRPr sz="1000">
                <a:latin typeface="Palatino Linotype"/>
                <a:ea typeface="Palatino Linotype"/>
                <a:cs typeface="Palatino Linotype"/>
                <a:sym typeface="Palatino Linotype"/>
              </a:defRPr>
            </a:lvl1pPr>
            <a:lvl2pPr marL="0" indent="0">
              <a:spcBef>
                <a:spcPts val="0"/>
              </a:spcBef>
              <a:buClrTx/>
              <a:buSzTx/>
              <a:buFontTx/>
              <a:buNone/>
              <a:defRPr sz="1000">
                <a:latin typeface="Palatino Linotype"/>
                <a:ea typeface="Palatino Linotype"/>
                <a:cs typeface="Palatino Linotype"/>
                <a:sym typeface="Palatino Linotype"/>
              </a:defRPr>
            </a:lvl2pPr>
            <a:lvl3pPr marL="0" indent="0">
              <a:spcBef>
                <a:spcPts val="0"/>
              </a:spcBef>
              <a:buClrTx/>
              <a:buSzTx/>
              <a:buFontTx/>
              <a:buNone/>
              <a:defRPr sz="1000">
                <a:latin typeface="Palatino Linotype"/>
                <a:ea typeface="Palatino Linotype"/>
                <a:cs typeface="Palatino Linotype"/>
                <a:sym typeface="Palatino Linotype"/>
              </a:defRPr>
            </a:lvl3pPr>
            <a:lvl4pPr marL="0" indent="0">
              <a:spcBef>
                <a:spcPts val="0"/>
              </a:spcBef>
              <a:buClrTx/>
              <a:buSzTx/>
              <a:buFontTx/>
              <a:buNone/>
              <a:defRPr sz="1000">
                <a:latin typeface="Palatino Linotype"/>
                <a:ea typeface="Palatino Linotype"/>
                <a:cs typeface="Palatino Linotype"/>
                <a:sym typeface="Palatino Linotype"/>
              </a:defRPr>
            </a:lvl4pPr>
            <a:lvl5pPr marL="0" indent="0">
              <a:spcBef>
                <a:spcPts val="0"/>
              </a:spcBef>
              <a:buClrTx/>
              <a:buSzTx/>
              <a:buFontTx/>
              <a:buNone/>
              <a:defRPr sz="1000">
                <a:latin typeface="Palatino Linotype"/>
                <a:ea typeface="Palatino Linotype"/>
                <a:cs typeface="Palatino Linotype"/>
                <a:sym typeface="Palatino Linotype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6" name="Shape 66"/>
          <p:cNvSpPr>
            <a:spLocks noGrp="1"/>
          </p:cNvSpPr>
          <p:nvPr>
            <p:ph type="title"/>
          </p:nvPr>
        </p:nvSpPr>
        <p:spPr>
          <a:xfrm>
            <a:off x="462405" y="0"/>
            <a:ext cx="6281341" cy="2003637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67" name="Shape 67"/>
          <p:cNvSpPr>
            <a:spLocks noGrp="1"/>
          </p:cNvSpPr>
          <p:nvPr>
            <p:ph type="sldNum" sz="quarter" idx="2"/>
          </p:nvPr>
        </p:nvSpPr>
        <p:spPr>
          <a:xfrm>
            <a:off x="462406" y="6402198"/>
            <a:ext cx="892151" cy="24384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‹Nr.›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99015900"/>
      </p:ext>
    </p:extLst>
  </p:cSld>
  <p:clrMapOvr>
    <a:masterClrMapping/>
  </p:clrMapOvr>
  <p:transition spd="med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enutzerdefiniertes Layout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Shape 74"/>
          <p:cNvSpPr>
            <a:spLocks noGrp="1"/>
          </p:cNvSpPr>
          <p:nvPr>
            <p:ph type="title"/>
          </p:nvPr>
        </p:nvSpPr>
        <p:spPr>
          <a:xfrm>
            <a:off x="456479" y="89098"/>
            <a:ext cx="8225282" cy="1511102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75" name="Shape 75"/>
          <p:cNvSpPr>
            <a:spLocks noGrp="1"/>
          </p:cNvSpPr>
          <p:nvPr>
            <p:ph type="sldNum" sz="quarter" idx="2"/>
          </p:nvPr>
        </p:nvSpPr>
        <p:spPr>
          <a:xfrm>
            <a:off x="6554879" y="6360200"/>
            <a:ext cx="2126881" cy="24384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‹Nr.›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80971942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6.xml"/><Relationship Id="rId9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0C6E88-17EF-4D2E-82A9-89D5331ABF77}" type="datetime1">
              <a:rPr lang="en-US" smtClean="0"/>
              <a:t>10/20/2016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8B03EE-0F65-4FB3-87AD-3AF455168DB9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10296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"/>
          <p:cNvSpPr>
            <a:spLocks noGrp="1" noChangeArrowheads="1"/>
          </p:cNvSpPr>
          <p:nvPr>
            <p:ph type="body" idx="1"/>
          </p:nvPr>
        </p:nvSpPr>
        <p:spPr bwMode="auto">
          <a:xfrm>
            <a:off x="461963" y="1857375"/>
            <a:ext cx="7715250" cy="4500563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vert="horz" wrap="square" lIns="0" tIns="55800" rIns="0" bIns="46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Klicken Sie, um die Formate des Gliederungstextes zu bearbeiten</a:t>
            </a:r>
          </a:p>
          <a:p>
            <a:pPr lvl="1"/>
            <a:r>
              <a:rPr lang="en-GB" smtClean="0"/>
              <a:t>Zweite Gliederungsebene</a:t>
            </a:r>
          </a:p>
          <a:p>
            <a:pPr lvl="2"/>
            <a:r>
              <a:rPr lang="en-GB" smtClean="0"/>
              <a:t>Dritte Gliederungsebene</a:t>
            </a:r>
          </a:p>
          <a:p>
            <a:pPr lvl="3"/>
            <a:r>
              <a:rPr lang="en-GB" smtClean="0"/>
              <a:t>Vierte Gliederungsebene</a:t>
            </a:r>
          </a:p>
          <a:p>
            <a:pPr lvl="4"/>
            <a:r>
              <a:rPr lang="en-GB" smtClean="0"/>
              <a:t>Fünfte Gliederungsebene</a:t>
            </a:r>
          </a:p>
          <a:p>
            <a:pPr lvl="4"/>
            <a:r>
              <a:rPr lang="en-GB" smtClean="0"/>
              <a:t>Sechste Gliederungsebene</a:t>
            </a:r>
          </a:p>
          <a:p>
            <a:pPr lvl="4"/>
            <a:r>
              <a:rPr lang="en-GB" smtClean="0"/>
              <a:t>Siebente Gliederungsebene</a:t>
            </a:r>
          </a:p>
          <a:p>
            <a:pPr lvl="4"/>
            <a:r>
              <a:rPr lang="en-GB" smtClean="0"/>
              <a:t>Achte Gliederungsebene</a:t>
            </a:r>
          </a:p>
          <a:p>
            <a:pPr lvl="4"/>
            <a:r>
              <a:rPr lang="en-GB" smtClean="0"/>
              <a:t>Neunte Gliederungsebene</a:t>
            </a:r>
          </a:p>
        </p:txBody>
      </p:sp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61963" y="431800"/>
            <a:ext cx="6254750" cy="111760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Klicken Sie, um das Format des Titeltextes zu bearbeiten</a:t>
            </a:r>
          </a:p>
        </p:txBody>
      </p:sp>
    </p:spTree>
    <p:extLst>
      <p:ext uri="{BB962C8B-B14F-4D97-AF65-F5344CB8AC3E}">
        <p14:creationId xmlns:p14="http://schemas.microsoft.com/office/powerpoint/2010/main" val="37492745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defTabSz="449263" rtl="0" eaLnBrk="0" fontAlgn="base" hangingPunct="0">
        <a:lnSpc>
          <a:spcPct val="9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800" b="1">
          <a:solidFill>
            <a:srgbClr val="FFFFFF"/>
          </a:solidFill>
          <a:latin typeface="+mj-lt"/>
          <a:ea typeface="+mj-ea"/>
          <a:cs typeface="+mj-cs"/>
        </a:defRPr>
      </a:lvl1pPr>
      <a:lvl2pPr algn="l" defTabSz="449263" rtl="0" eaLnBrk="0" fontAlgn="base" hangingPunct="0">
        <a:lnSpc>
          <a:spcPct val="9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800" b="1">
          <a:solidFill>
            <a:srgbClr val="FFFFFF"/>
          </a:solidFill>
          <a:latin typeface="Verdana" pitchFamily="32" charset="0"/>
          <a:ea typeface="DejaVu Sans" charset="0"/>
          <a:cs typeface="DejaVu Sans" charset="0"/>
        </a:defRPr>
      </a:lvl2pPr>
      <a:lvl3pPr algn="l" defTabSz="449263" rtl="0" eaLnBrk="0" fontAlgn="base" hangingPunct="0">
        <a:lnSpc>
          <a:spcPct val="9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800" b="1">
          <a:solidFill>
            <a:srgbClr val="FFFFFF"/>
          </a:solidFill>
          <a:latin typeface="Verdana" pitchFamily="32" charset="0"/>
          <a:ea typeface="DejaVu Sans" charset="0"/>
          <a:cs typeface="DejaVu Sans" charset="0"/>
        </a:defRPr>
      </a:lvl3pPr>
      <a:lvl4pPr algn="l" defTabSz="449263" rtl="0" eaLnBrk="0" fontAlgn="base" hangingPunct="0">
        <a:lnSpc>
          <a:spcPct val="9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800" b="1">
          <a:solidFill>
            <a:srgbClr val="FFFFFF"/>
          </a:solidFill>
          <a:latin typeface="Verdana" pitchFamily="32" charset="0"/>
          <a:ea typeface="DejaVu Sans" charset="0"/>
          <a:cs typeface="DejaVu Sans" charset="0"/>
        </a:defRPr>
      </a:lvl4pPr>
      <a:lvl5pPr algn="l" defTabSz="449263" rtl="0" eaLnBrk="0" fontAlgn="base" hangingPunct="0">
        <a:lnSpc>
          <a:spcPct val="9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800" b="1">
          <a:solidFill>
            <a:srgbClr val="FFFFFF"/>
          </a:solidFill>
          <a:latin typeface="Verdana" pitchFamily="32" charset="0"/>
          <a:ea typeface="DejaVu Sans" charset="0"/>
          <a:cs typeface="DejaVu Sans" charset="0"/>
        </a:defRPr>
      </a:lvl5pPr>
      <a:lvl6pPr marL="2514600" indent="-228600" algn="l" defTabSz="449263" rtl="0" fontAlgn="base">
        <a:lnSpc>
          <a:spcPct val="9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800" b="1">
          <a:solidFill>
            <a:srgbClr val="FFFFFF"/>
          </a:solidFill>
          <a:latin typeface="Verdana" pitchFamily="32" charset="0"/>
          <a:ea typeface="DejaVu Sans" charset="0"/>
          <a:cs typeface="DejaVu Sans" charset="0"/>
        </a:defRPr>
      </a:lvl6pPr>
      <a:lvl7pPr marL="2971800" indent="-228600" algn="l" defTabSz="449263" rtl="0" fontAlgn="base">
        <a:lnSpc>
          <a:spcPct val="9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800" b="1">
          <a:solidFill>
            <a:srgbClr val="FFFFFF"/>
          </a:solidFill>
          <a:latin typeface="Verdana" pitchFamily="32" charset="0"/>
          <a:ea typeface="DejaVu Sans" charset="0"/>
          <a:cs typeface="DejaVu Sans" charset="0"/>
        </a:defRPr>
      </a:lvl7pPr>
      <a:lvl8pPr marL="3429000" indent="-228600" algn="l" defTabSz="449263" rtl="0" fontAlgn="base">
        <a:lnSpc>
          <a:spcPct val="9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800" b="1">
          <a:solidFill>
            <a:srgbClr val="FFFFFF"/>
          </a:solidFill>
          <a:latin typeface="Verdana" pitchFamily="32" charset="0"/>
          <a:ea typeface="DejaVu Sans" charset="0"/>
          <a:cs typeface="DejaVu Sans" charset="0"/>
        </a:defRPr>
      </a:lvl8pPr>
      <a:lvl9pPr marL="3886200" indent="-228600" algn="l" defTabSz="449263" rtl="0" fontAlgn="base">
        <a:lnSpc>
          <a:spcPct val="9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800" b="1">
          <a:solidFill>
            <a:srgbClr val="FFFFFF"/>
          </a:solidFill>
          <a:latin typeface="Verdana" pitchFamily="32" charset="0"/>
          <a:ea typeface="DejaVu Sans" charset="0"/>
          <a:cs typeface="DejaVu Sans" charset="0"/>
        </a:defRPr>
      </a:lvl9pPr>
    </p:titleStyle>
    <p:bodyStyle>
      <a:lvl1pPr marL="342900" indent="-342900" algn="l" defTabSz="449263" rtl="0" eaLnBrk="0" fontAlgn="base" hangingPunct="0">
        <a:lnSpc>
          <a:spcPct val="97000"/>
        </a:lnSpc>
        <a:spcBef>
          <a:spcPct val="0"/>
        </a:spcBef>
        <a:spcAft>
          <a:spcPts val="600"/>
        </a:spcAft>
        <a:buClr>
          <a:srgbClr val="000000"/>
        </a:buClr>
        <a:buSzPct val="100000"/>
        <a:buFont typeface="Times New Roman" pitchFamily="16" charset="0"/>
        <a:defRPr sz="24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defTabSz="449263" rtl="0" eaLnBrk="0" fontAlgn="base" hangingPunct="0">
        <a:lnSpc>
          <a:spcPct val="97000"/>
        </a:lnSpc>
        <a:spcBef>
          <a:spcPct val="0"/>
        </a:spcBef>
        <a:spcAft>
          <a:spcPts val="600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ea typeface="+mn-ea"/>
          <a:cs typeface="+mn-cs"/>
        </a:defRPr>
      </a:lvl2pPr>
      <a:lvl3pPr marL="1143000" indent="-228600" algn="l" defTabSz="449263" rtl="0" eaLnBrk="0" fontAlgn="base" hangingPunct="0">
        <a:lnSpc>
          <a:spcPct val="97000"/>
        </a:lnSpc>
        <a:spcBef>
          <a:spcPct val="0"/>
        </a:spcBef>
        <a:spcAft>
          <a:spcPts val="600"/>
        </a:spcAft>
        <a:buClr>
          <a:srgbClr val="000000"/>
        </a:buClr>
        <a:buSzPct val="100000"/>
        <a:buFont typeface="Times New Roman" pitchFamily="16" charset="0"/>
        <a:defRPr>
          <a:solidFill>
            <a:srgbClr val="000000"/>
          </a:solidFill>
          <a:latin typeface="+mn-lt"/>
          <a:ea typeface="+mn-ea"/>
          <a:cs typeface="+mn-cs"/>
        </a:defRPr>
      </a:lvl3pPr>
      <a:lvl4pPr marL="1600200" indent="-228600" algn="l" defTabSz="449263" rtl="0" eaLnBrk="0" fontAlgn="base" hangingPunct="0">
        <a:lnSpc>
          <a:spcPct val="97000"/>
        </a:lnSpc>
        <a:spcBef>
          <a:spcPct val="0"/>
        </a:spcBef>
        <a:spcAft>
          <a:spcPts val="600"/>
        </a:spcAft>
        <a:buClr>
          <a:srgbClr val="000000"/>
        </a:buClr>
        <a:buSzPct val="100000"/>
        <a:buFont typeface="Times New Roman" pitchFamily="16" charset="0"/>
        <a:defRPr>
          <a:solidFill>
            <a:srgbClr val="000000"/>
          </a:solidFill>
          <a:latin typeface="+mn-lt"/>
          <a:ea typeface="+mn-ea"/>
          <a:cs typeface="+mn-cs"/>
        </a:defRPr>
      </a:lvl4pPr>
      <a:lvl5pPr marL="2057400" indent="-228600" algn="l" defTabSz="449263" rtl="0" eaLnBrk="0" fontAlgn="base" hangingPunct="0">
        <a:lnSpc>
          <a:spcPct val="97000"/>
        </a:lnSpc>
        <a:spcBef>
          <a:spcPct val="0"/>
        </a:spcBef>
        <a:spcAft>
          <a:spcPts val="600"/>
        </a:spcAft>
        <a:buClr>
          <a:srgbClr val="000000"/>
        </a:buClr>
        <a:buSzPct val="100000"/>
        <a:buFont typeface="Times New Roman" pitchFamily="16" charset="0"/>
        <a:defRPr sz="1600">
          <a:solidFill>
            <a:srgbClr val="000000"/>
          </a:solidFill>
          <a:latin typeface="+mn-lt"/>
          <a:ea typeface="+mn-ea"/>
          <a:cs typeface="+mn-cs"/>
        </a:defRPr>
      </a:lvl5pPr>
      <a:lvl6pPr marL="2514600" indent="-228600" algn="l" defTabSz="449263" rtl="0" fontAlgn="base">
        <a:lnSpc>
          <a:spcPct val="97000"/>
        </a:lnSpc>
        <a:spcBef>
          <a:spcPct val="0"/>
        </a:spcBef>
        <a:spcAft>
          <a:spcPts val="600"/>
        </a:spcAft>
        <a:buClr>
          <a:srgbClr val="000000"/>
        </a:buClr>
        <a:buSzPct val="100000"/>
        <a:buFont typeface="Times New Roman" pitchFamily="16" charset="0"/>
        <a:defRPr sz="1600">
          <a:solidFill>
            <a:srgbClr val="000000"/>
          </a:solidFill>
          <a:latin typeface="+mn-lt"/>
          <a:ea typeface="+mn-ea"/>
          <a:cs typeface="+mn-cs"/>
        </a:defRPr>
      </a:lvl6pPr>
      <a:lvl7pPr marL="2971800" indent="-228600" algn="l" defTabSz="449263" rtl="0" fontAlgn="base">
        <a:lnSpc>
          <a:spcPct val="97000"/>
        </a:lnSpc>
        <a:spcBef>
          <a:spcPct val="0"/>
        </a:spcBef>
        <a:spcAft>
          <a:spcPts val="600"/>
        </a:spcAft>
        <a:buClr>
          <a:srgbClr val="000000"/>
        </a:buClr>
        <a:buSzPct val="100000"/>
        <a:buFont typeface="Times New Roman" pitchFamily="16" charset="0"/>
        <a:defRPr sz="1600">
          <a:solidFill>
            <a:srgbClr val="000000"/>
          </a:solidFill>
          <a:latin typeface="+mn-lt"/>
          <a:ea typeface="+mn-ea"/>
          <a:cs typeface="+mn-cs"/>
        </a:defRPr>
      </a:lvl7pPr>
      <a:lvl8pPr marL="3429000" indent="-228600" algn="l" defTabSz="449263" rtl="0" fontAlgn="base">
        <a:lnSpc>
          <a:spcPct val="97000"/>
        </a:lnSpc>
        <a:spcBef>
          <a:spcPct val="0"/>
        </a:spcBef>
        <a:spcAft>
          <a:spcPts val="600"/>
        </a:spcAft>
        <a:buClr>
          <a:srgbClr val="000000"/>
        </a:buClr>
        <a:buSzPct val="100000"/>
        <a:buFont typeface="Times New Roman" pitchFamily="16" charset="0"/>
        <a:defRPr sz="1600">
          <a:solidFill>
            <a:srgbClr val="000000"/>
          </a:solidFill>
          <a:latin typeface="+mn-lt"/>
          <a:ea typeface="+mn-ea"/>
          <a:cs typeface="+mn-cs"/>
        </a:defRPr>
      </a:lvl8pPr>
      <a:lvl9pPr marL="3886200" indent="-228600" algn="l" defTabSz="449263" rtl="0" fontAlgn="base">
        <a:lnSpc>
          <a:spcPct val="97000"/>
        </a:lnSpc>
        <a:spcBef>
          <a:spcPct val="0"/>
        </a:spcBef>
        <a:spcAft>
          <a:spcPts val="600"/>
        </a:spcAft>
        <a:buClr>
          <a:srgbClr val="000000"/>
        </a:buClr>
        <a:buSzPct val="100000"/>
        <a:buFont typeface="Times New Roman" pitchFamily="16" charset="0"/>
        <a:defRPr sz="1600">
          <a:solidFill>
            <a:srgbClr val="000000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>
            <a:spLocks noGrp="1"/>
          </p:cNvSpPr>
          <p:nvPr>
            <p:ph type="title"/>
          </p:nvPr>
        </p:nvSpPr>
        <p:spPr>
          <a:xfrm>
            <a:off x="457200" y="92074"/>
            <a:ext cx="8229600" cy="15081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Shape 3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hape 4"/>
          <p:cNvSpPr>
            <a:spLocks noGrp="1"/>
          </p:cNvSpPr>
          <p:nvPr>
            <p:ph type="sldNum" sz="quarter" idx="2"/>
          </p:nvPr>
        </p:nvSpPr>
        <p:spPr>
          <a:xfrm>
            <a:off x="6553200" y="6172200"/>
            <a:ext cx="2133600" cy="368301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spAutoFit/>
          </a:bodyPr>
          <a:lstStyle>
            <a:lvl1pPr>
              <a:defRPr sz="900" cap="all">
                <a:solidFill>
                  <a:srgbClr val="888888"/>
                </a:solidFill>
              </a:defRPr>
            </a:lvl1pPr>
          </a:lstStyle>
          <a:p>
            <a:pPr hangingPunct="0"/>
            <a:fld id="{86CB4B4D-7CA3-9044-876B-883B54F8677D}" type="slidenum">
              <a:rPr kern="0">
                <a:latin typeface="Palatino Linotype"/>
                <a:sym typeface="Palatino Linotype"/>
              </a:rPr>
              <a:pPr hangingPunct="0"/>
              <a:t>‹Nr.›</a:t>
            </a:fld>
            <a:endParaRPr kern="0">
              <a:latin typeface="Palatino Linotype"/>
              <a:sym typeface="Palatino Linotype"/>
            </a:endParaRPr>
          </a:p>
        </p:txBody>
      </p:sp>
    </p:spTree>
    <p:extLst>
      <p:ext uri="{BB962C8B-B14F-4D97-AF65-F5344CB8AC3E}">
        <p14:creationId xmlns:p14="http://schemas.microsoft.com/office/powerpoint/2010/main" val="33774879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</p:sldLayoutIdLst>
  <p:transition spd="med"/>
  <p:hf hdr="0" ftr="0" dt="0"/>
  <p:txStyles>
    <p:title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" b="1" i="0" u="none" strike="noStrike" cap="none" spc="0" baseline="0">
          <a:ln>
            <a:noFill/>
          </a:ln>
          <a:solidFill>
            <a:srgbClr val="FFFFFF"/>
          </a:solidFill>
          <a:uFillTx/>
          <a:latin typeface="Palatino Linotype"/>
          <a:ea typeface="Palatino Linotype"/>
          <a:cs typeface="Palatino Linotype"/>
          <a:sym typeface="Palatino Linotype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" b="1" i="0" u="none" strike="noStrike" cap="none" spc="0" baseline="0">
          <a:ln>
            <a:noFill/>
          </a:ln>
          <a:solidFill>
            <a:srgbClr val="FFFFFF"/>
          </a:solidFill>
          <a:uFillTx/>
          <a:latin typeface="Palatino Linotype"/>
          <a:ea typeface="Palatino Linotype"/>
          <a:cs typeface="Palatino Linotype"/>
          <a:sym typeface="Palatino Linotype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" b="1" i="0" u="none" strike="noStrike" cap="none" spc="0" baseline="0">
          <a:ln>
            <a:noFill/>
          </a:ln>
          <a:solidFill>
            <a:srgbClr val="FFFFFF"/>
          </a:solidFill>
          <a:uFillTx/>
          <a:latin typeface="Palatino Linotype"/>
          <a:ea typeface="Palatino Linotype"/>
          <a:cs typeface="Palatino Linotype"/>
          <a:sym typeface="Palatino Linotype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" b="1" i="0" u="none" strike="noStrike" cap="none" spc="0" baseline="0">
          <a:ln>
            <a:noFill/>
          </a:ln>
          <a:solidFill>
            <a:srgbClr val="FFFFFF"/>
          </a:solidFill>
          <a:uFillTx/>
          <a:latin typeface="Palatino Linotype"/>
          <a:ea typeface="Palatino Linotype"/>
          <a:cs typeface="Palatino Linotype"/>
          <a:sym typeface="Palatino Linotype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" b="1" i="0" u="none" strike="noStrike" cap="none" spc="0" baseline="0">
          <a:ln>
            <a:noFill/>
          </a:ln>
          <a:solidFill>
            <a:srgbClr val="FFFFFF"/>
          </a:solidFill>
          <a:uFillTx/>
          <a:latin typeface="Palatino Linotype"/>
          <a:ea typeface="Palatino Linotype"/>
          <a:cs typeface="Palatino Linotype"/>
          <a:sym typeface="Palatino Linotype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" b="1" i="0" u="none" strike="noStrike" cap="none" spc="0" baseline="0">
          <a:ln>
            <a:noFill/>
          </a:ln>
          <a:solidFill>
            <a:srgbClr val="FFFFFF"/>
          </a:solidFill>
          <a:uFillTx/>
          <a:latin typeface="Palatino Linotype"/>
          <a:ea typeface="Palatino Linotype"/>
          <a:cs typeface="Palatino Linotype"/>
          <a:sym typeface="Palatino Linotype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" b="1" i="0" u="none" strike="noStrike" cap="none" spc="0" baseline="0">
          <a:ln>
            <a:noFill/>
          </a:ln>
          <a:solidFill>
            <a:srgbClr val="FFFFFF"/>
          </a:solidFill>
          <a:uFillTx/>
          <a:latin typeface="Palatino Linotype"/>
          <a:ea typeface="Palatino Linotype"/>
          <a:cs typeface="Palatino Linotype"/>
          <a:sym typeface="Palatino Linotype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" b="1" i="0" u="none" strike="noStrike" cap="none" spc="0" baseline="0">
          <a:ln>
            <a:noFill/>
          </a:ln>
          <a:solidFill>
            <a:srgbClr val="FFFFFF"/>
          </a:solidFill>
          <a:uFillTx/>
          <a:latin typeface="Palatino Linotype"/>
          <a:ea typeface="Palatino Linotype"/>
          <a:cs typeface="Palatino Linotype"/>
          <a:sym typeface="Palatino Linotype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" b="1" i="0" u="none" strike="noStrike" cap="none" spc="0" baseline="0">
          <a:ln>
            <a:noFill/>
          </a:ln>
          <a:solidFill>
            <a:srgbClr val="FFFFFF"/>
          </a:solidFill>
          <a:uFillTx/>
          <a:latin typeface="Palatino Linotype"/>
          <a:ea typeface="Palatino Linotype"/>
          <a:cs typeface="Palatino Linotype"/>
          <a:sym typeface="Palatino Linotype"/>
        </a:defRPr>
      </a:lvl9pPr>
    </p:titleStyle>
    <p:bodyStyle>
      <a:lvl1pPr marL="265113" marR="0" indent="-265113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>
          <a:schemeClr val="accent3"/>
        </a:buClr>
        <a:buSzPct val="100000"/>
        <a:buFont typeface="Wingdings"/>
        <a:buChar char="▪"/>
        <a:tabLst/>
        <a:defRPr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Avenir Next"/>
          <a:ea typeface="Avenir Next"/>
          <a:cs typeface="Avenir Next"/>
          <a:sym typeface="Avenir Next"/>
        </a:defRPr>
      </a:lvl1pPr>
      <a:lvl2pPr marL="598487" marR="0" indent="-342900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>
          <a:schemeClr val="accent3"/>
        </a:buClr>
        <a:buSzPct val="100000"/>
        <a:buFont typeface="Wingdings"/>
        <a:buChar char="▪"/>
        <a:tabLst/>
        <a:defRPr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Avenir Next"/>
          <a:ea typeface="Avenir Next"/>
          <a:cs typeface="Avenir Next"/>
          <a:sym typeface="Avenir Next"/>
        </a:defRPr>
      </a:lvl2pPr>
      <a:lvl3pPr marL="896408" marR="0" indent="-366183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>
          <a:schemeClr val="accent3"/>
        </a:buClr>
        <a:buSzPct val="100000"/>
        <a:buFont typeface="Wingdings"/>
        <a:buChar char="▪"/>
        <a:tabLst/>
        <a:defRPr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Avenir Next"/>
          <a:ea typeface="Avenir Next"/>
          <a:cs typeface="Avenir Next"/>
          <a:sym typeface="Avenir Next"/>
        </a:defRPr>
      </a:lvl3pPr>
      <a:lvl4pPr marL="1171045" marR="0" indent="-366183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>
          <a:schemeClr val="accent3"/>
        </a:buClr>
        <a:buSzPct val="100000"/>
        <a:buFont typeface="Wingdings"/>
        <a:buChar char="▪"/>
        <a:tabLst/>
        <a:defRPr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Avenir Next"/>
          <a:ea typeface="Avenir Next"/>
          <a:cs typeface="Avenir Next"/>
          <a:sym typeface="Avenir Next"/>
        </a:defRPr>
      </a:lvl4pPr>
      <a:lvl5pPr marL="1477169" marR="0" indent="-397669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>
          <a:schemeClr val="accent3"/>
        </a:buClr>
        <a:buSzPct val="100000"/>
        <a:buFont typeface="Wingdings"/>
        <a:buChar char="▪"/>
        <a:tabLst/>
        <a:defRPr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Avenir Next"/>
          <a:ea typeface="Avenir Next"/>
          <a:cs typeface="Avenir Next"/>
          <a:sym typeface="Avenir Next"/>
        </a:defRPr>
      </a:lvl5pPr>
      <a:lvl6pPr marL="2560320" marR="0" indent="-274320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>
          <a:schemeClr val="accent3"/>
        </a:buClr>
        <a:buSzPct val="100000"/>
        <a:buFont typeface="Wingdings"/>
        <a:buChar char="•"/>
        <a:tabLst/>
        <a:defRPr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Avenir Next"/>
          <a:ea typeface="Avenir Next"/>
          <a:cs typeface="Avenir Next"/>
          <a:sym typeface="Avenir Next"/>
        </a:defRPr>
      </a:lvl6pPr>
      <a:lvl7pPr marL="3017520" marR="0" indent="-274320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>
          <a:schemeClr val="accent3"/>
        </a:buClr>
        <a:buSzPct val="100000"/>
        <a:buFont typeface="Wingdings"/>
        <a:buChar char="•"/>
        <a:tabLst/>
        <a:defRPr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Avenir Next"/>
          <a:ea typeface="Avenir Next"/>
          <a:cs typeface="Avenir Next"/>
          <a:sym typeface="Avenir Next"/>
        </a:defRPr>
      </a:lvl7pPr>
      <a:lvl8pPr marL="3474720" marR="0" indent="-274320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>
          <a:schemeClr val="accent3"/>
        </a:buClr>
        <a:buSzPct val="100000"/>
        <a:buFont typeface="Wingdings"/>
        <a:buChar char="•"/>
        <a:tabLst/>
        <a:defRPr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Avenir Next"/>
          <a:ea typeface="Avenir Next"/>
          <a:cs typeface="Avenir Next"/>
          <a:sym typeface="Avenir Next"/>
        </a:defRPr>
      </a:lvl8pPr>
      <a:lvl9pPr marL="3931920" marR="0" indent="-274320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>
          <a:schemeClr val="accent3"/>
        </a:buClr>
        <a:buSzPct val="100000"/>
        <a:buFont typeface="Wingdings"/>
        <a:buChar char="•"/>
        <a:tabLst/>
        <a:defRPr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Avenir Next"/>
          <a:ea typeface="Avenir Next"/>
          <a:cs typeface="Avenir Next"/>
          <a:sym typeface="Avenir Next"/>
        </a:defRPr>
      </a:lvl9pPr>
    </p:bodyStyle>
    <p:other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all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Palatino Linotype"/>
        </a:defRPr>
      </a:lvl1pPr>
      <a:lvl2pPr marL="0" marR="0" indent="4572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all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Palatino Linotype"/>
        </a:defRPr>
      </a:lvl2pPr>
      <a:lvl3pPr marL="0" marR="0" indent="9144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all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Palatino Linotype"/>
        </a:defRPr>
      </a:lvl3pPr>
      <a:lvl4pPr marL="0" marR="0" indent="13716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all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Palatino Linotype"/>
        </a:defRPr>
      </a:lvl4pPr>
      <a:lvl5pPr marL="0" marR="0" indent="18288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all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Palatino Linotype"/>
        </a:defRPr>
      </a:lvl5pPr>
      <a:lvl6pPr marL="0" marR="0" indent="22860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all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Palatino Linotype"/>
        </a:defRPr>
      </a:lvl6pPr>
      <a:lvl7pPr marL="0" marR="0" indent="27432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all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Palatino Linotype"/>
        </a:defRPr>
      </a:lvl7pPr>
      <a:lvl8pPr marL="0" marR="0" indent="32004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all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Palatino Linotype"/>
        </a:defRPr>
      </a:lvl8pPr>
      <a:lvl9pPr marL="0" marR="0" indent="36576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all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Palatino Linotyp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B03EE-0F65-4FB3-87AD-3AF455168DB9}" type="slidenum">
              <a:rPr lang="en-US" smtClean="0"/>
              <a:t>1</a:t>
            </a:fld>
            <a:endParaRPr lang="en-US"/>
          </a:p>
        </p:txBody>
      </p:sp>
      <p:pic>
        <p:nvPicPr>
          <p:cNvPr id="5" name="Grafik 4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910" t="9626" r="10177" b="18763"/>
          <a:stretch/>
        </p:blipFill>
        <p:spPr>
          <a:xfrm rot="-60000">
            <a:off x="-392629" y="-100592"/>
            <a:ext cx="9956776" cy="7173096"/>
          </a:xfrm>
          <a:prstGeom prst="rect">
            <a:avLst/>
          </a:prstGeom>
        </p:spPr>
      </p:pic>
      <p:sp>
        <p:nvSpPr>
          <p:cNvPr id="6" name="Abgerundetes Rechteck 5"/>
          <p:cNvSpPr/>
          <p:nvPr/>
        </p:nvSpPr>
        <p:spPr>
          <a:xfrm>
            <a:off x="723400" y="2828625"/>
            <a:ext cx="7602454" cy="395838"/>
          </a:xfrm>
          <a:prstGeom prst="roundRect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8579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9" name="Rectangle 8"/>
          <p:cNvSpPr>
            <a:spLocks noGrp="1" noChangeArrowheads="1"/>
          </p:cNvSpPr>
          <p:nvPr>
            <p:ph type="ctrTitle"/>
          </p:nvPr>
        </p:nvSpPr>
        <p:spPr>
          <a:xfrm>
            <a:off x="426720" y="3573016"/>
            <a:ext cx="7576457" cy="1470025"/>
          </a:xfrm>
        </p:spPr>
        <p:txBody>
          <a:bodyPr/>
          <a:lstStyle/>
          <a:p>
            <a:pPr eaLnBrk="1" hangingPunct="1"/>
            <a:r>
              <a:rPr lang="en-US" sz="4000" b="0" dirty="0">
                <a:latin typeface="Calibri" panose="020F0502020204030204" pitchFamily="34" charset="0"/>
              </a:rPr>
              <a:t>Multi-level semantic labelling of numerical values</a:t>
            </a:r>
            <a:endParaRPr lang="en-US" sz="4000" b="0" dirty="0" smtClean="0">
              <a:latin typeface="Calibri" panose="020F0502020204030204" pitchFamily="34" charset="0"/>
            </a:endParaRPr>
          </a:p>
        </p:txBody>
      </p:sp>
      <p:sp>
        <p:nvSpPr>
          <p:cNvPr id="21510" name="Rectangle 9"/>
          <p:cNvSpPr>
            <a:spLocks noGrp="1" noChangeArrowheads="1"/>
          </p:cNvSpPr>
          <p:nvPr>
            <p:ph type="subTitle" idx="1"/>
          </p:nvPr>
        </p:nvSpPr>
        <p:spPr>
          <a:xfrm>
            <a:off x="416982" y="5494020"/>
            <a:ext cx="7975652" cy="1102720"/>
          </a:xfrm>
        </p:spPr>
        <p:txBody>
          <a:bodyPr>
            <a:noAutofit/>
          </a:bodyPr>
          <a:lstStyle/>
          <a:p>
            <a:pPr algn="l" eaLnBrk="1" hangingPunct="1"/>
            <a:r>
              <a:rPr lang="en-US" sz="1800" u="sng" dirty="0" smtClean="0">
                <a:solidFill>
                  <a:schemeClr val="bg1"/>
                </a:solidFill>
                <a:latin typeface="Calibri" panose="020F0502020204030204" pitchFamily="34" charset="0"/>
              </a:rPr>
              <a:t>Sebastian Neumaier</a:t>
            </a:r>
            <a:r>
              <a:rPr lang="en-US" sz="1800" dirty="0" smtClean="0">
                <a:solidFill>
                  <a:schemeClr val="bg1"/>
                </a:solidFill>
                <a:latin typeface="Calibri" panose="020F0502020204030204" pitchFamily="34" charset="0"/>
              </a:rPr>
              <a:t>,</a:t>
            </a:r>
            <a:r>
              <a:rPr lang="en-US" sz="1800" baseline="30000" dirty="0" smtClean="0">
                <a:solidFill>
                  <a:schemeClr val="bg1"/>
                </a:solidFill>
                <a:latin typeface="Calibri" panose="020F0502020204030204" pitchFamily="34" charset="0"/>
              </a:rPr>
              <a:t>1</a:t>
            </a:r>
            <a:r>
              <a:rPr lang="en-US" sz="1800" dirty="0" smtClean="0">
                <a:solidFill>
                  <a:schemeClr val="bg1"/>
                </a:solidFill>
                <a:latin typeface="Calibri" panose="020F0502020204030204" pitchFamily="34" charset="0"/>
              </a:rPr>
              <a:t> Jürgen Umbrich,</a:t>
            </a:r>
            <a:r>
              <a:rPr lang="en-US" sz="1800" baseline="30000" dirty="0" smtClean="0">
                <a:solidFill>
                  <a:schemeClr val="bg1"/>
                </a:solidFill>
                <a:latin typeface="Calibri" panose="020F0502020204030204" pitchFamily="34" charset="0"/>
              </a:rPr>
              <a:t>1</a:t>
            </a:r>
            <a:r>
              <a:rPr lang="en-US" sz="1800" dirty="0" smtClean="0">
                <a:solidFill>
                  <a:schemeClr val="bg1"/>
                </a:solidFill>
                <a:latin typeface="Calibri" panose="020F0502020204030204" pitchFamily="34" charset="0"/>
              </a:rPr>
              <a:t> </a:t>
            </a:r>
            <a:r>
              <a:rPr lang="en-US" sz="1800" dirty="0" err="1" smtClean="0">
                <a:solidFill>
                  <a:schemeClr val="bg1"/>
                </a:solidFill>
                <a:latin typeface="Calibri" panose="020F0502020204030204" pitchFamily="34" charset="0"/>
              </a:rPr>
              <a:t>Josiane</a:t>
            </a:r>
            <a:r>
              <a:rPr lang="en-US" sz="1800" dirty="0" smtClean="0">
                <a:solidFill>
                  <a:schemeClr val="bg1"/>
                </a:solidFill>
                <a:latin typeface="Calibri" panose="020F0502020204030204" pitchFamily="34" charset="0"/>
              </a:rPr>
              <a:t> </a:t>
            </a:r>
            <a:r>
              <a:rPr lang="en-US" sz="1800" dirty="0">
                <a:solidFill>
                  <a:schemeClr val="bg1"/>
                </a:solidFill>
                <a:latin typeface="Calibri" panose="020F0502020204030204" pitchFamily="34" charset="0"/>
              </a:rPr>
              <a:t>Xavier </a:t>
            </a:r>
            <a:r>
              <a:rPr lang="en-US" sz="1800" dirty="0" smtClean="0">
                <a:solidFill>
                  <a:schemeClr val="bg1"/>
                </a:solidFill>
                <a:latin typeface="Calibri" panose="020F0502020204030204" pitchFamily="34" charset="0"/>
              </a:rPr>
              <a:t>Parreira,</a:t>
            </a:r>
            <a:r>
              <a:rPr lang="en-US" sz="1800" baseline="30000" dirty="0" smtClean="0">
                <a:solidFill>
                  <a:schemeClr val="bg1"/>
                </a:solidFill>
                <a:latin typeface="Calibri" panose="020F0502020204030204" pitchFamily="34" charset="0"/>
              </a:rPr>
              <a:t>2</a:t>
            </a:r>
            <a:r>
              <a:rPr lang="en-US" sz="1800" dirty="0" smtClean="0">
                <a:solidFill>
                  <a:schemeClr val="bg1"/>
                </a:solidFill>
                <a:latin typeface="Calibri" panose="020F0502020204030204" pitchFamily="34" charset="0"/>
              </a:rPr>
              <a:t> Axel Polleres</a:t>
            </a:r>
            <a:r>
              <a:rPr lang="en-US" sz="1800" baseline="30000" dirty="0" smtClean="0">
                <a:solidFill>
                  <a:schemeClr val="bg1"/>
                </a:solidFill>
                <a:latin typeface="Calibri" panose="020F0502020204030204" pitchFamily="34" charset="0"/>
              </a:rPr>
              <a:t>1</a:t>
            </a:r>
            <a:r>
              <a:rPr lang="en-US" sz="1800" dirty="0" smtClean="0">
                <a:solidFill>
                  <a:schemeClr val="bg1"/>
                </a:solidFill>
                <a:latin typeface="Calibri" panose="020F0502020204030204" pitchFamily="34" charset="0"/>
              </a:rPr>
              <a:t/>
            </a:r>
            <a:br>
              <a:rPr lang="en-US" sz="1800" dirty="0" smtClean="0">
                <a:solidFill>
                  <a:schemeClr val="bg1"/>
                </a:solidFill>
                <a:latin typeface="Calibri" panose="020F0502020204030204" pitchFamily="34" charset="0"/>
              </a:rPr>
            </a:br>
            <a:r>
              <a:rPr lang="en-US" sz="1800" dirty="0" smtClean="0">
                <a:solidFill>
                  <a:schemeClr val="bg1"/>
                </a:solidFill>
                <a:latin typeface="Calibri" panose="020F0502020204030204" pitchFamily="34" charset="0"/>
              </a:rPr>
              <a:t/>
            </a:r>
            <a:br>
              <a:rPr lang="en-US" sz="1800" dirty="0" smtClean="0">
                <a:solidFill>
                  <a:schemeClr val="bg1"/>
                </a:solidFill>
                <a:latin typeface="Calibri" panose="020F0502020204030204" pitchFamily="34" charset="0"/>
              </a:rPr>
            </a:br>
            <a:r>
              <a:rPr lang="en-US" sz="1400" dirty="0" smtClean="0">
                <a:solidFill>
                  <a:schemeClr val="bg1"/>
                </a:solidFill>
                <a:latin typeface="Calibri" panose="020F0502020204030204" pitchFamily="34" charset="0"/>
              </a:rPr>
              <a:t>1. Vienna University of Economics and Business, Vienna, Austria</a:t>
            </a:r>
          </a:p>
          <a:p>
            <a:pPr algn="l" eaLnBrk="1" hangingPunct="1"/>
            <a:r>
              <a:rPr lang="en-US" sz="1400" dirty="0">
                <a:solidFill>
                  <a:schemeClr val="bg1"/>
                </a:solidFill>
                <a:latin typeface="Calibri" panose="020F0502020204030204" pitchFamily="34" charset="0"/>
              </a:rPr>
              <a:t>2. Siemens AG </a:t>
            </a:r>
            <a:r>
              <a:rPr lang="en-US" sz="1400" dirty="0" err="1" smtClean="0">
                <a:solidFill>
                  <a:schemeClr val="bg1"/>
                </a:solidFill>
                <a:latin typeface="Calibri" panose="020F0502020204030204" pitchFamily="34" charset="0"/>
              </a:rPr>
              <a:t>Österreich</a:t>
            </a:r>
            <a:r>
              <a:rPr lang="en-US" sz="1400" dirty="0" smtClean="0">
                <a:solidFill>
                  <a:schemeClr val="bg1"/>
                </a:solidFill>
                <a:latin typeface="Calibri" panose="020F0502020204030204" pitchFamily="34" charset="0"/>
              </a:rPr>
              <a:t>, Vienna, Austria</a:t>
            </a:r>
            <a:endParaRPr lang="en-US" sz="1800" dirty="0" smtClean="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9206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Motivation: Open </a:t>
            </a:r>
            <a:r>
              <a:rPr lang="en-US" dirty="0"/>
              <a:t>Data</a:t>
            </a:r>
            <a:endParaRPr lang="en-US" b="1" dirty="0"/>
          </a:p>
        </p:txBody>
      </p:sp>
      <p:sp>
        <p:nvSpPr>
          <p:cNvPr id="4" name="Inhaltsplatzhalter 2"/>
          <p:cNvSpPr txBox="1">
            <a:spLocks/>
          </p:cNvSpPr>
          <p:nvPr/>
        </p:nvSpPr>
        <p:spPr>
          <a:xfrm>
            <a:off x="628650" y="3152011"/>
            <a:ext cx="7886700" cy="45221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 smtClean="0"/>
              <a:t>Available information is (partially) structured and tabular [1]:</a:t>
            </a:r>
          </a:p>
        </p:txBody>
      </p:sp>
      <p:graphicFrame>
        <p:nvGraphicFramePr>
          <p:cNvPr id="5" name="Inhaltsplatzhalter 5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73443364"/>
              </p:ext>
            </p:extLst>
          </p:nvPr>
        </p:nvGraphicFramePr>
        <p:xfrm>
          <a:off x="776514" y="3289938"/>
          <a:ext cx="7489371" cy="15457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Rechteck 5"/>
          <p:cNvSpPr/>
          <p:nvPr/>
        </p:nvSpPr>
        <p:spPr>
          <a:xfrm>
            <a:off x="896157" y="3596962"/>
            <a:ext cx="54495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 smtClean="0">
                <a:solidFill>
                  <a:schemeClr val="bg1"/>
                </a:solidFill>
              </a:rPr>
              <a:t>3-star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7" name="Rechteck 6"/>
          <p:cNvSpPr/>
          <p:nvPr/>
        </p:nvSpPr>
        <p:spPr>
          <a:xfrm>
            <a:off x="896158" y="3814901"/>
            <a:ext cx="54495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2</a:t>
            </a:r>
            <a:r>
              <a:rPr lang="en-US" sz="1200" dirty="0" smtClean="0">
                <a:solidFill>
                  <a:schemeClr val="bg1"/>
                </a:solidFill>
              </a:rPr>
              <a:t>-star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8" name="Rechteck 7"/>
          <p:cNvSpPr/>
          <p:nvPr/>
        </p:nvSpPr>
        <p:spPr>
          <a:xfrm>
            <a:off x="896158" y="4034338"/>
            <a:ext cx="54495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1</a:t>
            </a:r>
            <a:r>
              <a:rPr lang="en-US" sz="1200" dirty="0" smtClean="0">
                <a:solidFill>
                  <a:schemeClr val="bg1"/>
                </a:solidFill>
              </a:rPr>
              <a:t>-star</a:t>
            </a:r>
            <a:endParaRPr lang="en-US" sz="1200" dirty="0">
              <a:solidFill>
                <a:schemeClr val="bg1"/>
              </a:solidFill>
            </a:endParaRPr>
          </a:p>
        </p:txBody>
      </p:sp>
      <p:graphicFrame>
        <p:nvGraphicFramePr>
          <p:cNvPr id="9" name="Inhaltsplatzhalter 8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15655404"/>
              </p:ext>
            </p:extLst>
          </p:nvPr>
        </p:nvGraphicFramePr>
        <p:xfrm>
          <a:off x="210640" y="6356351"/>
          <a:ext cx="7879624" cy="457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6166"/>
                <a:gridCol w="7513458"/>
              </a:tblGrid>
              <a:tr h="226111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[1]</a:t>
                      </a:r>
                      <a:endParaRPr 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err="1" smtClean="0"/>
                        <a:t>Umbrich</a:t>
                      </a:r>
                      <a:r>
                        <a:rPr lang="en-US" sz="1200" dirty="0" smtClean="0"/>
                        <a:t>, J., Neumaier, S., </a:t>
                      </a:r>
                      <a:r>
                        <a:rPr lang="en-US" sz="1200" dirty="0" err="1" smtClean="0"/>
                        <a:t>Polleres</a:t>
                      </a:r>
                      <a:r>
                        <a:rPr lang="en-US" sz="1200" dirty="0" smtClean="0"/>
                        <a:t>, A.: Quality assessment &amp; evolution of open data portals. In: IEEE International Conference on Open and Big Data, Rome, Italy (2015)</a:t>
                      </a:r>
                      <a:endParaRPr lang="en-US" sz="1200" b="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0" name="Inhaltsplatzhalter 2"/>
          <p:cNvSpPr txBox="1">
            <a:spLocks/>
          </p:cNvSpPr>
          <p:nvPr/>
        </p:nvSpPr>
        <p:spPr>
          <a:xfrm>
            <a:off x="628650" y="4896670"/>
            <a:ext cx="7886700" cy="14819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 smtClean="0"/>
              <a:t>Exploiting the potential:</a:t>
            </a:r>
          </a:p>
          <a:p>
            <a:pPr lvl="1"/>
            <a:r>
              <a:rPr lang="en-US" sz="2000" dirty="0" smtClean="0"/>
              <a:t>Improve existing </a:t>
            </a:r>
            <a:r>
              <a:rPr lang="en-US" sz="2000" dirty="0"/>
              <a:t>3-star </a:t>
            </a:r>
            <a:r>
              <a:rPr lang="en-US" sz="2000" dirty="0" smtClean="0"/>
              <a:t>(CSV) Open Data</a:t>
            </a:r>
            <a:endParaRPr lang="en-US" sz="1600" dirty="0"/>
          </a:p>
          <a:p>
            <a:pPr lvl="1"/>
            <a:r>
              <a:rPr lang="en-US" sz="2000" dirty="0" smtClean="0"/>
              <a:t>Propose semantic labels/context for the content of columns</a:t>
            </a:r>
            <a:endParaRPr lang="en-US" sz="2000" dirty="0"/>
          </a:p>
          <a:p>
            <a:pPr lvl="1"/>
            <a:r>
              <a:rPr lang="en-US" sz="2000" dirty="0" smtClean="0"/>
              <a:t>Integrate </a:t>
            </a:r>
            <a:r>
              <a:rPr lang="en-US" sz="2000" dirty="0"/>
              <a:t>and interlink </a:t>
            </a:r>
            <a:r>
              <a:rPr lang="en-US" sz="2000" dirty="0" smtClean="0"/>
              <a:t>data</a:t>
            </a:r>
            <a:endParaRPr lang="en-US" sz="2400" dirty="0"/>
          </a:p>
        </p:txBody>
      </p:sp>
      <p:pic>
        <p:nvPicPr>
          <p:cNvPr id="11" name="Screen Shot 2016-06-14 at 08.41.03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3728287" y="1438770"/>
            <a:ext cx="2951344" cy="772670"/>
          </a:xfrm>
          <a:prstGeom prst="rect">
            <a:avLst/>
          </a:prstGeom>
          <a:ln w="12700">
            <a:miter lim="400000"/>
          </a:ln>
        </p:spPr>
      </p:pic>
      <p:pic>
        <p:nvPicPr>
          <p:cNvPr id="12" name="Screen Shot 2016-06-14 at 08.40.56.png"/>
          <p:cNvPicPr>
            <a:picLocks noChangeAspect="1"/>
          </p:cNvPicPr>
          <p:nvPr/>
        </p:nvPicPr>
        <p:blipFill rotWithShape="1">
          <a:blip r:embed="rId5">
            <a:extLst/>
          </a:blip>
          <a:srcRect t="4968" b="46287"/>
          <a:stretch/>
        </p:blipFill>
        <p:spPr>
          <a:xfrm>
            <a:off x="854894" y="1447800"/>
            <a:ext cx="2934143" cy="816429"/>
          </a:xfrm>
          <a:prstGeom prst="rect">
            <a:avLst/>
          </a:prstGeom>
          <a:ln w="12700">
            <a:miter lim="400000"/>
          </a:ln>
        </p:spPr>
      </p:pic>
      <p:pic>
        <p:nvPicPr>
          <p:cNvPr id="13" name="Screen Shot 2016-06-14 at 08.40.50.png"/>
          <p:cNvPicPr>
            <a:picLocks noChangeAspect="1"/>
          </p:cNvPicPr>
          <p:nvPr/>
        </p:nvPicPr>
        <p:blipFill rotWithShape="1">
          <a:blip r:embed="rId6">
            <a:extLst/>
          </a:blip>
          <a:srcRect t="12954" r="49882" b="40579"/>
          <a:stretch/>
        </p:blipFill>
        <p:spPr>
          <a:xfrm>
            <a:off x="858316" y="2231638"/>
            <a:ext cx="1436726" cy="807062"/>
          </a:xfrm>
          <a:prstGeom prst="rect">
            <a:avLst/>
          </a:prstGeom>
          <a:ln w="12700">
            <a:miter lim="400000"/>
          </a:ln>
        </p:spPr>
      </p:pic>
      <p:pic>
        <p:nvPicPr>
          <p:cNvPr id="14" name="Screen Shot 2016-06-14 at 08.40.50.png"/>
          <p:cNvPicPr>
            <a:picLocks noChangeAspect="1"/>
          </p:cNvPicPr>
          <p:nvPr/>
        </p:nvPicPr>
        <p:blipFill rotWithShape="1">
          <a:blip r:embed="rId6">
            <a:extLst/>
          </a:blip>
          <a:srcRect t="58650"/>
          <a:stretch/>
        </p:blipFill>
        <p:spPr>
          <a:xfrm>
            <a:off x="3697806" y="2239862"/>
            <a:ext cx="3014679" cy="755273"/>
          </a:xfrm>
          <a:prstGeom prst="rect">
            <a:avLst/>
          </a:prstGeom>
          <a:ln w="12700">
            <a:miter lim="400000"/>
          </a:ln>
        </p:spPr>
      </p:pic>
      <p:pic>
        <p:nvPicPr>
          <p:cNvPr id="15" name="Screen Shot 2016-06-14 at 08.40.50.png"/>
          <p:cNvPicPr>
            <a:picLocks noChangeAspect="1"/>
          </p:cNvPicPr>
          <p:nvPr/>
        </p:nvPicPr>
        <p:blipFill rotWithShape="1">
          <a:blip r:embed="rId6">
            <a:extLst/>
          </a:blip>
          <a:srcRect l="49379" t="12954" b="39858"/>
          <a:stretch/>
        </p:blipFill>
        <p:spPr>
          <a:xfrm>
            <a:off x="2281233" y="2229300"/>
            <a:ext cx="1500054" cy="847217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B03EE-0F65-4FB3-87AD-3AF455168DB9}" type="slidenum">
              <a:rPr lang="en-US" smtClean="0"/>
              <a:t>3</a:t>
            </a:fld>
            <a:endParaRPr lang="en-US"/>
          </a:p>
        </p:txBody>
      </p:sp>
      <p:sp>
        <p:nvSpPr>
          <p:cNvPr id="16" name="Rechteck 15"/>
          <p:cNvSpPr/>
          <p:nvPr/>
        </p:nvSpPr>
        <p:spPr>
          <a:xfrm>
            <a:off x="5169128" y="4590916"/>
            <a:ext cx="261633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82 </a:t>
            </a:r>
            <a:r>
              <a:rPr lang="en-US" sz="12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data portals       160K 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datasets</a:t>
            </a:r>
          </a:p>
        </p:txBody>
      </p:sp>
    </p:spTree>
    <p:extLst>
      <p:ext uri="{BB962C8B-B14F-4D97-AF65-F5344CB8AC3E}">
        <p14:creationId xmlns:p14="http://schemas.microsoft.com/office/powerpoint/2010/main" val="4309244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9" name="Table 179"/>
          <p:cNvGraphicFramePr/>
          <p:nvPr/>
        </p:nvGraphicFramePr>
        <p:xfrm>
          <a:off x="647700" y="4000500"/>
          <a:ext cx="7577731" cy="2170360"/>
        </p:xfrm>
        <a:graphic>
          <a:graphicData uri="http://schemas.openxmlformats.org/drawingml/2006/table">
            <a:tbl>
              <a:tblPr bandRow="1"/>
              <a:tblGrid>
                <a:gridCol w="2601880"/>
                <a:gridCol w="1186985"/>
                <a:gridCol w="1894433"/>
                <a:gridCol w="1894433"/>
              </a:tblGrid>
              <a:tr h="434072">
                <a:tc>
                  <a:txBody>
                    <a:bodyPr/>
                    <a:lstStyle/>
                    <a:p>
                      <a:pPr algn="ctr">
                        <a:defRPr sz="1800" b="0" i="0" cap="none"/>
                      </a:pPr>
                      <a:r>
                        <a:rPr b="1" i="1" dirty="0"/>
                        <a:t>stadium name</a:t>
                      </a:r>
                    </a:p>
                  </a:txBody>
                  <a:tcPr marL="63500" marR="63500" marT="63500" marB="63500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 b="0" i="0" cap="none"/>
                      </a:pPr>
                      <a:r>
                        <a:rPr b="1" i="1"/>
                        <a:t>capacity</a:t>
                      </a:r>
                    </a:p>
                  </a:txBody>
                  <a:tcPr marL="63500" marR="63500" marT="63500" marB="63500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 b="0" i="0" cap="none"/>
                      </a:pPr>
                      <a:r>
                        <a:rPr b="1" i="1"/>
                        <a:t>city</a:t>
                      </a:r>
                    </a:p>
                  </a:txBody>
                  <a:tcPr marL="63500" marR="63500" marT="63500" marB="63500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 b="0" i="0" cap="none"/>
                      </a:pPr>
                      <a:r>
                        <a:rPr b="1" i="1"/>
                        <a:t>country</a:t>
                      </a:r>
                    </a:p>
                  </a:txBody>
                  <a:tcPr marL="63500" marR="63500" marT="63500" marB="63500" horzOverflow="overflow"/>
                </a:tc>
              </a:tr>
              <a:tr h="434072">
                <a:tc>
                  <a:txBody>
                    <a:bodyPr/>
                    <a:lstStyle/>
                    <a:p>
                      <a:pPr algn="r" defTabSz="457200">
                        <a:tabLst>
                          <a:tab pos="355600" algn="l"/>
                          <a:tab pos="711200" algn="l"/>
                          <a:tab pos="1066800" algn="l"/>
                          <a:tab pos="1422400" algn="l"/>
                          <a:tab pos="1778000" algn="l"/>
                          <a:tab pos="2133600" algn="l"/>
                          <a:tab pos="2489200" algn="l"/>
                          <a:tab pos="2844800" algn="l"/>
                          <a:tab pos="3200400" algn="l"/>
                          <a:tab pos="3556000" algn="l"/>
                          <a:tab pos="3911600" algn="l"/>
                          <a:tab pos="4267200" algn="l"/>
                        </a:tabLst>
                        <a:defRPr sz="1800" b="0" i="0" cap="none"/>
                      </a:pPr>
                      <a:r>
                        <a:rPr lang="de-DE" sz="1600" dirty="0" smtClean="0"/>
                        <a:t>Emirates Stadium</a:t>
                      </a:r>
                      <a:endParaRPr sz="1600" dirty="0"/>
                    </a:p>
                  </a:txBody>
                  <a:tcPr marL="63500" marR="63500" marT="63500" marB="63500" horzOverflow="overflow"/>
                </a:tc>
                <a:tc>
                  <a:txBody>
                    <a:bodyPr/>
                    <a:lstStyle/>
                    <a:p>
                      <a:pPr algn="r">
                        <a:tabLst>
                          <a:tab pos="355600" algn="l"/>
                          <a:tab pos="711200" algn="l"/>
                          <a:tab pos="1066800" algn="l"/>
                          <a:tab pos="1422400" algn="l"/>
                          <a:tab pos="1778000" algn="l"/>
                          <a:tab pos="2133600" algn="l"/>
                          <a:tab pos="2489200" algn="l"/>
                          <a:tab pos="2844800" algn="l"/>
                          <a:tab pos="3200400" algn="l"/>
                          <a:tab pos="3556000" algn="l"/>
                          <a:tab pos="3911600" algn="l"/>
                          <a:tab pos="4267200" algn="l"/>
                        </a:tabLst>
                        <a:defRPr sz="1800" b="0" i="0" cap="none"/>
                      </a:pPr>
                      <a:r>
                        <a:rPr lang="de-DE" sz="1600" dirty="0" smtClean="0"/>
                        <a:t>60361</a:t>
                      </a:r>
                      <a:endParaRPr sz="1600" dirty="0"/>
                    </a:p>
                  </a:txBody>
                  <a:tcPr marL="63500" marR="63500" marT="63500" marB="63500" horzOverflow="overflow"/>
                </a:tc>
                <a:tc>
                  <a:txBody>
                    <a:bodyPr/>
                    <a:lstStyle/>
                    <a:p>
                      <a:pPr algn="r">
                        <a:tabLst>
                          <a:tab pos="355600" algn="l"/>
                          <a:tab pos="711200" algn="l"/>
                          <a:tab pos="1066800" algn="l"/>
                          <a:tab pos="1422400" algn="l"/>
                          <a:tab pos="1778000" algn="l"/>
                          <a:tab pos="2133600" algn="l"/>
                          <a:tab pos="2489200" algn="l"/>
                          <a:tab pos="2844800" algn="l"/>
                          <a:tab pos="3200400" algn="l"/>
                          <a:tab pos="3556000" algn="l"/>
                          <a:tab pos="3911600" algn="l"/>
                          <a:tab pos="4267200" algn="l"/>
                        </a:tabLst>
                        <a:defRPr sz="1800" b="0" i="0" cap="none"/>
                      </a:pPr>
                      <a:r>
                        <a:rPr lang="de-DE" sz="1600" dirty="0" smtClean="0"/>
                        <a:t>London</a:t>
                      </a:r>
                      <a:endParaRPr sz="1600" dirty="0"/>
                    </a:p>
                  </a:txBody>
                  <a:tcPr marL="63500" marR="63500" marT="63500" marB="63500" horzOverflow="overflow"/>
                </a:tc>
                <a:tc>
                  <a:txBody>
                    <a:bodyPr/>
                    <a:lstStyle/>
                    <a:p>
                      <a:pPr algn="r">
                        <a:defRPr sz="1800" b="0" i="0" cap="none"/>
                      </a:pPr>
                      <a:r>
                        <a:rPr lang="de-DE" sz="1600" dirty="0" smtClean="0"/>
                        <a:t>England</a:t>
                      </a:r>
                      <a:endParaRPr sz="1600" dirty="0"/>
                    </a:p>
                  </a:txBody>
                  <a:tcPr marL="63500" marR="63500" marT="63500" marB="63500" horzOverflow="overflow"/>
                </a:tc>
              </a:tr>
              <a:tr h="434072">
                <a:tc>
                  <a:txBody>
                    <a:bodyPr/>
                    <a:lstStyle/>
                    <a:p>
                      <a:pPr algn="r">
                        <a:tabLst>
                          <a:tab pos="355600" algn="l"/>
                          <a:tab pos="711200" algn="l"/>
                          <a:tab pos="1066800" algn="l"/>
                          <a:tab pos="1422400" algn="l"/>
                          <a:tab pos="1778000" algn="l"/>
                          <a:tab pos="2133600" algn="l"/>
                          <a:tab pos="2489200" algn="l"/>
                          <a:tab pos="2844800" algn="l"/>
                          <a:tab pos="3200400" algn="l"/>
                          <a:tab pos="3556000" algn="l"/>
                          <a:tab pos="3911600" algn="l"/>
                          <a:tab pos="4267200" algn="l"/>
                        </a:tabLst>
                        <a:defRPr sz="1800" b="0" i="0" cap="none"/>
                      </a:pPr>
                      <a:r>
                        <a:rPr lang="de-DE" sz="1600" dirty="0" smtClean="0"/>
                        <a:t>Villa Park</a:t>
                      </a:r>
                      <a:endParaRPr sz="1600" dirty="0"/>
                    </a:p>
                  </a:txBody>
                  <a:tcPr marL="63500" marR="63500" marT="63500" marB="63500" horzOverflow="overflow"/>
                </a:tc>
                <a:tc>
                  <a:txBody>
                    <a:bodyPr/>
                    <a:lstStyle/>
                    <a:p>
                      <a:pPr algn="r">
                        <a:tabLst>
                          <a:tab pos="355600" algn="l"/>
                          <a:tab pos="711200" algn="l"/>
                          <a:tab pos="1066800" algn="l"/>
                          <a:tab pos="1422400" algn="l"/>
                          <a:tab pos="1778000" algn="l"/>
                          <a:tab pos="2133600" algn="l"/>
                          <a:tab pos="2489200" algn="l"/>
                          <a:tab pos="2844800" algn="l"/>
                          <a:tab pos="3200400" algn="l"/>
                          <a:tab pos="3556000" algn="l"/>
                          <a:tab pos="3911600" algn="l"/>
                          <a:tab pos="4267200" algn="l"/>
                        </a:tabLst>
                        <a:defRPr sz="1800" b="0" i="0" cap="none"/>
                      </a:pPr>
                      <a:r>
                        <a:rPr lang="de-DE" sz="1600" dirty="0" smtClean="0"/>
                        <a:t>42785</a:t>
                      </a:r>
                      <a:endParaRPr sz="1600" dirty="0"/>
                    </a:p>
                  </a:txBody>
                  <a:tcPr marL="63500" marR="63500" marT="63500" marB="63500" horzOverflow="overflow"/>
                </a:tc>
                <a:tc>
                  <a:txBody>
                    <a:bodyPr/>
                    <a:lstStyle/>
                    <a:p>
                      <a:pPr algn="r">
                        <a:tabLst>
                          <a:tab pos="355600" algn="l"/>
                          <a:tab pos="711200" algn="l"/>
                          <a:tab pos="1066800" algn="l"/>
                          <a:tab pos="1422400" algn="l"/>
                          <a:tab pos="1778000" algn="l"/>
                          <a:tab pos="2133600" algn="l"/>
                          <a:tab pos="2489200" algn="l"/>
                          <a:tab pos="2844800" algn="l"/>
                          <a:tab pos="3200400" algn="l"/>
                          <a:tab pos="3556000" algn="l"/>
                          <a:tab pos="3911600" algn="l"/>
                          <a:tab pos="4267200" algn="l"/>
                        </a:tabLst>
                        <a:defRPr sz="1800" b="0" i="0" cap="none"/>
                      </a:pPr>
                      <a:r>
                        <a:rPr lang="de-DE" sz="1600" dirty="0" smtClean="0"/>
                        <a:t>Birmingham</a:t>
                      </a:r>
                      <a:endParaRPr sz="1600" dirty="0"/>
                    </a:p>
                  </a:txBody>
                  <a:tcPr marL="63500" marR="63500" marT="63500" marB="63500" horzOverflow="overflow"/>
                </a:tc>
                <a:tc>
                  <a:txBody>
                    <a:bodyPr/>
                    <a:lstStyle/>
                    <a:p>
                      <a:pPr algn="r">
                        <a:defRPr sz="1800" b="0" i="0" cap="none"/>
                      </a:pPr>
                      <a:r>
                        <a:rPr lang="de-DE" sz="1600" dirty="0" smtClean="0"/>
                        <a:t>England</a:t>
                      </a:r>
                      <a:endParaRPr sz="1600" dirty="0"/>
                    </a:p>
                  </a:txBody>
                  <a:tcPr marL="63500" marR="63500" marT="63500" marB="63500" horzOverflow="overflow"/>
                </a:tc>
              </a:tr>
              <a:tr h="434072">
                <a:tc>
                  <a:txBody>
                    <a:bodyPr/>
                    <a:lstStyle/>
                    <a:p>
                      <a:pPr algn="r">
                        <a:tabLst>
                          <a:tab pos="355600" algn="l"/>
                          <a:tab pos="711200" algn="l"/>
                          <a:tab pos="1066800" algn="l"/>
                          <a:tab pos="1422400" algn="l"/>
                          <a:tab pos="1778000" algn="l"/>
                          <a:tab pos="2133600" algn="l"/>
                          <a:tab pos="2489200" algn="l"/>
                          <a:tab pos="2844800" algn="l"/>
                          <a:tab pos="3200400" algn="l"/>
                          <a:tab pos="3556000" algn="l"/>
                          <a:tab pos="3911600" algn="l"/>
                          <a:tab pos="4267200" algn="l"/>
                        </a:tabLst>
                        <a:defRPr sz="1800" b="0" i="0" cap="none"/>
                      </a:pPr>
                      <a:r>
                        <a:rPr lang="de-DE" sz="1600" dirty="0" err="1" smtClean="0"/>
                        <a:t>Ewood</a:t>
                      </a:r>
                      <a:r>
                        <a:rPr lang="de-DE" sz="1600" dirty="0" smtClean="0"/>
                        <a:t> Park</a:t>
                      </a:r>
                      <a:endParaRPr sz="1600" dirty="0"/>
                    </a:p>
                  </a:txBody>
                  <a:tcPr marL="63500" marR="63500" marT="63500" marB="63500" horzOverflow="overflow"/>
                </a:tc>
                <a:tc>
                  <a:txBody>
                    <a:bodyPr/>
                    <a:lstStyle/>
                    <a:p>
                      <a:pPr algn="r">
                        <a:tabLst>
                          <a:tab pos="355600" algn="l"/>
                          <a:tab pos="711200" algn="l"/>
                          <a:tab pos="1066800" algn="l"/>
                          <a:tab pos="1422400" algn="l"/>
                          <a:tab pos="1778000" algn="l"/>
                          <a:tab pos="2133600" algn="l"/>
                          <a:tab pos="2489200" algn="l"/>
                          <a:tab pos="2844800" algn="l"/>
                          <a:tab pos="3200400" algn="l"/>
                          <a:tab pos="3556000" algn="l"/>
                          <a:tab pos="3911600" algn="l"/>
                          <a:tab pos="4267200" algn="l"/>
                        </a:tabLst>
                        <a:defRPr sz="1800" b="0" i="0" cap="none"/>
                      </a:pPr>
                      <a:r>
                        <a:rPr lang="de-DE" sz="1600" dirty="0" smtClean="0"/>
                        <a:t>31154</a:t>
                      </a:r>
                      <a:endParaRPr sz="1600" dirty="0"/>
                    </a:p>
                  </a:txBody>
                  <a:tcPr marL="63500" marR="63500" marT="63500" marB="63500" horzOverflow="overflow"/>
                </a:tc>
                <a:tc>
                  <a:txBody>
                    <a:bodyPr/>
                    <a:lstStyle/>
                    <a:p>
                      <a:pPr algn="r">
                        <a:defRPr sz="1800" b="0" i="0" cap="none"/>
                      </a:pPr>
                      <a:r>
                        <a:rPr lang="de-DE" sz="1600" dirty="0" smtClean="0"/>
                        <a:t>Blackburn</a:t>
                      </a:r>
                      <a:endParaRPr sz="1600" dirty="0"/>
                    </a:p>
                  </a:txBody>
                  <a:tcPr marL="63500" marR="63500" marT="63500" marB="63500" horzOverflow="overflow"/>
                </a:tc>
                <a:tc>
                  <a:txBody>
                    <a:bodyPr/>
                    <a:lstStyle/>
                    <a:p>
                      <a:pPr algn="r">
                        <a:defRPr sz="1800" b="0" i="0" cap="none"/>
                      </a:pPr>
                      <a:r>
                        <a:rPr lang="de-DE" sz="1600" dirty="0" smtClean="0"/>
                        <a:t>England</a:t>
                      </a:r>
                      <a:endParaRPr sz="1600" dirty="0"/>
                    </a:p>
                  </a:txBody>
                  <a:tcPr marL="63500" marR="63500" marT="63500" marB="63500" horzOverflow="overflow"/>
                </a:tc>
              </a:tr>
              <a:tr h="434072">
                <a:tc>
                  <a:txBody>
                    <a:bodyPr/>
                    <a:lstStyle/>
                    <a:p>
                      <a:pPr algn="r">
                        <a:tabLst>
                          <a:tab pos="355600" algn="l"/>
                          <a:tab pos="711200" algn="l"/>
                          <a:tab pos="1066800" algn="l"/>
                          <a:tab pos="1422400" algn="l"/>
                          <a:tab pos="1778000" algn="l"/>
                          <a:tab pos="2133600" algn="l"/>
                          <a:tab pos="2489200" algn="l"/>
                          <a:tab pos="2844800" algn="l"/>
                          <a:tab pos="3200400" algn="l"/>
                          <a:tab pos="3556000" algn="l"/>
                          <a:tab pos="3911600" algn="l"/>
                          <a:tab pos="4267200" algn="l"/>
                        </a:tabLst>
                        <a:defRPr sz="1800" b="0" i="0" cap="none"/>
                      </a:pPr>
                      <a:r>
                        <a:rPr sz="1600"/>
                        <a:t>…</a:t>
                      </a:r>
                    </a:p>
                  </a:txBody>
                  <a:tcPr marL="63500" marR="63500" marT="63500" marB="63500" horzOverflow="overflow"/>
                </a:tc>
                <a:tc>
                  <a:txBody>
                    <a:bodyPr/>
                    <a:lstStyle/>
                    <a:p>
                      <a:pPr algn="r">
                        <a:tabLst>
                          <a:tab pos="355600" algn="l"/>
                          <a:tab pos="711200" algn="l"/>
                          <a:tab pos="1066800" algn="l"/>
                          <a:tab pos="1422400" algn="l"/>
                          <a:tab pos="1778000" algn="l"/>
                          <a:tab pos="2133600" algn="l"/>
                          <a:tab pos="2489200" algn="l"/>
                          <a:tab pos="2844800" algn="l"/>
                          <a:tab pos="3200400" algn="l"/>
                          <a:tab pos="3556000" algn="l"/>
                          <a:tab pos="3911600" algn="l"/>
                          <a:tab pos="4267200" algn="l"/>
                        </a:tabLst>
                        <a:defRPr sz="1800" b="0" i="0" cap="none"/>
                      </a:pPr>
                      <a:r>
                        <a:rPr sz="1600"/>
                        <a:t>…</a:t>
                      </a:r>
                    </a:p>
                  </a:txBody>
                  <a:tcPr marL="63500" marR="63500" marT="63500" marB="63500" horzOverflow="overflow"/>
                </a:tc>
                <a:tc>
                  <a:txBody>
                    <a:bodyPr/>
                    <a:lstStyle/>
                    <a:p>
                      <a:pPr algn="r">
                        <a:defRPr sz="1800" b="0" i="0" cap="none"/>
                      </a:pPr>
                      <a:r>
                        <a:rPr sz="1600" dirty="0"/>
                        <a:t>…</a:t>
                      </a:r>
                    </a:p>
                  </a:txBody>
                  <a:tcPr marL="63500" marR="63500" marT="63500" marB="63500" horzOverflow="overflow"/>
                </a:tc>
                <a:tc>
                  <a:txBody>
                    <a:bodyPr/>
                    <a:lstStyle/>
                    <a:p>
                      <a:pPr algn="r">
                        <a:defRPr sz="1800" b="0" i="0" cap="none"/>
                      </a:pPr>
                      <a:r>
                        <a:rPr sz="1600" dirty="0"/>
                        <a:t>…</a:t>
                      </a:r>
                    </a:p>
                  </a:txBody>
                  <a:tcPr marL="63500" marR="63500" marT="63500" marB="63500" horzOverflow="overflow"/>
                </a:tc>
              </a:tr>
            </a:tbl>
          </a:graphicData>
        </a:graphic>
      </p:graphicFrame>
      <p:grpSp>
        <p:nvGrpSpPr>
          <p:cNvPr id="183" name="Group 183"/>
          <p:cNvGrpSpPr/>
          <p:nvPr/>
        </p:nvGrpSpPr>
        <p:grpSpPr>
          <a:xfrm>
            <a:off x="2061120" y="2246181"/>
            <a:ext cx="5245101" cy="1182819"/>
            <a:chOff x="0" y="0"/>
            <a:chExt cx="5245100" cy="1182818"/>
          </a:xfrm>
        </p:grpSpPr>
        <p:sp>
          <p:nvSpPr>
            <p:cNvPr id="193" name="Shape 193"/>
            <p:cNvSpPr/>
            <p:nvPr/>
          </p:nvSpPr>
          <p:spPr>
            <a:xfrm>
              <a:off x="0" y="0"/>
              <a:ext cx="1774280" cy="118281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1600"/>
                  </a:moveTo>
                  <a:cubicBezTo>
                    <a:pt x="14400" y="14400"/>
                    <a:pt x="7200" y="7200"/>
                    <a:pt x="0" y="0"/>
                  </a:cubicBezTo>
                </a:path>
              </a:pathLst>
            </a:custGeom>
            <a:noFill/>
            <a:ln w="25400" cap="flat">
              <a:solidFill>
                <a:schemeClr val="accent1"/>
              </a:solidFill>
              <a:prstDash val="solid"/>
              <a:bevel/>
              <a:headEnd type="triangle" w="med" len="med"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txBody>
            <a:bodyPr/>
            <a:lstStyle/>
            <a:p>
              <a:endParaRPr/>
            </a:p>
          </p:txBody>
        </p:sp>
        <p:sp>
          <p:nvSpPr>
            <p:cNvPr id="194" name="Shape 194"/>
            <p:cNvSpPr/>
            <p:nvPr/>
          </p:nvSpPr>
          <p:spPr>
            <a:xfrm>
              <a:off x="0" y="0"/>
              <a:ext cx="3475782" cy="8949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cubicBezTo>
                    <a:pt x="7200" y="7200"/>
                    <a:pt x="14400" y="14400"/>
                    <a:pt x="21600" y="21600"/>
                  </a:cubicBezTo>
                </a:path>
              </a:pathLst>
            </a:custGeom>
            <a:noFill/>
            <a:ln w="25400" cap="flat">
              <a:solidFill>
                <a:schemeClr val="accent1"/>
              </a:solidFill>
              <a:prstDash val="solid"/>
              <a:bevel/>
              <a:tailEnd type="triangle" w="med" len="med"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txBody>
            <a:bodyPr/>
            <a:lstStyle/>
            <a:p>
              <a:endParaRPr/>
            </a:p>
          </p:txBody>
        </p:sp>
        <p:sp>
          <p:nvSpPr>
            <p:cNvPr id="195" name="Shape 195"/>
            <p:cNvSpPr/>
            <p:nvPr/>
          </p:nvSpPr>
          <p:spPr>
            <a:xfrm>
              <a:off x="0" y="0"/>
              <a:ext cx="5245100" cy="101308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1600"/>
                  </a:moveTo>
                  <a:cubicBezTo>
                    <a:pt x="14400" y="14400"/>
                    <a:pt x="7200" y="7200"/>
                    <a:pt x="0" y="0"/>
                  </a:cubicBezTo>
                </a:path>
              </a:pathLst>
            </a:custGeom>
            <a:noFill/>
            <a:ln w="25400" cap="flat">
              <a:solidFill>
                <a:schemeClr val="accent1"/>
              </a:solidFill>
              <a:prstDash val="solid"/>
              <a:bevel/>
              <a:headEnd type="triangle" w="med" len="med"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txBody>
            <a:bodyPr/>
            <a:lstStyle/>
            <a:p>
              <a:endParaRPr/>
            </a:p>
          </p:txBody>
        </p:sp>
      </p:grpSp>
      <p:grpSp>
        <p:nvGrpSpPr>
          <p:cNvPr id="192" name="Group 192"/>
          <p:cNvGrpSpPr/>
          <p:nvPr/>
        </p:nvGrpSpPr>
        <p:grpSpPr>
          <a:xfrm>
            <a:off x="1155848" y="2007981"/>
            <a:ext cx="7055645" cy="2041412"/>
            <a:chOff x="0" y="0"/>
            <a:chExt cx="7055643" cy="2041410"/>
          </a:xfrm>
        </p:grpSpPr>
        <p:sp>
          <p:nvSpPr>
            <p:cNvPr id="184" name="Shape 184"/>
            <p:cNvSpPr/>
            <p:nvPr/>
          </p:nvSpPr>
          <p:spPr>
            <a:xfrm>
              <a:off x="1687710" y="1182818"/>
              <a:ext cx="1983682" cy="476400"/>
            </a:xfrm>
            <a:prstGeom prst="rect">
              <a:avLst/>
            </a:prstGeom>
            <a:solidFill>
              <a:srgbClr val="FFFFFF"/>
            </a:solidFill>
            <a:ln w="50800" cap="flat">
              <a:solidFill>
                <a:schemeClr val="accent1"/>
              </a:solidFill>
              <a:prstDash val="solid"/>
              <a:miter lim="400000"/>
            </a:ln>
            <a:effectLst>
              <a:outerShdw blurRad="38100" dist="23000" dir="5400000" rotWithShape="0">
                <a:srgbClr val="000000">
                  <a:alpha val="35000"/>
                </a:srgbClr>
              </a:outerShdw>
            </a:effectLst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noAutofit/>
            </a:bodyPr>
            <a:lstStyle/>
            <a:p>
              <a:pPr indent="228600" algn="ctr">
                <a:defRPr b="1">
                  <a:solidFill>
                    <a:srgbClr val="AB5A52"/>
                  </a:solidFill>
                </a:defRPr>
              </a:pPr>
              <a:r>
                <a:rPr dirty="0" err="1">
                  <a:solidFill>
                    <a:schemeClr val="bg2">
                      <a:lumMod val="25000"/>
                    </a:schemeClr>
                  </a:solidFill>
                </a:rPr>
                <a:t>dbp:capacity</a:t>
              </a:r>
              <a:r>
                <a:rPr dirty="0">
                  <a:solidFill>
                    <a:schemeClr val="bg2">
                      <a:lumMod val="25000"/>
                    </a:schemeClr>
                  </a:solidFill>
                </a:rPr>
                <a:t>  </a:t>
              </a:r>
            </a:p>
          </p:txBody>
        </p:sp>
        <p:sp>
          <p:nvSpPr>
            <p:cNvPr id="185" name="Shape 185"/>
            <p:cNvSpPr/>
            <p:nvPr/>
          </p:nvSpPr>
          <p:spPr>
            <a:xfrm>
              <a:off x="3594100" y="89497"/>
              <a:ext cx="1573908" cy="476400"/>
            </a:xfrm>
            <a:prstGeom prst="rect">
              <a:avLst/>
            </a:prstGeom>
            <a:solidFill>
              <a:srgbClr val="FFFFFF"/>
            </a:solidFill>
            <a:ln w="50800" cap="flat">
              <a:solidFill>
                <a:schemeClr val="accent1"/>
              </a:solidFill>
              <a:prstDash val="solid"/>
              <a:miter lim="400000"/>
            </a:ln>
            <a:effectLst>
              <a:outerShdw blurRad="38100" dist="23000" dir="5400000" rotWithShape="0">
                <a:srgbClr val="000000">
                  <a:alpha val="35000"/>
                </a:srgbClr>
              </a:outerShdw>
            </a:effectLst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noAutofit/>
            </a:bodyPr>
            <a:lstStyle/>
            <a:p>
              <a:pPr indent="228600" algn="ctr">
                <a:defRPr b="1">
                  <a:solidFill>
                    <a:srgbClr val="AB5A52"/>
                  </a:solidFill>
                </a:defRPr>
              </a:pPr>
              <a:r>
                <a:rPr dirty="0" err="1">
                  <a:solidFill>
                    <a:schemeClr val="bg2">
                      <a:lumMod val="25000"/>
                    </a:schemeClr>
                  </a:solidFill>
                </a:rPr>
                <a:t>dpo:City</a:t>
              </a:r>
              <a:r>
                <a:rPr dirty="0">
                  <a:solidFill>
                    <a:schemeClr val="bg2">
                      <a:lumMod val="25000"/>
                    </a:schemeClr>
                  </a:solidFill>
                </a:rPr>
                <a:t>  </a:t>
              </a:r>
            </a:p>
          </p:txBody>
        </p:sp>
        <p:sp>
          <p:nvSpPr>
            <p:cNvPr id="186" name="Shape 186"/>
            <p:cNvSpPr/>
            <p:nvPr/>
          </p:nvSpPr>
          <p:spPr>
            <a:xfrm>
              <a:off x="0" y="0"/>
              <a:ext cx="1810544" cy="476399"/>
            </a:xfrm>
            <a:prstGeom prst="rect">
              <a:avLst/>
            </a:prstGeom>
            <a:solidFill>
              <a:srgbClr val="FFFFFF"/>
            </a:solidFill>
            <a:ln w="50800" cap="flat">
              <a:solidFill>
                <a:schemeClr val="accent1"/>
              </a:solidFill>
              <a:prstDash val="solid"/>
              <a:miter lim="400000"/>
            </a:ln>
            <a:effectLst>
              <a:outerShdw blurRad="38100" dist="23000" dir="5400000" rotWithShape="0">
                <a:srgbClr val="000000">
                  <a:alpha val="35000"/>
                </a:srgbClr>
              </a:outerShdw>
            </a:effectLst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noAutofit/>
            </a:bodyPr>
            <a:lstStyle/>
            <a:p>
              <a:pPr indent="228600" algn="ctr">
                <a:defRPr b="1">
                  <a:solidFill>
                    <a:srgbClr val="AB5A52"/>
                  </a:solidFill>
                </a:defRPr>
              </a:pPr>
              <a:r>
                <a:rPr dirty="0" err="1" smtClean="0">
                  <a:solidFill>
                    <a:schemeClr val="bg2">
                      <a:lumMod val="25000"/>
                    </a:schemeClr>
                  </a:solidFill>
                </a:rPr>
                <a:t>dpo:Stadi</a:t>
              </a:r>
              <a:r>
                <a:rPr lang="de-DE" dirty="0" smtClean="0">
                  <a:solidFill>
                    <a:schemeClr val="bg2">
                      <a:lumMod val="25000"/>
                    </a:schemeClr>
                  </a:solidFill>
                </a:rPr>
                <a:t>u</a:t>
              </a:r>
              <a:r>
                <a:rPr dirty="0" smtClean="0">
                  <a:solidFill>
                    <a:schemeClr val="bg2">
                      <a:lumMod val="25000"/>
                    </a:schemeClr>
                  </a:solidFill>
                </a:rPr>
                <a:t>m  </a:t>
              </a:r>
              <a:endParaRPr dirty="0">
                <a:solidFill>
                  <a:schemeClr val="bg2">
                    <a:lumMod val="25000"/>
                  </a:schemeClr>
                </a:solidFill>
              </a:endParaRPr>
            </a:p>
          </p:txBody>
        </p:sp>
        <p:sp>
          <p:nvSpPr>
            <p:cNvPr id="187" name="Shape 187"/>
            <p:cNvSpPr/>
            <p:nvPr/>
          </p:nvSpPr>
          <p:spPr>
            <a:xfrm>
              <a:off x="5245100" y="1013087"/>
              <a:ext cx="1810544" cy="476400"/>
            </a:xfrm>
            <a:prstGeom prst="rect">
              <a:avLst/>
            </a:prstGeom>
            <a:solidFill>
              <a:srgbClr val="FFFFFF"/>
            </a:solidFill>
            <a:ln w="50800" cap="flat">
              <a:solidFill>
                <a:schemeClr val="accent1"/>
              </a:solidFill>
              <a:prstDash val="solid"/>
              <a:miter lim="400000"/>
            </a:ln>
            <a:effectLst>
              <a:outerShdw blurRad="38100" dist="23000" dir="5400000" rotWithShape="0">
                <a:srgbClr val="000000">
                  <a:alpha val="35000"/>
                </a:srgbClr>
              </a:outerShdw>
            </a:effectLst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noAutofit/>
            </a:bodyPr>
            <a:lstStyle/>
            <a:p>
              <a:pPr indent="228600" algn="ctr">
                <a:defRPr b="1">
                  <a:solidFill>
                    <a:srgbClr val="AB5A52"/>
                  </a:solidFill>
                </a:defRPr>
              </a:pPr>
              <a:r>
                <a:rPr dirty="0" err="1">
                  <a:solidFill>
                    <a:schemeClr val="bg2">
                      <a:lumMod val="25000"/>
                    </a:schemeClr>
                  </a:solidFill>
                </a:rPr>
                <a:t>dpo:Country</a:t>
              </a:r>
              <a:endParaRPr dirty="0">
                <a:solidFill>
                  <a:schemeClr val="bg2">
                    <a:lumMod val="25000"/>
                  </a:schemeClr>
                </a:solidFill>
              </a:endParaRPr>
            </a:p>
          </p:txBody>
        </p:sp>
        <p:sp>
          <p:nvSpPr>
            <p:cNvPr id="188" name="Shape 188"/>
            <p:cNvSpPr/>
            <p:nvPr/>
          </p:nvSpPr>
          <p:spPr>
            <a:xfrm flipV="1">
              <a:off x="870197" y="446556"/>
              <a:ext cx="1" cy="1594855"/>
            </a:xfrm>
            <a:prstGeom prst="line">
              <a:avLst/>
            </a:prstGeom>
            <a:noFill/>
            <a:ln w="38100" cap="flat">
              <a:solidFill>
                <a:schemeClr val="accent1"/>
              </a:solidFill>
              <a:prstDash val="sysDot"/>
              <a:miter lim="400000"/>
              <a:tailEnd type="triangle" w="med" len="med"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sp>
          <p:nvSpPr>
            <p:cNvPr id="189" name="Shape 189"/>
            <p:cNvSpPr/>
            <p:nvPr/>
          </p:nvSpPr>
          <p:spPr>
            <a:xfrm flipV="1">
              <a:off x="2679551" y="1653056"/>
              <a:ext cx="1" cy="364495"/>
            </a:xfrm>
            <a:prstGeom prst="line">
              <a:avLst/>
            </a:prstGeom>
            <a:noFill/>
            <a:ln w="38100" cap="flat">
              <a:solidFill>
                <a:schemeClr val="accent1"/>
              </a:solidFill>
              <a:prstDash val="sysDot"/>
              <a:miter lim="400000"/>
              <a:tailEnd type="triangle" w="med" len="med"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sp>
          <p:nvSpPr>
            <p:cNvPr id="190" name="Shape 190"/>
            <p:cNvSpPr/>
            <p:nvPr/>
          </p:nvSpPr>
          <p:spPr>
            <a:xfrm flipV="1">
              <a:off x="4381053" y="559914"/>
              <a:ext cx="1" cy="1457637"/>
            </a:xfrm>
            <a:prstGeom prst="line">
              <a:avLst/>
            </a:prstGeom>
            <a:noFill/>
            <a:ln w="38100" cap="flat">
              <a:solidFill>
                <a:schemeClr val="accent1"/>
              </a:solidFill>
              <a:prstDash val="sysDot"/>
              <a:miter lim="400000"/>
              <a:tailEnd type="triangle" w="med" len="med"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  <p:sp>
          <p:nvSpPr>
            <p:cNvPr id="191" name="Shape 191"/>
            <p:cNvSpPr/>
            <p:nvPr/>
          </p:nvSpPr>
          <p:spPr>
            <a:xfrm flipV="1">
              <a:off x="6150372" y="1487014"/>
              <a:ext cx="1" cy="527027"/>
            </a:xfrm>
            <a:prstGeom prst="line">
              <a:avLst/>
            </a:prstGeom>
            <a:noFill/>
            <a:ln w="38100" cap="flat">
              <a:solidFill>
                <a:schemeClr val="accent1"/>
              </a:solidFill>
              <a:prstDash val="sysDot"/>
              <a:miter lim="400000"/>
              <a:tailEnd type="triangle" w="med" len="med"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/>
            </a:p>
          </p:txBody>
        </p:sp>
      </p:grp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  <a:endParaRPr lang="en-US" dirty="0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B03EE-0F65-4FB3-87AD-3AF455168DB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6581630"/>
      </p:ext>
    </p:extLst>
  </p:cSld>
  <p:clrMapOvr>
    <a:masterClrMapping/>
  </p:clrMapOvr>
  <p:transition spd="slow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3" grpId="0" advAuto="0"/>
      <p:bldP spid="192" grpId="0" advAuto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But:</a:t>
            </a:r>
            <a:endParaRPr lang="en-US" dirty="0"/>
          </a:p>
        </p:txBody>
      </p:sp>
      <p:sp>
        <p:nvSpPr>
          <p:cNvPr id="10" name="Rechteck 9"/>
          <p:cNvSpPr/>
          <p:nvPr/>
        </p:nvSpPr>
        <p:spPr>
          <a:xfrm>
            <a:off x="482455" y="1739449"/>
            <a:ext cx="7505192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 smtClean="0"/>
              <a:t>Web/HTML tables differ from typical Open Data tables: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b="1" dirty="0" smtClean="0"/>
              <a:t>Domain</a:t>
            </a:r>
            <a:r>
              <a:rPr lang="en-US" sz="2400" dirty="0" smtClean="0"/>
              <a:t>: e.g., public administration data, statistical data, weather data, elections, …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400" b="1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b="1" dirty="0" smtClean="0"/>
              <a:t>Structure</a:t>
            </a:r>
            <a:r>
              <a:rPr lang="en-US" sz="2400" dirty="0" smtClean="0"/>
              <a:t>: OD tables </a:t>
            </a:r>
            <a:br>
              <a:rPr lang="en-US" sz="2400" dirty="0" smtClean="0"/>
            </a:br>
            <a:r>
              <a:rPr lang="en-US" sz="2400" dirty="0" smtClean="0"/>
              <a:t>contain large amount </a:t>
            </a:r>
            <a:br>
              <a:rPr lang="en-US" sz="2400" dirty="0" smtClean="0"/>
            </a:br>
            <a:r>
              <a:rPr lang="en-US" sz="2400" dirty="0" smtClean="0"/>
              <a:t>of numerical columns</a:t>
            </a: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B03EE-0F65-4FB3-87AD-3AF455168DB9}" type="slidenum">
              <a:rPr lang="en-US" smtClean="0"/>
              <a:t>5</a:t>
            </a:fld>
            <a:endParaRPr lang="en-US" dirty="0"/>
          </a:p>
        </p:txBody>
      </p:sp>
      <p:pic>
        <p:nvPicPr>
          <p:cNvPr id="8" name="Grafik 7"/>
          <p:cNvPicPr>
            <a:picLocks noChangeAspect="1"/>
          </p:cNvPicPr>
          <p:nvPr/>
        </p:nvPicPr>
        <p:blipFill rotWithShape="1">
          <a:blip r:embed="rId3"/>
          <a:srcRect r="25665" b="18100"/>
          <a:stretch/>
        </p:blipFill>
        <p:spPr>
          <a:xfrm>
            <a:off x="4351589" y="3514379"/>
            <a:ext cx="4698695" cy="2939188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3123350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7" name="Table 227"/>
          <p:cNvGraphicFramePr/>
          <p:nvPr>
            <p:extLst/>
          </p:nvPr>
        </p:nvGraphicFramePr>
        <p:xfrm>
          <a:off x="647700" y="4000500"/>
          <a:ext cx="7577731" cy="2170360"/>
        </p:xfrm>
        <a:graphic>
          <a:graphicData uri="http://schemas.openxmlformats.org/drawingml/2006/table">
            <a:tbl>
              <a:tblPr bandRow="1"/>
              <a:tblGrid>
                <a:gridCol w="2601880"/>
                <a:gridCol w="1186985"/>
                <a:gridCol w="1894433"/>
                <a:gridCol w="1894433"/>
              </a:tblGrid>
              <a:tr h="434072">
                <a:tc>
                  <a:txBody>
                    <a:bodyPr/>
                    <a:lstStyle/>
                    <a:p>
                      <a:pPr algn="ctr">
                        <a:defRPr sz="1800" b="0" i="0" cap="none"/>
                      </a:pPr>
                      <a:r>
                        <a:rPr b="1" i="1" dirty="0" smtClean="0"/>
                        <a:t>stadium</a:t>
                      </a:r>
                      <a:endParaRPr b="1" i="1" dirty="0"/>
                    </a:p>
                  </a:txBody>
                  <a:tcPr marL="63500" marR="63500" marT="63500" marB="63500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 b="0" i="0" cap="none"/>
                      </a:pPr>
                      <a:r>
                        <a:rPr b="1" i="1"/>
                        <a:t>capacity</a:t>
                      </a:r>
                    </a:p>
                  </a:txBody>
                  <a:tcPr marL="63500" marR="63500" marT="63500" marB="63500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 b="0" i="0" cap="none"/>
                      </a:pPr>
                      <a:r>
                        <a:rPr b="1" i="1"/>
                        <a:t>city</a:t>
                      </a:r>
                    </a:p>
                  </a:txBody>
                  <a:tcPr marL="63500" marR="63500" marT="63500" marB="63500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 b="0" i="0" cap="none"/>
                      </a:pPr>
                      <a:r>
                        <a:rPr b="1" i="1"/>
                        <a:t>country</a:t>
                      </a:r>
                    </a:p>
                  </a:txBody>
                  <a:tcPr marL="63500" marR="63500" marT="63500" marB="63500" horzOverflow="overflow"/>
                </a:tc>
              </a:tr>
              <a:tr h="434072">
                <a:tc>
                  <a:txBody>
                    <a:bodyPr/>
                    <a:lstStyle/>
                    <a:p>
                      <a:pPr algn="r" defTabSz="457200">
                        <a:tabLst>
                          <a:tab pos="355600" algn="l"/>
                          <a:tab pos="711200" algn="l"/>
                          <a:tab pos="1066800" algn="l"/>
                          <a:tab pos="1422400" algn="l"/>
                          <a:tab pos="1778000" algn="l"/>
                          <a:tab pos="2133600" algn="l"/>
                          <a:tab pos="2489200" algn="l"/>
                          <a:tab pos="2844800" algn="l"/>
                          <a:tab pos="3200400" algn="l"/>
                          <a:tab pos="3556000" algn="l"/>
                          <a:tab pos="3911600" algn="l"/>
                          <a:tab pos="4267200" algn="l"/>
                        </a:tabLst>
                        <a:defRPr sz="1800" b="0" i="0" cap="none"/>
                      </a:pPr>
                      <a:r>
                        <a:rPr lang="de-DE" sz="1600" dirty="0" smtClean="0"/>
                        <a:t>Emirates Stadium</a:t>
                      </a:r>
                      <a:endParaRPr sz="1600" dirty="0"/>
                    </a:p>
                  </a:txBody>
                  <a:tcPr marL="63500" marR="63500" marT="63500" marB="63500" horzOverflow="overflow"/>
                </a:tc>
                <a:tc>
                  <a:txBody>
                    <a:bodyPr/>
                    <a:lstStyle/>
                    <a:p>
                      <a:pPr algn="r">
                        <a:tabLst>
                          <a:tab pos="355600" algn="l"/>
                          <a:tab pos="711200" algn="l"/>
                          <a:tab pos="1066800" algn="l"/>
                          <a:tab pos="1422400" algn="l"/>
                          <a:tab pos="1778000" algn="l"/>
                          <a:tab pos="2133600" algn="l"/>
                          <a:tab pos="2489200" algn="l"/>
                          <a:tab pos="2844800" algn="l"/>
                          <a:tab pos="3200400" algn="l"/>
                          <a:tab pos="3556000" algn="l"/>
                          <a:tab pos="3911600" algn="l"/>
                          <a:tab pos="4267200" algn="l"/>
                        </a:tabLst>
                        <a:defRPr sz="1800" b="0" i="0" cap="none"/>
                      </a:pPr>
                      <a:r>
                        <a:rPr lang="de-DE" sz="1600" dirty="0" smtClean="0"/>
                        <a:t>60361</a:t>
                      </a:r>
                      <a:endParaRPr sz="1600" dirty="0"/>
                    </a:p>
                  </a:txBody>
                  <a:tcPr marL="63500" marR="63500" marT="63500" marB="63500" horzOverflow="overflow"/>
                </a:tc>
                <a:tc>
                  <a:txBody>
                    <a:bodyPr/>
                    <a:lstStyle/>
                    <a:p>
                      <a:pPr algn="r">
                        <a:tabLst>
                          <a:tab pos="355600" algn="l"/>
                          <a:tab pos="711200" algn="l"/>
                          <a:tab pos="1066800" algn="l"/>
                          <a:tab pos="1422400" algn="l"/>
                          <a:tab pos="1778000" algn="l"/>
                          <a:tab pos="2133600" algn="l"/>
                          <a:tab pos="2489200" algn="l"/>
                          <a:tab pos="2844800" algn="l"/>
                          <a:tab pos="3200400" algn="l"/>
                          <a:tab pos="3556000" algn="l"/>
                          <a:tab pos="3911600" algn="l"/>
                          <a:tab pos="4267200" algn="l"/>
                        </a:tabLst>
                        <a:defRPr sz="1800" b="0" i="0" cap="none"/>
                      </a:pPr>
                      <a:r>
                        <a:rPr lang="de-DE" sz="1600" dirty="0" smtClean="0"/>
                        <a:t>London</a:t>
                      </a:r>
                      <a:endParaRPr sz="1600" dirty="0"/>
                    </a:p>
                  </a:txBody>
                  <a:tcPr marL="63500" marR="63500" marT="63500" marB="63500" horzOverflow="overflow"/>
                </a:tc>
                <a:tc>
                  <a:txBody>
                    <a:bodyPr/>
                    <a:lstStyle/>
                    <a:p>
                      <a:pPr algn="r">
                        <a:defRPr sz="1800" b="0" i="0" cap="none"/>
                      </a:pPr>
                      <a:r>
                        <a:rPr lang="de-DE" sz="1600" dirty="0" smtClean="0"/>
                        <a:t>England</a:t>
                      </a:r>
                      <a:endParaRPr sz="1600" dirty="0"/>
                    </a:p>
                  </a:txBody>
                  <a:tcPr marL="63500" marR="63500" marT="63500" marB="63500" horzOverflow="overflow"/>
                </a:tc>
              </a:tr>
              <a:tr h="434072">
                <a:tc>
                  <a:txBody>
                    <a:bodyPr/>
                    <a:lstStyle/>
                    <a:p>
                      <a:pPr algn="r">
                        <a:tabLst>
                          <a:tab pos="355600" algn="l"/>
                          <a:tab pos="711200" algn="l"/>
                          <a:tab pos="1066800" algn="l"/>
                          <a:tab pos="1422400" algn="l"/>
                          <a:tab pos="1778000" algn="l"/>
                          <a:tab pos="2133600" algn="l"/>
                          <a:tab pos="2489200" algn="l"/>
                          <a:tab pos="2844800" algn="l"/>
                          <a:tab pos="3200400" algn="l"/>
                          <a:tab pos="3556000" algn="l"/>
                          <a:tab pos="3911600" algn="l"/>
                          <a:tab pos="4267200" algn="l"/>
                        </a:tabLst>
                        <a:defRPr sz="1800" b="0" i="0" cap="none"/>
                      </a:pPr>
                      <a:r>
                        <a:rPr lang="de-DE" sz="1600" dirty="0" smtClean="0"/>
                        <a:t>Villa Park</a:t>
                      </a:r>
                      <a:endParaRPr sz="1600" dirty="0"/>
                    </a:p>
                  </a:txBody>
                  <a:tcPr marL="63500" marR="63500" marT="63500" marB="63500" horzOverflow="overflow"/>
                </a:tc>
                <a:tc>
                  <a:txBody>
                    <a:bodyPr/>
                    <a:lstStyle/>
                    <a:p>
                      <a:pPr algn="r">
                        <a:tabLst>
                          <a:tab pos="355600" algn="l"/>
                          <a:tab pos="711200" algn="l"/>
                          <a:tab pos="1066800" algn="l"/>
                          <a:tab pos="1422400" algn="l"/>
                          <a:tab pos="1778000" algn="l"/>
                          <a:tab pos="2133600" algn="l"/>
                          <a:tab pos="2489200" algn="l"/>
                          <a:tab pos="2844800" algn="l"/>
                          <a:tab pos="3200400" algn="l"/>
                          <a:tab pos="3556000" algn="l"/>
                          <a:tab pos="3911600" algn="l"/>
                          <a:tab pos="4267200" algn="l"/>
                        </a:tabLst>
                        <a:defRPr sz="1800" b="0" i="0" cap="none"/>
                      </a:pPr>
                      <a:r>
                        <a:rPr lang="de-DE" sz="1600" dirty="0" smtClean="0"/>
                        <a:t>42785</a:t>
                      </a:r>
                      <a:endParaRPr sz="1600" dirty="0"/>
                    </a:p>
                  </a:txBody>
                  <a:tcPr marL="63500" marR="63500" marT="63500" marB="63500" horzOverflow="overflow"/>
                </a:tc>
                <a:tc>
                  <a:txBody>
                    <a:bodyPr/>
                    <a:lstStyle/>
                    <a:p>
                      <a:pPr algn="r">
                        <a:tabLst>
                          <a:tab pos="355600" algn="l"/>
                          <a:tab pos="711200" algn="l"/>
                          <a:tab pos="1066800" algn="l"/>
                          <a:tab pos="1422400" algn="l"/>
                          <a:tab pos="1778000" algn="l"/>
                          <a:tab pos="2133600" algn="l"/>
                          <a:tab pos="2489200" algn="l"/>
                          <a:tab pos="2844800" algn="l"/>
                          <a:tab pos="3200400" algn="l"/>
                          <a:tab pos="3556000" algn="l"/>
                          <a:tab pos="3911600" algn="l"/>
                          <a:tab pos="4267200" algn="l"/>
                        </a:tabLst>
                        <a:defRPr sz="1800" b="0" i="0" cap="none"/>
                      </a:pPr>
                      <a:r>
                        <a:rPr lang="de-DE" sz="1600" dirty="0" smtClean="0"/>
                        <a:t>Birmingham</a:t>
                      </a:r>
                      <a:endParaRPr sz="1600" dirty="0"/>
                    </a:p>
                  </a:txBody>
                  <a:tcPr marL="63500" marR="63500" marT="63500" marB="63500" horzOverflow="overflow"/>
                </a:tc>
                <a:tc>
                  <a:txBody>
                    <a:bodyPr/>
                    <a:lstStyle/>
                    <a:p>
                      <a:pPr algn="r">
                        <a:defRPr sz="1800" b="0" i="0" cap="none"/>
                      </a:pPr>
                      <a:r>
                        <a:rPr lang="de-DE" sz="1600" dirty="0" smtClean="0"/>
                        <a:t>England</a:t>
                      </a:r>
                      <a:endParaRPr sz="1600" dirty="0"/>
                    </a:p>
                  </a:txBody>
                  <a:tcPr marL="63500" marR="63500" marT="63500" marB="63500" horzOverflow="overflow"/>
                </a:tc>
              </a:tr>
              <a:tr h="434072">
                <a:tc>
                  <a:txBody>
                    <a:bodyPr/>
                    <a:lstStyle/>
                    <a:p>
                      <a:pPr algn="r">
                        <a:tabLst>
                          <a:tab pos="355600" algn="l"/>
                          <a:tab pos="711200" algn="l"/>
                          <a:tab pos="1066800" algn="l"/>
                          <a:tab pos="1422400" algn="l"/>
                          <a:tab pos="1778000" algn="l"/>
                          <a:tab pos="2133600" algn="l"/>
                          <a:tab pos="2489200" algn="l"/>
                          <a:tab pos="2844800" algn="l"/>
                          <a:tab pos="3200400" algn="l"/>
                          <a:tab pos="3556000" algn="l"/>
                          <a:tab pos="3911600" algn="l"/>
                          <a:tab pos="4267200" algn="l"/>
                        </a:tabLst>
                        <a:defRPr sz="1800" b="0" i="0" cap="none"/>
                      </a:pPr>
                      <a:r>
                        <a:rPr lang="de-DE" sz="1600" dirty="0" err="1" smtClean="0"/>
                        <a:t>Ewood</a:t>
                      </a:r>
                      <a:r>
                        <a:rPr lang="de-DE" sz="1600" dirty="0" smtClean="0"/>
                        <a:t> Park</a:t>
                      </a:r>
                      <a:endParaRPr sz="1600" dirty="0"/>
                    </a:p>
                  </a:txBody>
                  <a:tcPr marL="63500" marR="63500" marT="63500" marB="63500" horzOverflow="overflow"/>
                </a:tc>
                <a:tc>
                  <a:txBody>
                    <a:bodyPr/>
                    <a:lstStyle/>
                    <a:p>
                      <a:pPr algn="r">
                        <a:tabLst>
                          <a:tab pos="355600" algn="l"/>
                          <a:tab pos="711200" algn="l"/>
                          <a:tab pos="1066800" algn="l"/>
                          <a:tab pos="1422400" algn="l"/>
                          <a:tab pos="1778000" algn="l"/>
                          <a:tab pos="2133600" algn="l"/>
                          <a:tab pos="2489200" algn="l"/>
                          <a:tab pos="2844800" algn="l"/>
                          <a:tab pos="3200400" algn="l"/>
                          <a:tab pos="3556000" algn="l"/>
                          <a:tab pos="3911600" algn="l"/>
                          <a:tab pos="4267200" algn="l"/>
                        </a:tabLst>
                        <a:defRPr sz="1800" b="0" i="0" cap="none"/>
                      </a:pPr>
                      <a:r>
                        <a:rPr lang="de-DE" sz="1600" dirty="0" smtClean="0"/>
                        <a:t>31154</a:t>
                      </a:r>
                      <a:endParaRPr sz="1600" dirty="0"/>
                    </a:p>
                  </a:txBody>
                  <a:tcPr marL="63500" marR="63500" marT="63500" marB="63500" horzOverflow="overflow"/>
                </a:tc>
                <a:tc>
                  <a:txBody>
                    <a:bodyPr/>
                    <a:lstStyle/>
                    <a:p>
                      <a:pPr algn="r">
                        <a:defRPr sz="1800" b="0" i="0" cap="none"/>
                      </a:pPr>
                      <a:r>
                        <a:rPr lang="de-DE" sz="1600" dirty="0" smtClean="0"/>
                        <a:t>Blackburn</a:t>
                      </a:r>
                      <a:endParaRPr sz="1600" dirty="0"/>
                    </a:p>
                  </a:txBody>
                  <a:tcPr marL="63500" marR="63500" marT="63500" marB="63500" horzOverflow="overflow"/>
                </a:tc>
                <a:tc>
                  <a:txBody>
                    <a:bodyPr/>
                    <a:lstStyle/>
                    <a:p>
                      <a:pPr algn="r">
                        <a:defRPr sz="1800" b="0" i="0" cap="none"/>
                      </a:pPr>
                      <a:r>
                        <a:rPr lang="de-DE" sz="1600" dirty="0" smtClean="0"/>
                        <a:t>England</a:t>
                      </a:r>
                      <a:endParaRPr sz="1600" dirty="0"/>
                    </a:p>
                  </a:txBody>
                  <a:tcPr marL="63500" marR="63500" marT="63500" marB="63500" horzOverflow="overflow"/>
                </a:tc>
              </a:tr>
              <a:tr h="434072">
                <a:tc>
                  <a:txBody>
                    <a:bodyPr/>
                    <a:lstStyle/>
                    <a:p>
                      <a:pPr algn="r">
                        <a:tabLst>
                          <a:tab pos="355600" algn="l"/>
                          <a:tab pos="711200" algn="l"/>
                          <a:tab pos="1066800" algn="l"/>
                          <a:tab pos="1422400" algn="l"/>
                          <a:tab pos="1778000" algn="l"/>
                          <a:tab pos="2133600" algn="l"/>
                          <a:tab pos="2489200" algn="l"/>
                          <a:tab pos="2844800" algn="l"/>
                          <a:tab pos="3200400" algn="l"/>
                          <a:tab pos="3556000" algn="l"/>
                          <a:tab pos="3911600" algn="l"/>
                          <a:tab pos="4267200" algn="l"/>
                        </a:tabLst>
                        <a:defRPr sz="1800" b="0" i="0" cap="none"/>
                      </a:pPr>
                      <a:r>
                        <a:rPr sz="1600"/>
                        <a:t>…</a:t>
                      </a:r>
                    </a:p>
                  </a:txBody>
                  <a:tcPr marL="63500" marR="63500" marT="63500" marB="63500" horzOverflow="overflow"/>
                </a:tc>
                <a:tc>
                  <a:txBody>
                    <a:bodyPr/>
                    <a:lstStyle/>
                    <a:p>
                      <a:pPr algn="r">
                        <a:tabLst>
                          <a:tab pos="355600" algn="l"/>
                          <a:tab pos="711200" algn="l"/>
                          <a:tab pos="1066800" algn="l"/>
                          <a:tab pos="1422400" algn="l"/>
                          <a:tab pos="1778000" algn="l"/>
                          <a:tab pos="2133600" algn="l"/>
                          <a:tab pos="2489200" algn="l"/>
                          <a:tab pos="2844800" algn="l"/>
                          <a:tab pos="3200400" algn="l"/>
                          <a:tab pos="3556000" algn="l"/>
                          <a:tab pos="3911600" algn="l"/>
                          <a:tab pos="4267200" algn="l"/>
                        </a:tabLst>
                        <a:defRPr sz="1800" b="0" i="0" cap="none"/>
                      </a:pPr>
                      <a:r>
                        <a:rPr sz="1600" dirty="0"/>
                        <a:t>…</a:t>
                      </a:r>
                    </a:p>
                  </a:txBody>
                  <a:tcPr marL="63500" marR="63500" marT="63500" marB="63500" horzOverflow="overflow"/>
                </a:tc>
                <a:tc>
                  <a:txBody>
                    <a:bodyPr/>
                    <a:lstStyle/>
                    <a:p>
                      <a:pPr algn="r">
                        <a:defRPr sz="1800" b="0" i="0" cap="none"/>
                      </a:pPr>
                      <a:r>
                        <a:rPr sz="1600" dirty="0"/>
                        <a:t>…</a:t>
                      </a:r>
                    </a:p>
                  </a:txBody>
                  <a:tcPr marL="63500" marR="63500" marT="63500" marB="63500" horzOverflow="overflow"/>
                </a:tc>
                <a:tc>
                  <a:txBody>
                    <a:bodyPr/>
                    <a:lstStyle/>
                    <a:p>
                      <a:pPr algn="r">
                        <a:defRPr sz="1800" b="0" i="0" cap="none"/>
                      </a:pPr>
                      <a:r>
                        <a:rPr sz="1600" dirty="0"/>
                        <a:t>…</a:t>
                      </a:r>
                    </a:p>
                  </a:txBody>
                  <a:tcPr marL="63500" marR="63500" marT="63500" marB="63500" horzOverflow="overflow"/>
                </a:tc>
              </a:tr>
            </a:tbl>
          </a:graphicData>
        </a:graphic>
      </p:graphicFrame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(Cont’d)</a:t>
            </a:r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B03EE-0F65-4FB3-87AD-3AF455168DB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414800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7" name="Table 227"/>
          <p:cNvGraphicFramePr/>
          <p:nvPr>
            <p:extLst>
              <p:ext uri="{D42A27DB-BD31-4B8C-83A1-F6EECF244321}">
                <p14:modId xmlns:p14="http://schemas.microsoft.com/office/powerpoint/2010/main" val="1675788453"/>
              </p:ext>
            </p:extLst>
          </p:nvPr>
        </p:nvGraphicFramePr>
        <p:xfrm>
          <a:off x="647700" y="4000500"/>
          <a:ext cx="7577731" cy="2170360"/>
        </p:xfrm>
        <a:graphic>
          <a:graphicData uri="http://schemas.openxmlformats.org/drawingml/2006/table">
            <a:tbl>
              <a:tblPr bandRow="1"/>
              <a:tblGrid>
                <a:gridCol w="2601880"/>
                <a:gridCol w="1186985"/>
                <a:gridCol w="1894433"/>
                <a:gridCol w="1894433"/>
              </a:tblGrid>
              <a:tr h="434072">
                <a:tc>
                  <a:txBody>
                    <a:bodyPr/>
                    <a:lstStyle/>
                    <a:p>
                      <a:pPr algn="ctr">
                        <a:defRPr sz="1800" b="0" i="0" cap="none"/>
                      </a:pPr>
                      <a:endParaRPr b="1" i="1" dirty="0"/>
                    </a:p>
                  </a:txBody>
                  <a:tcPr marL="63500" marR="63500" marT="63500" marB="63500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 b="0" i="0" cap="none"/>
                      </a:pPr>
                      <a:r>
                        <a:rPr lang="de-DE" b="0" i="1" dirty="0" smtClean="0"/>
                        <a:t>TOTAL</a:t>
                      </a:r>
                      <a:endParaRPr b="0" i="1" dirty="0"/>
                    </a:p>
                  </a:txBody>
                  <a:tcPr marL="63500" marR="63500" marT="63500" marB="63500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 b="0" i="0" cap="none"/>
                      </a:pPr>
                      <a:r>
                        <a:rPr lang="de-DE" b="0" i="1" dirty="0" smtClean="0"/>
                        <a:t>DISTRICT_CODE</a:t>
                      </a:r>
                      <a:endParaRPr b="0" i="1" dirty="0"/>
                    </a:p>
                  </a:txBody>
                  <a:tcPr marL="63500" marR="63500" marT="63500" marB="63500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 b="0" i="0" cap="none"/>
                      </a:pPr>
                      <a:r>
                        <a:rPr lang="de-DE" b="0" i="1" dirty="0" smtClean="0"/>
                        <a:t>ISO_2</a:t>
                      </a:r>
                      <a:endParaRPr b="0" i="1" dirty="0"/>
                    </a:p>
                  </a:txBody>
                  <a:tcPr marL="63500" marR="63500" marT="63500" marB="63500" horzOverflow="overflow"/>
                </a:tc>
              </a:tr>
              <a:tr h="434072">
                <a:tc>
                  <a:txBody>
                    <a:bodyPr/>
                    <a:lstStyle/>
                    <a:p>
                      <a:pPr algn="r" defTabSz="457200">
                        <a:tabLst>
                          <a:tab pos="355600" algn="l"/>
                          <a:tab pos="711200" algn="l"/>
                          <a:tab pos="1066800" algn="l"/>
                          <a:tab pos="1422400" algn="l"/>
                          <a:tab pos="1778000" algn="l"/>
                          <a:tab pos="2133600" algn="l"/>
                          <a:tab pos="2489200" algn="l"/>
                          <a:tab pos="2844800" algn="l"/>
                          <a:tab pos="3200400" algn="l"/>
                          <a:tab pos="3556000" algn="l"/>
                          <a:tab pos="3911600" algn="l"/>
                          <a:tab pos="4267200" algn="l"/>
                        </a:tabLst>
                        <a:defRPr sz="1800" b="0" i="0" cap="none"/>
                      </a:pPr>
                      <a:r>
                        <a:rPr lang="de-DE" sz="1600" dirty="0" smtClean="0"/>
                        <a:t>Emirates Stadium</a:t>
                      </a:r>
                      <a:endParaRPr sz="1600" dirty="0"/>
                    </a:p>
                  </a:txBody>
                  <a:tcPr marL="63500" marR="63500" marT="63500" marB="63500" horzOverflow="overflow"/>
                </a:tc>
                <a:tc>
                  <a:txBody>
                    <a:bodyPr/>
                    <a:lstStyle/>
                    <a:p>
                      <a:pPr algn="r">
                        <a:tabLst>
                          <a:tab pos="355600" algn="l"/>
                          <a:tab pos="711200" algn="l"/>
                          <a:tab pos="1066800" algn="l"/>
                          <a:tab pos="1422400" algn="l"/>
                          <a:tab pos="1778000" algn="l"/>
                          <a:tab pos="2133600" algn="l"/>
                          <a:tab pos="2489200" algn="l"/>
                          <a:tab pos="2844800" algn="l"/>
                          <a:tab pos="3200400" algn="l"/>
                          <a:tab pos="3556000" algn="l"/>
                          <a:tab pos="3911600" algn="l"/>
                          <a:tab pos="4267200" algn="l"/>
                        </a:tabLst>
                        <a:defRPr sz="1800" b="0" i="0" cap="none"/>
                      </a:pPr>
                      <a:r>
                        <a:rPr lang="de-DE" sz="1600" dirty="0" smtClean="0"/>
                        <a:t>60361</a:t>
                      </a:r>
                      <a:endParaRPr sz="1600" dirty="0"/>
                    </a:p>
                  </a:txBody>
                  <a:tcPr marL="63500" marR="63500" marT="63500" marB="63500" horzOverflow="overflow"/>
                </a:tc>
                <a:tc>
                  <a:txBody>
                    <a:bodyPr/>
                    <a:lstStyle/>
                    <a:p>
                      <a:pPr algn="r">
                        <a:tabLst>
                          <a:tab pos="355600" algn="l"/>
                          <a:tab pos="711200" algn="l"/>
                          <a:tab pos="1066800" algn="l"/>
                          <a:tab pos="1422400" algn="l"/>
                          <a:tab pos="1778000" algn="l"/>
                          <a:tab pos="2133600" algn="l"/>
                          <a:tab pos="2489200" algn="l"/>
                          <a:tab pos="2844800" algn="l"/>
                          <a:tab pos="3200400" algn="l"/>
                          <a:tab pos="3556000" algn="l"/>
                          <a:tab pos="3911600" algn="l"/>
                          <a:tab pos="4267200" algn="l"/>
                        </a:tabLst>
                        <a:defRPr sz="1800" b="0" i="0" cap="none"/>
                      </a:pPr>
                      <a:r>
                        <a:rPr lang="de-DE" sz="1600" dirty="0" smtClean="0"/>
                        <a:t>SW1A 0AA</a:t>
                      </a:r>
                      <a:endParaRPr sz="1600" dirty="0"/>
                    </a:p>
                  </a:txBody>
                  <a:tcPr marL="63500" marR="63500" marT="63500" marB="63500" horzOverflow="overflow"/>
                </a:tc>
                <a:tc>
                  <a:txBody>
                    <a:bodyPr/>
                    <a:lstStyle/>
                    <a:p>
                      <a:pPr algn="r">
                        <a:defRPr sz="1800" b="0" i="0" cap="none"/>
                      </a:pPr>
                      <a:r>
                        <a:rPr lang="de-DE" sz="1600" dirty="0" smtClean="0"/>
                        <a:t>GB</a:t>
                      </a:r>
                      <a:endParaRPr sz="1600" dirty="0"/>
                    </a:p>
                  </a:txBody>
                  <a:tcPr marL="63500" marR="63500" marT="63500" marB="63500" horzOverflow="overflow"/>
                </a:tc>
              </a:tr>
              <a:tr h="434072">
                <a:tc>
                  <a:txBody>
                    <a:bodyPr/>
                    <a:lstStyle/>
                    <a:p>
                      <a:pPr algn="r">
                        <a:tabLst>
                          <a:tab pos="355600" algn="l"/>
                          <a:tab pos="711200" algn="l"/>
                          <a:tab pos="1066800" algn="l"/>
                          <a:tab pos="1422400" algn="l"/>
                          <a:tab pos="1778000" algn="l"/>
                          <a:tab pos="2133600" algn="l"/>
                          <a:tab pos="2489200" algn="l"/>
                          <a:tab pos="2844800" algn="l"/>
                          <a:tab pos="3200400" algn="l"/>
                          <a:tab pos="3556000" algn="l"/>
                          <a:tab pos="3911600" algn="l"/>
                          <a:tab pos="4267200" algn="l"/>
                        </a:tabLst>
                        <a:defRPr sz="1800" b="0" i="0" cap="none"/>
                      </a:pPr>
                      <a:r>
                        <a:rPr lang="de-DE" sz="1600" dirty="0" smtClean="0"/>
                        <a:t>Villa Park</a:t>
                      </a:r>
                      <a:endParaRPr sz="1600" dirty="0"/>
                    </a:p>
                  </a:txBody>
                  <a:tcPr marL="63500" marR="63500" marT="63500" marB="63500" horzOverflow="overflow"/>
                </a:tc>
                <a:tc>
                  <a:txBody>
                    <a:bodyPr/>
                    <a:lstStyle/>
                    <a:p>
                      <a:pPr algn="r">
                        <a:tabLst>
                          <a:tab pos="355600" algn="l"/>
                          <a:tab pos="711200" algn="l"/>
                          <a:tab pos="1066800" algn="l"/>
                          <a:tab pos="1422400" algn="l"/>
                          <a:tab pos="1778000" algn="l"/>
                          <a:tab pos="2133600" algn="l"/>
                          <a:tab pos="2489200" algn="l"/>
                          <a:tab pos="2844800" algn="l"/>
                          <a:tab pos="3200400" algn="l"/>
                          <a:tab pos="3556000" algn="l"/>
                          <a:tab pos="3911600" algn="l"/>
                          <a:tab pos="4267200" algn="l"/>
                        </a:tabLst>
                        <a:defRPr sz="1800" b="0" i="0" cap="none"/>
                      </a:pPr>
                      <a:r>
                        <a:rPr lang="de-DE" sz="1600" dirty="0" smtClean="0"/>
                        <a:t>42785</a:t>
                      </a:r>
                      <a:endParaRPr sz="1600" dirty="0"/>
                    </a:p>
                  </a:txBody>
                  <a:tcPr marL="63500" marR="63500" marT="63500" marB="63500" horzOverflow="overflow"/>
                </a:tc>
                <a:tc>
                  <a:txBody>
                    <a:bodyPr/>
                    <a:lstStyle/>
                    <a:p>
                      <a:pPr algn="r">
                        <a:tabLst>
                          <a:tab pos="355600" algn="l"/>
                          <a:tab pos="711200" algn="l"/>
                          <a:tab pos="1066800" algn="l"/>
                          <a:tab pos="1422400" algn="l"/>
                          <a:tab pos="1778000" algn="l"/>
                          <a:tab pos="2133600" algn="l"/>
                          <a:tab pos="2489200" algn="l"/>
                          <a:tab pos="2844800" algn="l"/>
                          <a:tab pos="3200400" algn="l"/>
                          <a:tab pos="3556000" algn="l"/>
                          <a:tab pos="3911600" algn="l"/>
                          <a:tab pos="4267200" algn="l"/>
                        </a:tabLst>
                        <a:defRPr sz="1800" b="0" i="0" cap="none"/>
                      </a:pPr>
                      <a:r>
                        <a:rPr lang="de-DE" sz="1600" dirty="0" smtClean="0"/>
                        <a:t>B23 7QG</a:t>
                      </a:r>
                      <a:endParaRPr sz="1600" dirty="0"/>
                    </a:p>
                  </a:txBody>
                  <a:tcPr marL="63500" marR="63500" marT="63500" marB="63500" horzOverflow="overflow"/>
                </a:tc>
                <a:tc>
                  <a:txBody>
                    <a:bodyPr/>
                    <a:lstStyle/>
                    <a:p>
                      <a:pPr algn="r">
                        <a:defRPr sz="1800" b="0" i="0" cap="none"/>
                      </a:pPr>
                      <a:r>
                        <a:rPr lang="de-DE" sz="1600" dirty="0" smtClean="0"/>
                        <a:t>GB</a:t>
                      </a:r>
                      <a:endParaRPr sz="1600" dirty="0"/>
                    </a:p>
                  </a:txBody>
                  <a:tcPr marL="63500" marR="63500" marT="63500" marB="63500" horzOverflow="overflow"/>
                </a:tc>
              </a:tr>
              <a:tr h="434072">
                <a:tc>
                  <a:txBody>
                    <a:bodyPr/>
                    <a:lstStyle/>
                    <a:p>
                      <a:pPr algn="r">
                        <a:tabLst>
                          <a:tab pos="355600" algn="l"/>
                          <a:tab pos="711200" algn="l"/>
                          <a:tab pos="1066800" algn="l"/>
                          <a:tab pos="1422400" algn="l"/>
                          <a:tab pos="1778000" algn="l"/>
                          <a:tab pos="2133600" algn="l"/>
                          <a:tab pos="2489200" algn="l"/>
                          <a:tab pos="2844800" algn="l"/>
                          <a:tab pos="3200400" algn="l"/>
                          <a:tab pos="3556000" algn="l"/>
                          <a:tab pos="3911600" algn="l"/>
                          <a:tab pos="4267200" algn="l"/>
                        </a:tabLst>
                        <a:defRPr sz="1800" b="0" i="0" cap="none"/>
                      </a:pPr>
                      <a:r>
                        <a:rPr lang="de-DE" sz="1600" dirty="0" err="1" smtClean="0"/>
                        <a:t>Ewood</a:t>
                      </a:r>
                      <a:r>
                        <a:rPr lang="de-DE" sz="1600" dirty="0" smtClean="0"/>
                        <a:t> Park</a:t>
                      </a:r>
                      <a:endParaRPr sz="1600" dirty="0"/>
                    </a:p>
                  </a:txBody>
                  <a:tcPr marL="63500" marR="63500" marT="63500" marB="63500" horzOverflow="overflow"/>
                </a:tc>
                <a:tc>
                  <a:txBody>
                    <a:bodyPr/>
                    <a:lstStyle/>
                    <a:p>
                      <a:pPr algn="r">
                        <a:tabLst>
                          <a:tab pos="355600" algn="l"/>
                          <a:tab pos="711200" algn="l"/>
                          <a:tab pos="1066800" algn="l"/>
                          <a:tab pos="1422400" algn="l"/>
                          <a:tab pos="1778000" algn="l"/>
                          <a:tab pos="2133600" algn="l"/>
                          <a:tab pos="2489200" algn="l"/>
                          <a:tab pos="2844800" algn="l"/>
                          <a:tab pos="3200400" algn="l"/>
                          <a:tab pos="3556000" algn="l"/>
                          <a:tab pos="3911600" algn="l"/>
                          <a:tab pos="4267200" algn="l"/>
                        </a:tabLst>
                        <a:defRPr sz="1800" b="0" i="0" cap="none"/>
                      </a:pPr>
                      <a:r>
                        <a:rPr lang="de-DE" sz="1600" dirty="0" smtClean="0"/>
                        <a:t>31154</a:t>
                      </a:r>
                      <a:endParaRPr sz="1600" dirty="0"/>
                    </a:p>
                  </a:txBody>
                  <a:tcPr marL="63500" marR="63500" marT="63500" marB="63500" horzOverflow="overflow"/>
                </a:tc>
                <a:tc>
                  <a:txBody>
                    <a:bodyPr/>
                    <a:lstStyle/>
                    <a:p>
                      <a:pPr algn="r">
                        <a:defRPr sz="1800" b="0" i="0" cap="none"/>
                      </a:pPr>
                      <a:r>
                        <a:rPr lang="de-DE" sz="1600" dirty="0" smtClean="0"/>
                        <a:t>B26 6QA</a:t>
                      </a:r>
                      <a:endParaRPr sz="1600" dirty="0"/>
                    </a:p>
                  </a:txBody>
                  <a:tcPr marL="63500" marR="63500" marT="63500" marB="63500" horzOverflow="overflow"/>
                </a:tc>
                <a:tc>
                  <a:txBody>
                    <a:bodyPr/>
                    <a:lstStyle/>
                    <a:p>
                      <a:pPr algn="r">
                        <a:defRPr sz="1800" b="0" i="0" cap="none"/>
                      </a:pPr>
                      <a:r>
                        <a:rPr lang="de-DE" sz="1600" dirty="0" smtClean="0"/>
                        <a:t>GB</a:t>
                      </a:r>
                      <a:endParaRPr sz="1600" dirty="0"/>
                    </a:p>
                  </a:txBody>
                  <a:tcPr marL="63500" marR="63500" marT="63500" marB="63500" horzOverflow="overflow"/>
                </a:tc>
              </a:tr>
              <a:tr h="434072">
                <a:tc>
                  <a:txBody>
                    <a:bodyPr/>
                    <a:lstStyle/>
                    <a:p>
                      <a:pPr algn="r">
                        <a:tabLst>
                          <a:tab pos="355600" algn="l"/>
                          <a:tab pos="711200" algn="l"/>
                          <a:tab pos="1066800" algn="l"/>
                          <a:tab pos="1422400" algn="l"/>
                          <a:tab pos="1778000" algn="l"/>
                          <a:tab pos="2133600" algn="l"/>
                          <a:tab pos="2489200" algn="l"/>
                          <a:tab pos="2844800" algn="l"/>
                          <a:tab pos="3200400" algn="l"/>
                          <a:tab pos="3556000" algn="l"/>
                          <a:tab pos="3911600" algn="l"/>
                          <a:tab pos="4267200" algn="l"/>
                        </a:tabLst>
                        <a:defRPr sz="1800" b="0" i="0" cap="none"/>
                      </a:pPr>
                      <a:r>
                        <a:rPr sz="1600" dirty="0"/>
                        <a:t>…</a:t>
                      </a:r>
                    </a:p>
                  </a:txBody>
                  <a:tcPr marL="63500" marR="63500" marT="63500" marB="63500" horzOverflow="overflow"/>
                </a:tc>
                <a:tc>
                  <a:txBody>
                    <a:bodyPr/>
                    <a:lstStyle/>
                    <a:p>
                      <a:pPr algn="r">
                        <a:tabLst>
                          <a:tab pos="355600" algn="l"/>
                          <a:tab pos="711200" algn="l"/>
                          <a:tab pos="1066800" algn="l"/>
                          <a:tab pos="1422400" algn="l"/>
                          <a:tab pos="1778000" algn="l"/>
                          <a:tab pos="2133600" algn="l"/>
                          <a:tab pos="2489200" algn="l"/>
                          <a:tab pos="2844800" algn="l"/>
                          <a:tab pos="3200400" algn="l"/>
                          <a:tab pos="3556000" algn="l"/>
                          <a:tab pos="3911600" algn="l"/>
                          <a:tab pos="4267200" algn="l"/>
                        </a:tabLst>
                        <a:defRPr sz="1800" b="0" i="0" cap="none"/>
                      </a:pPr>
                      <a:r>
                        <a:rPr sz="1600"/>
                        <a:t>…</a:t>
                      </a:r>
                    </a:p>
                  </a:txBody>
                  <a:tcPr marL="63500" marR="63500" marT="63500" marB="63500" horzOverflow="overflow"/>
                </a:tc>
                <a:tc>
                  <a:txBody>
                    <a:bodyPr/>
                    <a:lstStyle/>
                    <a:p>
                      <a:pPr algn="r">
                        <a:defRPr sz="1800" b="0" i="0" cap="none"/>
                      </a:pPr>
                      <a:r>
                        <a:rPr sz="1600"/>
                        <a:t>…</a:t>
                      </a:r>
                    </a:p>
                  </a:txBody>
                  <a:tcPr marL="63500" marR="63500" marT="63500" marB="63500" horzOverflow="overflow"/>
                </a:tc>
                <a:tc>
                  <a:txBody>
                    <a:bodyPr/>
                    <a:lstStyle/>
                    <a:p>
                      <a:pPr algn="r">
                        <a:defRPr sz="1800" b="0" i="0" cap="none"/>
                      </a:pPr>
                      <a:r>
                        <a:rPr sz="1600" dirty="0"/>
                        <a:t>…</a:t>
                      </a:r>
                    </a:p>
                  </a:txBody>
                  <a:tcPr marL="63500" marR="63500" marT="63500" marB="63500" horzOverflow="overflow"/>
                </a:tc>
              </a:tr>
            </a:tbl>
          </a:graphicData>
        </a:graphic>
      </p:graphicFrame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(Cont’d)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B03EE-0F65-4FB3-87AD-3AF455168DB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74978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7" name="Table 227"/>
          <p:cNvGraphicFramePr/>
          <p:nvPr>
            <p:extLst>
              <p:ext uri="{D42A27DB-BD31-4B8C-83A1-F6EECF244321}">
                <p14:modId xmlns:p14="http://schemas.microsoft.com/office/powerpoint/2010/main" val="3887147740"/>
              </p:ext>
            </p:extLst>
          </p:nvPr>
        </p:nvGraphicFramePr>
        <p:xfrm>
          <a:off x="647700" y="4000500"/>
          <a:ext cx="7577731" cy="2170360"/>
        </p:xfrm>
        <a:graphic>
          <a:graphicData uri="http://schemas.openxmlformats.org/drawingml/2006/table">
            <a:tbl>
              <a:tblPr bandRow="1"/>
              <a:tblGrid>
                <a:gridCol w="2601880"/>
                <a:gridCol w="1186985"/>
                <a:gridCol w="1894433"/>
                <a:gridCol w="1894433"/>
              </a:tblGrid>
              <a:tr h="434072">
                <a:tc>
                  <a:txBody>
                    <a:bodyPr/>
                    <a:lstStyle/>
                    <a:p>
                      <a:pPr algn="ctr">
                        <a:defRPr sz="1800" b="0" i="0" cap="none"/>
                      </a:pPr>
                      <a:endParaRPr b="1" i="1" dirty="0"/>
                    </a:p>
                  </a:txBody>
                  <a:tcPr marL="63500" marR="63500" marT="63500" marB="63500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 b="0" i="0" cap="none"/>
                      </a:pPr>
                      <a:r>
                        <a:rPr lang="de-DE" b="0" i="1" dirty="0" smtClean="0"/>
                        <a:t>TOTAL</a:t>
                      </a:r>
                      <a:endParaRPr b="0" i="1" dirty="0"/>
                    </a:p>
                  </a:txBody>
                  <a:tcPr marL="63500" marR="63500" marT="63500" marB="63500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 b="0" i="0" cap="none"/>
                      </a:pPr>
                      <a:r>
                        <a:rPr lang="de-DE" b="0" i="1" dirty="0" smtClean="0"/>
                        <a:t>DISTRICT_CODE</a:t>
                      </a:r>
                      <a:endParaRPr b="0" i="1" dirty="0"/>
                    </a:p>
                  </a:txBody>
                  <a:tcPr marL="63500" marR="63500" marT="63500" marB="63500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 b="0" i="0" cap="none"/>
                      </a:pPr>
                      <a:r>
                        <a:rPr lang="de-DE" b="0" i="1" dirty="0" smtClean="0"/>
                        <a:t>ISO_2</a:t>
                      </a:r>
                      <a:endParaRPr b="0" i="1" dirty="0"/>
                    </a:p>
                  </a:txBody>
                  <a:tcPr marL="63500" marR="63500" marT="63500" marB="63500" horzOverflow="overflow"/>
                </a:tc>
              </a:tr>
              <a:tr h="434072">
                <a:tc>
                  <a:txBody>
                    <a:bodyPr/>
                    <a:lstStyle/>
                    <a:p>
                      <a:pPr algn="r" defTabSz="457200">
                        <a:tabLst>
                          <a:tab pos="355600" algn="l"/>
                          <a:tab pos="711200" algn="l"/>
                          <a:tab pos="1066800" algn="l"/>
                          <a:tab pos="1422400" algn="l"/>
                          <a:tab pos="1778000" algn="l"/>
                          <a:tab pos="2133600" algn="l"/>
                          <a:tab pos="2489200" algn="l"/>
                          <a:tab pos="2844800" algn="l"/>
                          <a:tab pos="3200400" algn="l"/>
                          <a:tab pos="3556000" algn="l"/>
                          <a:tab pos="3911600" algn="l"/>
                          <a:tab pos="4267200" algn="l"/>
                        </a:tabLst>
                        <a:defRPr sz="1800" b="0" i="0" cap="none"/>
                      </a:pPr>
                      <a:r>
                        <a:rPr lang="de-DE" sz="1600" dirty="0" smtClean="0"/>
                        <a:t>Emirates Stadium</a:t>
                      </a:r>
                      <a:endParaRPr sz="1600" dirty="0"/>
                    </a:p>
                  </a:txBody>
                  <a:tcPr marL="63500" marR="63500" marT="63500" marB="63500" horzOverflow="overflow"/>
                </a:tc>
                <a:tc>
                  <a:txBody>
                    <a:bodyPr/>
                    <a:lstStyle/>
                    <a:p>
                      <a:pPr algn="r">
                        <a:tabLst>
                          <a:tab pos="355600" algn="l"/>
                          <a:tab pos="711200" algn="l"/>
                          <a:tab pos="1066800" algn="l"/>
                          <a:tab pos="1422400" algn="l"/>
                          <a:tab pos="1778000" algn="l"/>
                          <a:tab pos="2133600" algn="l"/>
                          <a:tab pos="2489200" algn="l"/>
                          <a:tab pos="2844800" algn="l"/>
                          <a:tab pos="3200400" algn="l"/>
                          <a:tab pos="3556000" algn="l"/>
                          <a:tab pos="3911600" algn="l"/>
                          <a:tab pos="4267200" algn="l"/>
                        </a:tabLst>
                        <a:defRPr sz="1800" b="0" i="0" cap="none"/>
                      </a:pPr>
                      <a:r>
                        <a:rPr lang="de-DE" sz="1600" dirty="0" smtClean="0"/>
                        <a:t>60361</a:t>
                      </a:r>
                      <a:endParaRPr sz="1600" dirty="0"/>
                    </a:p>
                  </a:txBody>
                  <a:tcPr marL="63500" marR="63500" marT="63500" marB="63500" horzOverflow="overflow"/>
                </a:tc>
                <a:tc>
                  <a:txBody>
                    <a:bodyPr/>
                    <a:lstStyle/>
                    <a:p>
                      <a:pPr algn="r">
                        <a:tabLst>
                          <a:tab pos="355600" algn="l"/>
                          <a:tab pos="711200" algn="l"/>
                          <a:tab pos="1066800" algn="l"/>
                          <a:tab pos="1422400" algn="l"/>
                          <a:tab pos="1778000" algn="l"/>
                          <a:tab pos="2133600" algn="l"/>
                          <a:tab pos="2489200" algn="l"/>
                          <a:tab pos="2844800" algn="l"/>
                          <a:tab pos="3200400" algn="l"/>
                          <a:tab pos="3556000" algn="l"/>
                          <a:tab pos="3911600" algn="l"/>
                          <a:tab pos="4267200" algn="l"/>
                        </a:tabLst>
                        <a:defRPr sz="1800" b="0" i="0" cap="none"/>
                      </a:pPr>
                      <a:r>
                        <a:rPr lang="de-DE" sz="1600" dirty="0" smtClean="0"/>
                        <a:t>SW1A 0AA</a:t>
                      </a:r>
                      <a:endParaRPr sz="1600" dirty="0"/>
                    </a:p>
                  </a:txBody>
                  <a:tcPr marL="63500" marR="63500" marT="63500" marB="63500" horzOverflow="overflow"/>
                </a:tc>
                <a:tc>
                  <a:txBody>
                    <a:bodyPr/>
                    <a:lstStyle/>
                    <a:p>
                      <a:pPr algn="r">
                        <a:defRPr sz="1800" b="0" i="0" cap="none"/>
                      </a:pPr>
                      <a:r>
                        <a:rPr lang="de-DE" sz="1600" dirty="0" smtClean="0"/>
                        <a:t>GB</a:t>
                      </a:r>
                      <a:endParaRPr sz="1600" dirty="0"/>
                    </a:p>
                  </a:txBody>
                  <a:tcPr marL="63500" marR="63500" marT="63500" marB="63500" horzOverflow="overflow"/>
                </a:tc>
              </a:tr>
              <a:tr h="434072">
                <a:tc>
                  <a:txBody>
                    <a:bodyPr/>
                    <a:lstStyle/>
                    <a:p>
                      <a:pPr algn="r">
                        <a:tabLst>
                          <a:tab pos="355600" algn="l"/>
                          <a:tab pos="711200" algn="l"/>
                          <a:tab pos="1066800" algn="l"/>
                          <a:tab pos="1422400" algn="l"/>
                          <a:tab pos="1778000" algn="l"/>
                          <a:tab pos="2133600" algn="l"/>
                          <a:tab pos="2489200" algn="l"/>
                          <a:tab pos="2844800" algn="l"/>
                          <a:tab pos="3200400" algn="l"/>
                          <a:tab pos="3556000" algn="l"/>
                          <a:tab pos="3911600" algn="l"/>
                          <a:tab pos="4267200" algn="l"/>
                        </a:tabLst>
                        <a:defRPr sz="1800" b="0" i="0" cap="none"/>
                      </a:pPr>
                      <a:r>
                        <a:rPr lang="de-DE" sz="1600" dirty="0" smtClean="0"/>
                        <a:t>Villa Park</a:t>
                      </a:r>
                      <a:endParaRPr sz="1600" dirty="0"/>
                    </a:p>
                  </a:txBody>
                  <a:tcPr marL="63500" marR="63500" marT="63500" marB="63500" horzOverflow="overflow"/>
                </a:tc>
                <a:tc>
                  <a:txBody>
                    <a:bodyPr/>
                    <a:lstStyle/>
                    <a:p>
                      <a:pPr algn="r">
                        <a:tabLst>
                          <a:tab pos="355600" algn="l"/>
                          <a:tab pos="711200" algn="l"/>
                          <a:tab pos="1066800" algn="l"/>
                          <a:tab pos="1422400" algn="l"/>
                          <a:tab pos="1778000" algn="l"/>
                          <a:tab pos="2133600" algn="l"/>
                          <a:tab pos="2489200" algn="l"/>
                          <a:tab pos="2844800" algn="l"/>
                          <a:tab pos="3200400" algn="l"/>
                          <a:tab pos="3556000" algn="l"/>
                          <a:tab pos="3911600" algn="l"/>
                          <a:tab pos="4267200" algn="l"/>
                        </a:tabLst>
                        <a:defRPr sz="1800" b="0" i="0" cap="none"/>
                      </a:pPr>
                      <a:r>
                        <a:rPr lang="de-DE" sz="1600" dirty="0" smtClean="0"/>
                        <a:t>42785</a:t>
                      </a:r>
                      <a:endParaRPr sz="1600" dirty="0"/>
                    </a:p>
                  </a:txBody>
                  <a:tcPr marL="63500" marR="63500" marT="63500" marB="63500" horzOverflow="overflow"/>
                </a:tc>
                <a:tc>
                  <a:txBody>
                    <a:bodyPr/>
                    <a:lstStyle/>
                    <a:p>
                      <a:pPr algn="r">
                        <a:tabLst>
                          <a:tab pos="355600" algn="l"/>
                          <a:tab pos="711200" algn="l"/>
                          <a:tab pos="1066800" algn="l"/>
                          <a:tab pos="1422400" algn="l"/>
                          <a:tab pos="1778000" algn="l"/>
                          <a:tab pos="2133600" algn="l"/>
                          <a:tab pos="2489200" algn="l"/>
                          <a:tab pos="2844800" algn="l"/>
                          <a:tab pos="3200400" algn="l"/>
                          <a:tab pos="3556000" algn="l"/>
                          <a:tab pos="3911600" algn="l"/>
                          <a:tab pos="4267200" algn="l"/>
                        </a:tabLst>
                        <a:defRPr sz="1800" b="0" i="0" cap="none"/>
                      </a:pPr>
                      <a:r>
                        <a:rPr lang="de-DE" sz="1600" dirty="0" smtClean="0"/>
                        <a:t>B23 7QG</a:t>
                      </a:r>
                      <a:endParaRPr sz="1600" dirty="0"/>
                    </a:p>
                  </a:txBody>
                  <a:tcPr marL="63500" marR="63500" marT="63500" marB="63500" horzOverflow="overflow"/>
                </a:tc>
                <a:tc>
                  <a:txBody>
                    <a:bodyPr/>
                    <a:lstStyle/>
                    <a:p>
                      <a:pPr algn="r">
                        <a:defRPr sz="1800" b="0" i="0" cap="none"/>
                      </a:pPr>
                      <a:r>
                        <a:rPr lang="de-DE" sz="1600" dirty="0" smtClean="0"/>
                        <a:t>GB</a:t>
                      </a:r>
                      <a:endParaRPr sz="1600" dirty="0"/>
                    </a:p>
                  </a:txBody>
                  <a:tcPr marL="63500" marR="63500" marT="63500" marB="63500" horzOverflow="overflow"/>
                </a:tc>
              </a:tr>
              <a:tr h="434072">
                <a:tc>
                  <a:txBody>
                    <a:bodyPr/>
                    <a:lstStyle/>
                    <a:p>
                      <a:pPr algn="r">
                        <a:tabLst>
                          <a:tab pos="355600" algn="l"/>
                          <a:tab pos="711200" algn="l"/>
                          <a:tab pos="1066800" algn="l"/>
                          <a:tab pos="1422400" algn="l"/>
                          <a:tab pos="1778000" algn="l"/>
                          <a:tab pos="2133600" algn="l"/>
                          <a:tab pos="2489200" algn="l"/>
                          <a:tab pos="2844800" algn="l"/>
                          <a:tab pos="3200400" algn="l"/>
                          <a:tab pos="3556000" algn="l"/>
                          <a:tab pos="3911600" algn="l"/>
                          <a:tab pos="4267200" algn="l"/>
                        </a:tabLst>
                        <a:defRPr sz="1800" b="0" i="0" cap="none"/>
                      </a:pPr>
                      <a:r>
                        <a:rPr lang="de-DE" sz="1600" dirty="0" err="1" smtClean="0"/>
                        <a:t>Ewood</a:t>
                      </a:r>
                      <a:r>
                        <a:rPr lang="de-DE" sz="1600" dirty="0" smtClean="0"/>
                        <a:t> Park</a:t>
                      </a:r>
                      <a:endParaRPr sz="1600" dirty="0"/>
                    </a:p>
                  </a:txBody>
                  <a:tcPr marL="63500" marR="63500" marT="63500" marB="63500" horzOverflow="overflow"/>
                </a:tc>
                <a:tc>
                  <a:txBody>
                    <a:bodyPr/>
                    <a:lstStyle/>
                    <a:p>
                      <a:pPr algn="r">
                        <a:tabLst>
                          <a:tab pos="355600" algn="l"/>
                          <a:tab pos="711200" algn="l"/>
                          <a:tab pos="1066800" algn="l"/>
                          <a:tab pos="1422400" algn="l"/>
                          <a:tab pos="1778000" algn="l"/>
                          <a:tab pos="2133600" algn="l"/>
                          <a:tab pos="2489200" algn="l"/>
                          <a:tab pos="2844800" algn="l"/>
                          <a:tab pos="3200400" algn="l"/>
                          <a:tab pos="3556000" algn="l"/>
                          <a:tab pos="3911600" algn="l"/>
                          <a:tab pos="4267200" algn="l"/>
                        </a:tabLst>
                        <a:defRPr sz="1800" b="0" i="0" cap="none"/>
                      </a:pPr>
                      <a:r>
                        <a:rPr lang="de-DE" sz="1600" dirty="0" smtClean="0"/>
                        <a:t>31154</a:t>
                      </a:r>
                      <a:endParaRPr sz="1600" dirty="0"/>
                    </a:p>
                  </a:txBody>
                  <a:tcPr marL="63500" marR="63500" marT="63500" marB="63500" horzOverflow="overflow"/>
                </a:tc>
                <a:tc>
                  <a:txBody>
                    <a:bodyPr/>
                    <a:lstStyle/>
                    <a:p>
                      <a:pPr algn="r">
                        <a:defRPr sz="1800" b="0" i="0" cap="none"/>
                      </a:pPr>
                      <a:r>
                        <a:rPr lang="de-DE" sz="1600" dirty="0" smtClean="0"/>
                        <a:t>B26 6QA</a:t>
                      </a:r>
                      <a:endParaRPr sz="1600" dirty="0"/>
                    </a:p>
                  </a:txBody>
                  <a:tcPr marL="63500" marR="63500" marT="63500" marB="63500" horzOverflow="overflow"/>
                </a:tc>
                <a:tc>
                  <a:txBody>
                    <a:bodyPr/>
                    <a:lstStyle/>
                    <a:p>
                      <a:pPr algn="r">
                        <a:defRPr sz="1800" b="0" i="0" cap="none"/>
                      </a:pPr>
                      <a:r>
                        <a:rPr lang="de-DE" sz="1600" dirty="0" smtClean="0"/>
                        <a:t>GB</a:t>
                      </a:r>
                      <a:endParaRPr sz="1600" dirty="0"/>
                    </a:p>
                  </a:txBody>
                  <a:tcPr marL="63500" marR="63500" marT="63500" marB="63500" horzOverflow="overflow"/>
                </a:tc>
              </a:tr>
              <a:tr h="434072">
                <a:tc>
                  <a:txBody>
                    <a:bodyPr/>
                    <a:lstStyle/>
                    <a:p>
                      <a:pPr algn="r">
                        <a:tabLst>
                          <a:tab pos="355600" algn="l"/>
                          <a:tab pos="711200" algn="l"/>
                          <a:tab pos="1066800" algn="l"/>
                          <a:tab pos="1422400" algn="l"/>
                          <a:tab pos="1778000" algn="l"/>
                          <a:tab pos="2133600" algn="l"/>
                          <a:tab pos="2489200" algn="l"/>
                          <a:tab pos="2844800" algn="l"/>
                          <a:tab pos="3200400" algn="l"/>
                          <a:tab pos="3556000" algn="l"/>
                          <a:tab pos="3911600" algn="l"/>
                          <a:tab pos="4267200" algn="l"/>
                        </a:tabLst>
                        <a:defRPr sz="1800" b="0" i="0" cap="none"/>
                      </a:pPr>
                      <a:r>
                        <a:rPr sz="1600" dirty="0"/>
                        <a:t>…</a:t>
                      </a:r>
                    </a:p>
                  </a:txBody>
                  <a:tcPr marL="63500" marR="63500" marT="63500" marB="63500" horzOverflow="overflow"/>
                </a:tc>
                <a:tc>
                  <a:txBody>
                    <a:bodyPr/>
                    <a:lstStyle/>
                    <a:p>
                      <a:pPr algn="r">
                        <a:tabLst>
                          <a:tab pos="355600" algn="l"/>
                          <a:tab pos="711200" algn="l"/>
                          <a:tab pos="1066800" algn="l"/>
                          <a:tab pos="1422400" algn="l"/>
                          <a:tab pos="1778000" algn="l"/>
                          <a:tab pos="2133600" algn="l"/>
                          <a:tab pos="2489200" algn="l"/>
                          <a:tab pos="2844800" algn="l"/>
                          <a:tab pos="3200400" algn="l"/>
                          <a:tab pos="3556000" algn="l"/>
                          <a:tab pos="3911600" algn="l"/>
                          <a:tab pos="4267200" algn="l"/>
                        </a:tabLst>
                        <a:defRPr sz="1800" b="0" i="0" cap="none"/>
                      </a:pPr>
                      <a:r>
                        <a:rPr sz="1600"/>
                        <a:t>…</a:t>
                      </a:r>
                    </a:p>
                  </a:txBody>
                  <a:tcPr marL="63500" marR="63500" marT="63500" marB="63500" horzOverflow="overflow"/>
                </a:tc>
                <a:tc>
                  <a:txBody>
                    <a:bodyPr/>
                    <a:lstStyle/>
                    <a:p>
                      <a:pPr algn="r">
                        <a:defRPr sz="1800" b="0" i="0" cap="none"/>
                      </a:pPr>
                      <a:r>
                        <a:rPr sz="1600" dirty="0"/>
                        <a:t>…</a:t>
                      </a:r>
                    </a:p>
                  </a:txBody>
                  <a:tcPr marL="63500" marR="63500" marT="63500" marB="63500" horzOverflow="overflow"/>
                </a:tc>
                <a:tc>
                  <a:txBody>
                    <a:bodyPr/>
                    <a:lstStyle/>
                    <a:p>
                      <a:pPr algn="r">
                        <a:defRPr sz="1800" b="0" i="0" cap="none"/>
                      </a:pPr>
                      <a:r>
                        <a:rPr sz="1600" dirty="0"/>
                        <a:t>…</a:t>
                      </a:r>
                    </a:p>
                  </a:txBody>
                  <a:tcPr marL="63500" marR="63500" marT="63500" marB="63500" horzOverflow="overflow"/>
                </a:tc>
              </a:tr>
            </a:tbl>
          </a:graphicData>
        </a:graphic>
      </p:graphicFrame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not use numeric values?</a:t>
            </a:r>
            <a:endParaRPr lang="en-US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628650" y="1668865"/>
            <a:ext cx="7886700" cy="1287027"/>
          </a:xfrm>
        </p:spPr>
        <p:txBody>
          <a:bodyPr>
            <a:normAutofit/>
          </a:bodyPr>
          <a:lstStyle/>
          <a:p>
            <a:r>
              <a:rPr lang="en-US" sz="2400" dirty="0"/>
              <a:t>Identifying the most likely semantic label for a bag of </a:t>
            </a:r>
            <a:r>
              <a:rPr lang="en-US" sz="2400" dirty="0" smtClean="0"/>
              <a:t>numerical values</a:t>
            </a:r>
          </a:p>
          <a:p>
            <a:r>
              <a:rPr lang="en-US" sz="2400" dirty="0" smtClean="0"/>
              <a:t>Deliberately ignore surroundings</a:t>
            </a:r>
            <a:endParaRPr lang="en-US" sz="2400" dirty="0"/>
          </a:p>
          <a:p>
            <a:endParaRPr lang="en-US" sz="2400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B03EE-0F65-4FB3-87AD-3AF455168DB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5872544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5" name="Table 235"/>
          <p:cNvGraphicFramePr/>
          <p:nvPr>
            <p:extLst>
              <p:ext uri="{D42A27DB-BD31-4B8C-83A1-F6EECF244321}">
                <p14:modId xmlns:p14="http://schemas.microsoft.com/office/powerpoint/2010/main" val="271644548"/>
              </p:ext>
            </p:extLst>
          </p:nvPr>
        </p:nvGraphicFramePr>
        <p:xfrm>
          <a:off x="647700" y="4434840"/>
          <a:ext cx="7577731" cy="1736288"/>
        </p:xfrm>
        <a:graphic>
          <a:graphicData uri="http://schemas.openxmlformats.org/drawingml/2006/table">
            <a:tbl>
              <a:tblPr bandRow="1"/>
              <a:tblGrid>
                <a:gridCol w="2601880"/>
                <a:gridCol w="1186985"/>
                <a:gridCol w="1894433"/>
                <a:gridCol w="1894433"/>
              </a:tblGrid>
              <a:tr h="434072">
                <a:tc>
                  <a:txBody>
                    <a:bodyPr/>
                    <a:lstStyle/>
                    <a:p>
                      <a:pPr algn="r" defTabSz="457200">
                        <a:tabLst>
                          <a:tab pos="355600" algn="l"/>
                          <a:tab pos="711200" algn="l"/>
                          <a:tab pos="1066800" algn="l"/>
                          <a:tab pos="1422400" algn="l"/>
                          <a:tab pos="1778000" algn="l"/>
                          <a:tab pos="2133600" algn="l"/>
                          <a:tab pos="2489200" algn="l"/>
                          <a:tab pos="2844800" algn="l"/>
                          <a:tab pos="3200400" algn="l"/>
                          <a:tab pos="3556000" algn="l"/>
                          <a:tab pos="3911600" algn="l"/>
                          <a:tab pos="4267200" algn="l"/>
                        </a:tabLst>
                        <a:defRPr sz="1800" b="0" i="0" cap="none"/>
                      </a:pPr>
                      <a:r>
                        <a:rPr lang="de-DE" sz="1600" dirty="0" smtClean="0"/>
                        <a:t>Emirates Stadium</a:t>
                      </a:r>
                      <a:endParaRPr sz="1600" dirty="0"/>
                    </a:p>
                  </a:txBody>
                  <a:tcPr marL="63500" marR="63500" marT="63500" marB="63500" horzOverflow="overflow"/>
                </a:tc>
                <a:tc>
                  <a:txBody>
                    <a:bodyPr/>
                    <a:lstStyle/>
                    <a:p>
                      <a:pPr algn="r">
                        <a:tabLst>
                          <a:tab pos="355600" algn="l"/>
                          <a:tab pos="711200" algn="l"/>
                          <a:tab pos="1066800" algn="l"/>
                          <a:tab pos="1422400" algn="l"/>
                          <a:tab pos="1778000" algn="l"/>
                          <a:tab pos="2133600" algn="l"/>
                          <a:tab pos="2489200" algn="l"/>
                          <a:tab pos="2844800" algn="l"/>
                          <a:tab pos="3200400" algn="l"/>
                          <a:tab pos="3556000" algn="l"/>
                          <a:tab pos="3911600" algn="l"/>
                          <a:tab pos="4267200" algn="l"/>
                        </a:tabLst>
                        <a:defRPr sz="1800" b="0" i="0" cap="none"/>
                      </a:pPr>
                      <a:r>
                        <a:rPr lang="de-DE" sz="1600" dirty="0" smtClean="0"/>
                        <a:t>60361</a:t>
                      </a:r>
                      <a:endParaRPr sz="1600" dirty="0"/>
                    </a:p>
                  </a:txBody>
                  <a:tcPr marL="63500" marR="63500" marT="63500" marB="63500" horzOverflow="overflow"/>
                </a:tc>
                <a:tc>
                  <a:txBody>
                    <a:bodyPr/>
                    <a:lstStyle/>
                    <a:p>
                      <a:pPr algn="r">
                        <a:tabLst>
                          <a:tab pos="355600" algn="l"/>
                          <a:tab pos="711200" algn="l"/>
                          <a:tab pos="1066800" algn="l"/>
                          <a:tab pos="1422400" algn="l"/>
                          <a:tab pos="1778000" algn="l"/>
                          <a:tab pos="2133600" algn="l"/>
                          <a:tab pos="2489200" algn="l"/>
                          <a:tab pos="2844800" algn="l"/>
                          <a:tab pos="3200400" algn="l"/>
                          <a:tab pos="3556000" algn="l"/>
                          <a:tab pos="3911600" algn="l"/>
                          <a:tab pos="4267200" algn="l"/>
                        </a:tabLst>
                        <a:defRPr sz="1800" b="0" i="0" cap="none"/>
                      </a:pPr>
                      <a:r>
                        <a:rPr lang="de-DE" sz="1600" dirty="0" smtClean="0"/>
                        <a:t>SW1A 0AA</a:t>
                      </a:r>
                      <a:endParaRPr sz="1600" dirty="0"/>
                    </a:p>
                  </a:txBody>
                  <a:tcPr marL="63500" marR="63500" marT="63500" marB="63500" horzOverflow="overflow"/>
                </a:tc>
                <a:tc>
                  <a:txBody>
                    <a:bodyPr/>
                    <a:lstStyle/>
                    <a:p>
                      <a:pPr algn="r">
                        <a:defRPr sz="1800" b="0" i="0" cap="none"/>
                      </a:pPr>
                      <a:r>
                        <a:rPr lang="de-DE" sz="1600" dirty="0" smtClean="0"/>
                        <a:t>GB</a:t>
                      </a:r>
                      <a:endParaRPr sz="1600" dirty="0"/>
                    </a:p>
                  </a:txBody>
                  <a:tcPr marL="63500" marR="63500" marT="63500" marB="63500" horzOverflow="overflow"/>
                </a:tc>
              </a:tr>
              <a:tr h="434072">
                <a:tc>
                  <a:txBody>
                    <a:bodyPr/>
                    <a:lstStyle/>
                    <a:p>
                      <a:pPr algn="r">
                        <a:tabLst>
                          <a:tab pos="355600" algn="l"/>
                          <a:tab pos="711200" algn="l"/>
                          <a:tab pos="1066800" algn="l"/>
                          <a:tab pos="1422400" algn="l"/>
                          <a:tab pos="1778000" algn="l"/>
                          <a:tab pos="2133600" algn="l"/>
                          <a:tab pos="2489200" algn="l"/>
                          <a:tab pos="2844800" algn="l"/>
                          <a:tab pos="3200400" algn="l"/>
                          <a:tab pos="3556000" algn="l"/>
                          <a:tab pos="3911600" algn="l"/>
                          <a:tab pos="4267200" algn="l"/>
                        </a:tabLst>
                        <a:defRPr sz="1800" b="0" i="0" cap="none"/>
                      </a:pPr>
                      <a:r>
                        <a:rPr lang="de-DE" sz="1600" dirty="0" smtClean="0"/>
                        <a:t>Villa Park</a:t>
                      </a:r>
                      <a:endParaRPr sz="1600" dirty="0"/>
                    </a:p>
                  </a:txBody>
                  <a:tcPr marL="63500" marR="63500" marT="63500" marB="63500" horzOverflow="overflow"/>
                </a:tc>
                <a:tc>
                  <a:txBody>
                    <a:bodyPr/>
                    <a:lstStyle/>
                    <a:p>
                      <a:pPr algn="r">
                        <a:tabLst>
                          <a:tab pos="355600" algn="l"/>
                          <a:tab pos="711200" algn="l"/>
                          <a:tab pos="1066800" algn="l"/>
                          <a:tab pos="1422400" algn="l"/>
                          <a:tab pos="1778000" algn="l"/>
                          <a:tab pos="2133600" algn="l"/>
                          <a:tab pos="2489200" algn="l"/>
                          <a:tab pos="2844800" algn="l"/>
                          <a:tab pos="3200400" algn="l"/>
                          <a:tab pos="3556000" algn="l"/>
                          <a:tab pos="3911600" algn="l"/>
                          <a:tab pos="4267200" algn="l"/>
                        </a:tabLst>
                        <a:defRPr sz="1800" b="0" i="0" cap="none"/>
                      </a:pPr>
                      <a:r>
                        <a:rPr lang="de-DE" sz="1600" dirty="0" smtClean="0"/>
                        <a:t>42785</a:t>
                      </a:r>
                      <a:endParaRPr sz="1600" dirty="0"/>
                    </a:p>
                  </a:txBody>
                  <a:tcPr marL="63500" marR="63500" marT="63500" marB="63500" horzOverflow="overflow"/>
                </a:tc>
                <a:tc>
                  <a:txBody>
                    <a:bodyPr/>
                    <a:lstStyle/>
                    <a:p>
                      <a:pPr algn="r">
                        <a:tabLst>
                          <a:tab pos="355600" algn="l"/>
                          <a:tab pos="711200" algn="l"/>
                          <a:tab pos="1066800" algn="l"/>
                          <a:tab pos="1422400" algn="l"/>
                          <a:tab pos="1778000" algn="l"/>
                          <a:tab pos="2133600" algn="l"/>
                          <a:tab pos="2489200" algn="l"/>
                          <a:tab pos="2844800" algn="l"/>
                          <a:tab pos="3200400" algn="l"/>
                          <a:tab pos="3556000" algn="l"/>
                          <a:tab pos="3911600" algn="l"/>
                          <a:tab pos="4267200" algn="l"/>
                        </a:tabLst>
                        <a:defRPr sz="1800" b="0" i="0" cap="none"/>
                      </a:pPr>
                      <a:r>
                        <a:rPr lang="de-DE" sz="1600" dirty="0" smtClean="0"/>
                        <a:t>B23 7QG</a:t>
                      </a:r>
                      <a:endParaRPr sz="1600" dirty="0"/>
                    </a:p>
                  </a:txBody>
                  <a:tcPr marL="63500" marR="63500" marT="63500" marB="63500" horzOverflow="overflow"/>
                </a:tc>
                <a:tc>
                  <a:txBody>
                    <a:bodyPr/>
                    <a:lstStyle/>
                    <a:p>
                      <a:pPr algn="r">
                        <a:defRPr sz="1800" b="0" i="0" cap="none"/>
                      </a:pPr>
                      <a:r>
                        <a:rPr lang="de-DE" sz="1600" dirty="0" smtClean="0"/>
                        <a:t>GB</a:t>
                      </a:r>
                      <a:endParaRPr sz="1600" dirty="0"/>
                    </a:p>
                  </a:txBody>
                  <a:tcPr marL="63500" marR="63500" marT="63500" marB="63500" horzOverflow="overflow"/>
                </a:tc>
              </a:tr>
              <a:tr h="434072">
                <a:tc>
                  <a:txBody>
                    <a:bodyPr/>
                    <a:lstStyle/>
                    <a:p>
                      <a:pPr algn="r">
                        <a:tabLst>
                          <a:tab pos="355600" algn="l"/>
                          <a:tab pos="711200" algn="l"/>
                          <a:tab pos="1066800" algn="l"/>
                          <a:tab pos="1422400" algn="l"/>
                          <a:tab pos="1778000" algn="l"/>
                          <a:tab pos="2133600" algn="l"/>
                          <a:tab pos="2489200" algn="l"/>
                          <a:tab pos="2844800" algn="l"/>
                          <a:tab pos="3200400" algn="l"/>
                          <a:tab pos="3556000" algn="l"/>
                          <a:tab pos="3911600" algn="l"/>
                          <a:tab pos="4267200" algn="l"/>
                        </a:tabLst>
                        <a:defRPr sz="1800" b="0" i="0" cap="none"/>
                      </a:pPr>
                      <a:r>
                        <a:rPr lang="de-DE" sz="1600" dirty="0" err="1" smtClean="0"/>
                        <a:t>Ewood</a:t>
                      </a:r>
                      <a:r>
                        <a:rPr lang="de-DE" sz="1600" dirty="0" smtClean="0"/>
                        <a:t> Park</a:t>
                      </a:r>
                      <a:endParaRPr sz="1600" dirty="0"/>
                    </a:p>
                  </a:txBody>
                  <a:tcPr marL="63500" marR="63500" marT="63500" marB="63500" horzOverflow="overflow"/>
                </a:tc>
                <a:tc>
                  <a:txBody>
                    <a:bodyPr/>
                    <a:lstStyle/>
                    <a:p>
                      <a:pPr algn="r">
                        <a:tabLst>
                          <a:tab pos="355600" algn="l"/>
                          <a:tab pos="711200" algn="l"/>
                          <a:tab pos="1066800" algn="l"/>
                          <a:tab pos="1422400" algn="l"/>
                          <a:tab pos="1778000" algn="l"/>
                          <a:tab pos="2133600" algn="l"/>
                          <a:tab pos="2489200" algn="l"/>
                          <a:tab pos="2844800" algn="l"/>
                          <a:tab pos="3200400" algn="l"/>
                          <a:tab pos="3556000" algn="l"/>
                          <a:tab pos="3911600" algn="l"/>
                          <a:tab pos="4267200" algn="l"/>
                        </a:tabLst>
                        <a:defRPr sz="1800" b="0" i="0" cap="none"/>
                      </a:pPr>
                      <a:r>
                        <a:rPr lang="de-DE" sz="1600" dirty="0" smtClean="0"/>
                        <a:t>31154</a:t>
                      </a:r>
                      <a:endParaRPr sz="1600" dirty="0"/>
                    </a:p>
                  </a:txBody>
                  <a:tcPr marL="63500" marR="63500" marT="63500" marB="63500" horzOverflow="overflow"/>
                </a:tc>
                <a:tc>
                  <a:txBody>
                    <a:bodyPr/>
                    <a:lstStyle/>
                    <a:p>
                      <a:pPr algn="r">
                        <a:defRPr sz="1800" b="0" i="0" cap="none"/>
                      </a:pPr>
                      <a:r>
                        <a:rPr lang="de-DE" sz="1600" dirty="0" smtClean="0"/>
                        <a:t>B26 6QA</a:t>
                      </a:r>
                      <a:endParaRPr sz="1600" dirty="0"/>
                    </a:p>
                  </a:txBody>
                  <a:tcPr marL="63500" marR="63500" marT="63500" marB="63500" horzOverflow="overflow"/>
                </a:tc>
                <a:tc>
                  <a:txBody>
                    <a:bodyPr/>
                    <a:lstStyle/>
                    <a:p>
                      <a:pPr algn="r">
                        <a:defRPr sz="1800" b="0" i="0" cap="none"/>
                      </a:pPr>
                      <a:r>
                        <a:rPr lang="de-DE" sz="1600" dirty="0" smtClean="0"/>
                        <a:t>GB</a:t>
                      </a:r>
                      <a:endParaRPr sz="1600" dirty="0"/>
                    </a:p>
                  </a:txBody>
                  <a:tcPr marL="63500" marR="63500" marT="63500" marB="63500" horzOverflow="overflow"/>
                </a:tc>
              </a:tr>
              <a:tr h="434072">
                <a:tc>
                  <a:txBody>
                    <a:bodyPr/>
                    <a:lstStyle/>
                    <a:p>
                      <a:pPr algn="r">
                        <a:tabLst>
                          <a:tab pos="355600" algn="l"/>
                          <a:tab pos="711200" algn="l"/>
                          <a:tab pos="1066800" algn="l"/>
                          <a:tab pos="1422400" algn="l"/>
                          <a:tab pos="1778000" algn="l"/>
                          <a:tab pos="2133600" algn="l"/>
                          <a:tab pos="2489200" algn="l"/>
                          <a:tab pos="2844800" algn="l"/>
                          <a:tab pos="3200400" algn="l"/>
                          <a:tab pos="3556000" algn="l"/>
                          <a:tab pos="3911600" algn="l"/>
                          <a:tab pos="4267200" algn="l"/>
                        </a:tabLst>
                        <a:defRPr sz="1800" b="0" i="0" cap="none"/>
                      </a:pPr>
                      <a:r>
                        <a:rPr sz="1600" dirty="0"/>
                        <a:t>…</a:t>
                      </a:r>
                    </a:p>
                  </a:txBody>
                  <a:tcPr marL="63500" marR="63500" marT="63500" marB="63500" horzOverflow="overflow"/>
                </a:tc>
                <a:tc>
                  <a:txBody>
                    <a:bodyPr/>
                    <a:lstStyle/>
                    <a:p>
                      <a:pPr algn="r">
                        <a:tabLst>
                          <a:tab pos="355600" algn="l"/>
                          <a:tab pos="711200" algn="l"/>
                          <a:tab pos="1066800" algn="l"/>
                          <a:tab pos="1422400" algn="l"/>
                          <a:tab pos="1778000" algn="l"/>
                          <a:tab pos="2133600" algn="l"/>
                          <a:tab pos="2489200" algn="l"/>
                          <a:tab pos="2844800" algn="l"/>
                          <a:tab pos="3200400" algn="l"/>
                          <a:tab pos="3556000" algn="l"/>
                          <a:tab pos="3911600" algn="l"/>
                          <a:tab pos="4267200" algn="l"/>
                        </a:tabLst>
                        <a:defRPr sz="1800" b="0" i="0" cap="none"/>
                      </a:pPr>
                      <a:r>
                        <a:rPr sz="1600"/>
                        <a:t>…</a:t>
                      </a:r>
                    </a:p>
                  </a:txBody>
                  <a:tcPr marL="63500" marR="63500" marT="63500" marB="63500" horzOverflow="overflow"/>
                </a:tc>
                <a:tc>
                  <a:txBody>
                    <a:bodyPr/>
                    <a:lstStyle/>
                    <a:p>
                      <a:pPr algn="r">
                        <a:defRPr sz="1800" b="0" i="0" cap="none"/>
                      </a:pPr>
                      <a:r>
                        <a:rPr sz="1600" dirty="0"/>
                        <a:t>…</a:t>
                      </a:r>
                    </a:p>
                  </a:txBody>
                  <a:tcPr marL="63500" marR="63500" marT="63500" marB="63500" horzOverflow="overflow"/>
                </a:tc>
                <a:tc>
                  <a:txBody>
                    <a:bodyPr/>
                    <a:lstStyle/>
                    <a:p>
                      <a:pPr algn="r">
                        <a:defRPr sz="1800" b="0" i="0" cap="none"/>
                      </a:pPr>
                      <a:r>
                        <a:rPr sz="1600" dirty="0"/>
                        <a:t>…</a:t>
                      </a:r>
                    </a:p>
                  </a:txBody>
                  <a:tcPr marL="63500" marR="63500" marT="63500" marB="63500" horzOverflow="overflow"/>
                </a:tc>
              </a:tr>
            </a:tbl>
          </a:graphicData>
        </a:graphic>
      </p:graphicFrame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not use numeric values?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B03EE-0F65-4FB3-87AD-3AF455168DB9}" type="slidenum">
              <a:rPr lang="en-US" smtClean="0"/>
              <a:t>9</a:t>
            </a:fld>
            <a:endParaRPr lang="en-US"/>
          </a:p>
        </p:txBody>
      </p:sp>
      <p:sp>
        <p:nvSpPr>
          <p:cNvPr id="10" name="Inhaltsplatzhalter 2"/>
          <p:cNvSpPr txBox="1">
            <a:spLocks/>
          </p:cNvSpPr>
          <p:nvPr/>
        </p:nvSpPr>
        <p:spPr>
          <a:xfrm>
            <a:off x="628650" y="1668865"/>
            <a:ext cx="7886700" cy="12870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smtClean="0"/>
              <a:t>Identifying the most likely semantic label for a bag of numerical values</a:t>
            </a:r>
          </a:p>
          <a:p>
            <a:r>
              <a:rPr lang="en-US" sz="2400" smtClean="0"/>
              <a:t>Deliberately ignore surroundings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831386136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5" name="Table 235"/>
          <p:cNvGraphicFramePr/>
          <p:nvPr>
            <p:extLst>
              <p:ext uri="{D42A27DB-BD31-4B8C-83A1-F6EECF244321}">
                <p14:modId xmlns:p14="http://schemas.microsoft.com/office/powerpoint/2010/main" val="1944516538"/>
              </p:ext>
            </p:extLst>
          </p:nvPr>
        </p:nvGraphicFramePr>
        <p:xfrm>
          <a:off x="3247684" y="4434840"/>
          <a:ext cx="1186985" cy="1736288"/>
        </p:xfrm>
        <a:graphic>
          <a:graphicData uri="http://schemas.openxmlformats.org/drawingml/2006/table">
            <a:tbl>
              <a:tblPr bandRow="1"/>
              <a:tblGrid>
                <a:gridCol w="1186985"/>
              </a:tblGrid>
              <a:tr h="434072">
                <a:tc>
                  <a:txBody>
                    <a:bodyPr/>
                    <a:lstStyle/>
                    <a:p>
                      <a:pPr algn="r">
                        <a:tabLst>
                          <a:tab pos="355600" algn="l"/>
                          <a:tab pos="711200" algn="l"/>
                          <a:tab pos="1066800" algn="l"/>
                          <a:tab pos="1422400" algn="l"/>
                          <a:tab pos="1778000" algn="l"/>
                          <a:tab pos="2133600" algn="l"/>
                          <a:tab pos="2489200" algn="l"/>
                          <a:tab pos="2844800" algn="l"/>
                          <a:tab pos="3200400" algn="l"/>
                          <a:tab pos="3556000" algn="l"/>
                          <a:tab pos="3911600" algn="l"/>
                          <a:tab pos="4267200" algn="l"/>
                        </a:tabLst>
                        <a:defRPr sz="1800" b="0" i="0" cap="none"/>
                      </a:pPr>
                      <a:r>
                        <a:rPr lang="de-DE" sz="1600" dirty="0" smtClean="0"/>
                        <a:t>60361</a:t>
                      </a:r>
                      <a:endParaRPr sz="1600" dirty="0"/>
                    </a:p>
                  </a:txBody>
                  <a:tcPr marL="63500" marR="63500" marT="63500" marB="63500" horzOverflow="overflow"/>
                </a:tc>
              </a:tr>
              <a:tr h="434072">
                <a:tc>
                  <a:txBody>
                    <a:bodyPr/>
                    <a:lstStyle/>
                    <a:p>
                      <a:pPr algn="r">
                        <a:tabLst>
                          <a:tab pos="355600" algn="l"/>
                          <a:tab pos="711200" algn="l"/>
                          <a:tab pos="1066800" algn="l"/>
                          <a:tab pos="1422400" algn="l"/>
                          <a:tab pos="1778000" algn="l"/>
                          <a:tab pos="2133600" algn="l"/>
                          <a:tab pos="2489200" algn="l"/>
                          <a:tab pos="2844800" algn="l"/>
                          <a:tab pos="3200400" algn="l"/>
                          <a:tab pos="3556000" algn="l"/>
                          <a:tab pos="3911600" algn="l"/>
                          <a:tab pos="4267200" algn="l"/>
                        </a:tabLst>
                        <a:defRPr sz="1800" b="0" i="0" cap="none"/>
                      </a:pPr>
                      <a:r>
                        <a:rPr lang="de-DE" sz="1600" dirty="0" smtClean="0"/>
                        <a:t>42785</a:t>
                      </a:r>
                      <a:endParaRPr sz="1600" dirty="0"/>
                    </a:p>
                  </a:txBody>
                  <a:tcPr marL="63500" marR="63500" marT="63500" marB="63500" horzOverflow="overflow"/>
                </a:tc>
              </a:tr>
              <a:tr h="434072">
                <a:tc>
                  <a:txBody>
                    <a:bodyPr/>
                    <a:lstStyle/>
                    <a:p>
                      <a:pPr algn="r">
                        <a:tabLst>
                          <a:tab pos="355600" algn="l"/>
                          <a:tab pos="711200" algn="l"/>
                          <a:tab pos="1066800" algn="l"/>
                          <a:tab pos="1422400" algn="l"/>
                          <a:tab pos="1778000" algn="l"/>
                          <a:tab pos="2133600" algn="l"/>
                          <a:tab pos="2489200" algn="l"/>
                          <a:tab pos="2844800" algn="l"/>
                          <a:tab pos="3200400" algn="l"/>
                          <a:tab pos="3556000" algn="l"/>
                          <a:tab pos="3911600" algn="l"/>
                          <a:tab pos="4267200" algn="l"/>
                        </a:tabLst>
                        <a:defRPr sz="1800" b="0" i="0" cap="none"/>
                      </a:pPr>
                      <a:r>
                        <a:rPr lang="de-DE" sz="1600" dirty="0" smtClean="0"/>
                        <a:t>31154</a:t>
                      </a:r>
                      <a:endParaRPr sz="1600" dirty="0"/>
                    </a:p>
                  </a:txBody>
                  <a:tcPr marL="63500" marR="63500" marT="63500" marB="63500" horzOverflow="overflow"/>
                </a:tc>
              </a:tr>
              <a:tr h="434072">
                <a:tc>
                  <a:txBody>
                    <a:bodyPr/>
                    <a:lstStyle/>
                    <a:p>
                      <a:pPr algn="r">
                        <a:tabLst>
                          <a:tab pos="355600" algn="l"/>
                          <a:tab pos="711200" algn="l"/>
                          <a:tab pos="1066800" algn="l"/>
                          <a:tab pos="1422400" algn="l"/>
                          <a:tab pos="1778000" algn="l"/>
                          <a:tab pos="2133600" algn="l"/>
                          <a:tab pos="2489200" algn="l"/>
                          <a:tab pos="2844800" algn="l"/>
                          <a:tab pos="3200400" algn="l"/>
                          <a:tab pos="3556000" algn="l"/>
                          <a:tab pos="3911600" algn="l"/>
                          <a:tab pos="4267200" algn="l"/>
                        </a:tabLst>
                        <a:defRPr sz="1800" b="0" i="0" cap="none"/>
                      </a:pPr>
                      <a:r>
                        <a:rPr sz="1600" dirty="0"/>
                        <a:t>…</a:t>
                      </a:r>
                    </a:p>
                  </a:txBody>
                  <a:tcPr marL="63500" marR="63500" marT="63500" marB="63500" horzOverflow="overflow"/>
                </a:tc>
              </a:tr>
            </a:tbl>
          </a:graphicData>
        </a:graphic>
      </p:graphicFrame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not use numeric values?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B03EE-0F65-4FB3-87AD-3AF455168DB9}" type="slidenum">
              <a:rPr lang="en-US" smtClean="0"/>
              <a:t>10</a:t>
            </a:fld>
            <a:endParaRPr lang="en-US"/>
          </a:p>
        </p:txBody>
      </p:sp>
      <p:sp>
        <p:nvSpPr>
          <p:cNvPr id="10" name="Inhaltsplatzhalter 2"/>
          <p:cNvSpPr txBox="1">
            <a:spLocks/>
          </p:cNvSpPr>
          <p:nvPr/>
        </p:nvSpPr>
        <p:spPr>
          <a:xfrm>
            <a:off x="628650" y="1668865"/>
            <a:ext cx="7886700" cy="12870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smtClean="0"/>
              <a:t>Identifying the most likely semantic label for a bag of numerical values</a:t>
            </a:r>
          </a:p>
          <a:p>
            <a:r>
              <a:rPr lang="en-US" sz="2400" smtClean="0"/>
              <a:t>Deliberately ignore surroundings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453099107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4" name="Table 244"/>
          <p:cNvGraphicFramePr/>
          <p:nvPr>
            <p:extLst>
              <p:ext uri="{D42A27DB-BD31-4B8C-83A1-F6EECF244321}">
                <p14:modId xmlns:p14="http://schemas.microsoft.com/office/powerpoint/2010/main" val="2196563809"/>
              </p:ext>
            </p:extLst>
          </p:nvPr>
        </p:nvGraphicFramePr>
        <p:xfrm>
          <a:off x="647700" y="4000500"/>
          <a:ext cx="7577731" cy="2170360"/>
        </p:xfrm>
        <a:graphic>
          <a:graphicData uri="http://schemas.openxmlformats.org/drawingml/2006/table">
            <a:tbl>
              <a:tblPr bandRow="1"/>
              <a:tblGrid>
                <a:gridCol w="2601880"/>
                <a:gridCol w="1186985"/>
                <a:gridCol w="1894433"/>
                <a:gridCol w="1894433"/>
              </a:tblGrid>
              <a:tr h="434072">
                <a:tc>
                  <a:txBody>
                    <a:bodyPr/>
                    <a:lstStyle/>
                    <a:p>
                      <a:pPr algn="ctr">
                        <a:defRPr sz="1800" cap="none"/>
                      </a:pPr>
                      <a:endParaRPr dirty="0"/>
                    </a:p>
                  </a:txBody>
                  <a:tcPr marL="63500" marR="63500" marT="63500" marB="63500" horzOverflow="overflow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cap="none"/>
                      </a:pPr>
                      <a:endParaRPr/>
                    </a:p>
                  </a:txBody>
                  <a:tcPr marL="63500" marR="63500" marT="63500" marB="63500" horzOverflow="overflow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cap="none"/>
                      </a:pPr>
                      <a:endParaRPr/>
                    </a:p>
                  </a:txBody>
                  <a:tcPr marL="63500" marR="63500" marT="63500" marB="63500" horzOverflow="overflow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cap="none"/>
                      </a:pPr>
                      <a:endParaRPr dirty="0"/>
                    </a:p>
                  </a:txBody>
                  <a:tcPr marL="63500" marR="63500" marT="63500" marB="63500" horzOverflow="overflow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34072">
                <a:tc>
                  <a:txBody>
                    <a:bodyPr/>
                    <a:lstStyle/>
                    <a:p>
                      <a:pPr algn="r" defTabSz="457200">
                        <a:tabLst>
                          <a:tab pos="355600" algn="l"/>
                          <a:tab pos="711200" algn="l"/>
                          <a:tab pos="1066800" algn="l"/>
                          <a:tab pos="1422400" algn="l"/>
                          <a:tab pos="1778000" algn="l"/>
                          <a:tab pos="2133600" algn="l"/>
                          <a:tab pos="2489200" algn="l"/>
                          <a:tab pos="2844800" algn="l"/>
                          <a:tab pos="3200400" algn="l"/>
                          <a:tab pos="3556000" algn="l"/>
                          <a:tab pos="3911600" algn="l"/>
                          <a:tab pos="4267200" algn="l"/>
                        </a:tabLst>
                        <a:defRPr sz="1600" b="0" i="0" cap="none"/>
                      </a:pPr>
                      <a:endParaRPr/>
                    </a:p>
                  </a:txBody>
                  <a:tcPr marL="63500" marR="63500" marT="63500" marB="63500" horzOverflow="overflow">
                    <a:lnL w="12700" cmpd="sng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tabLst>
                          <a:tab pos="355600" algn="l"/>
                          <a:tab pos="711200" algn="l"/>
                          <a:tab pos="1066800" algn="l"/>
                          <a:tab pos="1422400" algn="l"/>
                          <a:tab pos="1778000" algn="l"/>
                          <a:tab pos="2133600" algn="l"/>
                          <a:tab pos="2489200" algn="l"/>
                          <a:tab pos="2844800" algn="l"/>
                          <a:tab pos="3200400" algn="l"/>
                          <a:tab pos="3556000" algn="l"/>
                          <a:tab pos="3911600" algn="l"/>
                          <a:tab pos="4267200" algn="l"/>
                        </a:tabLst>
                        <a:defRPr sz="1800" b="0" i="0" cap="none"/>
                      </a:pPr>
                      <a:r>
                        <a:rPr lang="de-DE" sz="1600" dirty="0" smtClean="0"/>
                        <a:t>60361</a:t>
                      </a:r>
                      <a:endParaRPr sz="1600" dirty="0"/>
                    </a:p>
                  </a:txBody>
                  <a:tcPr marL="63500" marR="63500" marT="63500" marB="635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tabLst>
                          <a:tab pos="355600" algn="l"/>
                          <a:tab pos="711200" algn="l"/>
                          <a:tab pos="1066800" algn="l"/>
                          <a:tab pos="1422400" algn="l"/>
                          <a:tab pos="1778000" algn="l"/>
                          <a:tab pos="2133600" algn="l"/>
                          <a:tab pos="2489200" algn="l"/>
                          <a:tab pos="2844800" algn="l"/>
                          <a:tab pos="3200400" algn="l"/>
                          <a:tab pos="3556000" algn="l"/>
                          <a:tab pos="3911600" algn="l"/>
                          <a:tab pos="4267200" algn="l"/>
                        </a:tabLst>
                        <a:defRPr sz="1600" b="0" i="0" cap="none"/>
                      </a:pPr>
                      <a:endParaRPr/>
                    </a:p>
                  </a:txBody>
                  <a:tcPr marL="63500" marR="63500" marT="63500" marB="635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defRPr sz="1600" b="0" i="0" cap="none"/>
                      </a:pPr>
                      <a:endParaRPr/>
                    </a:p>
                  </a:txBody>
                  <a:tcPr marL="63500" marR="63500" marT="63500" marB="63500" horzOverflow="overflow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34072">
                <a:tc>
                  <a:txBody>
                    <a:bodyPr/>
                    <a:lstStyle/>
                    <a:p>
                      <a:pPr algn="r">
                        <a:tabLst>
                          <a:tab pos="355600" algn="l"/>
                          <a:tab pos="711200" algn="l"/>
                          <a:tab pos="1066800" algn="l"/>
                          <a:tab pos="1422400" algn="l"/>
                          <a:tab pos="1778000" algn="l"/>
                          <a:tab pos="2133600" algn="l"/>
                          <a:tab pos="2489200" algn="l"/>
                          <a:tab pos="2844800" algn="l"/>
                          <a:tab pos="3200400" algn="l"/>
                          <a:tab pos="3556000" algn="l"/>
                          <a:tab pos="3911600" algn="l"/>
                          <a:tab pos="4267200" algn="l"/>
                        </a:tabLst>
                        <a:defRPr sz="1600" b="0" i="0" cap="none"/>
                      </a:pPr>
                      <a:endParaRPr/>
                    </a:p>
                  </a:txBody>
                  <a:tcPr marL="63500" marR="63500" marT="63500" marB="63500" horzOverflow="overflow">
                    <a:lnL w="12700" cmpd="sng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tabLst>
                          <a:tab pos="355600" algn="l"/>
                          <a:tab pos="711200" algn="l"/>
                          <a:tab pos="1066800" algn="l"/>
                          <a:tab pos="1422400" algn="l"/>
                          <a:tab pos="1778000" algn="l"/>
                          <a:tab pos="2133600" algn="l"/>
                          <a:tab pos="2489200" algn="l"/>
                          <a:tab pos="2844800" algn="l"/>
                          <a:tab pos="3200400" algn="l"/>
                          <a:tab pos="3556000" algn="l"/>
                          <a:tab pos="3911600" algn="l"/>
                          <a:tab pos="4267200" algn="l"/>
                        </a:tabLst>
                        <a:defRPr sz="1800" b="0" i="0" cap="none"/>
                      </a:pPr>
                      <a:r>
                        <a:rPr lang="de-DE" sz="1600" dirty="0" smtClean="0"/>
                        <a:t>42785</a:t>
                      </a:r>
                      <a:endParaRPr sz="1600" dirty="0"/>
                    </a:p>
                  </a:txBody>
                  <a:tcPr marL="63500" marR="63500" marT="63500" marB="635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tabLst>
                          <a:tab pos="355600" algn="l"/>
                          <a:tab pos="711200" algn="l"/>
                          <a:tab pos="1066800" algn="l"/>
                          <a:tab pos="1422400" algn="l"/>
                          <a:tab pos="1778000" algn="l"/>
                          <a:tab pos="2133600" algn="l"/>
                          <a:tab pos="2489200" algn="l"/>
                          <a:tab pos="2844800" algn="l"/>
                          <a:tab pos="3200400" algn="l"/>
                          <a:tab pos="3556000" algn="l"/>
                          <a:tab pos="3911600" algn="l"/>
                          <a:tab pos="4267200" algn="l"/>
                        </a:tabLst>
                        <a:defRPr sz="1600" b="0" i="0" cap="none"/>
                      </a:pPr>
                      <a:endParaRPr/>
                    </a:p>
                  </a:txBody>
                  <a:tcPr marL="63500" marR="63500" marT="63500" marB="635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defRPr sz="1600" b="0" i="0" cap="none"/>
                      </a:pPr>
                      <a:endParaRPr/>
                    </a:p>
                  </a:txBody>
                  <a:tcPr marL="63500" marR="63500" marT="63500" marB="63500" horzOverflow="overflow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34072">
                <a:tc>
                  <a:txBody>
                    <a:bodyPr/>
                    <a:lstStyle/>
                    <a:p>
                      <a:pPr algn="r">
                        <a:tabLst>
                          <a:tab pos="355600" algn="l"/>
                          <a:tab pos="711200" algn="l"/>
                          <a:tab pos="1066800" algn="l"/>
                          <a:tab pos="1422400" algn="l"/>
                          <a:tab pos="1778000" algn="l"/>
                          <a:tab pos="2133600" algn="l"/>
                          <a:tab pos="2489200" algn="l"/>
                          <a:tab pos="2844800" algn="l"/>
                          <a:tab pos="3200400" algn="l"/>
                          <a:tab pos="3556000" algn="l"/>
                          <a:tab pos="3911600" algn="l"/>
                          <a:tab pos="4267200" algn="l"/>
                        </a:tabLst>
                        <a:defRPr sz="1600" b="0" i="0" cap="none"/>
                      </a:pPr>
                      <a:endParaRPr/>
                    </a:p>
                  </a:txBody>
                  <a:tcPr marL="63500" marR="63500" marT="63500" marB="63500" horzOverflow="overflow">
                    <a:lnL w="12700" cmpd="sng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tabLst>
                          <a:tab pos="355600" algn="l"/>
                          <a:tab pos="711200" algn="l"/>
                          <a:tab pos="1066800" algn="l"/>
                          <a:tab pos="1422400" algn="l"/>
                          <a:tab pos="1778000" algn="l"/>
                          <a:tab pos="2133600" algn="l"/>
                          <a:tab pos="2489200" algn="l"/>
                          <a:tab pos="2844800" algn="l"/>
                          <a:tab pos="3200400" algn="l"/>
                          <a:tab pos="3556000" algn="l"/>
                          <a:tab pos="3911600" algn="l"/>
                          <a:tab pos="4267200" algn="l"/>
                        </a:tabLst>
                        <a:defRPr sz="1800" b="0" i="0" cap="none"/>
                      </a:pPr>
                      <a:r>
                        <a:rPr lang="de-DE" sz="1600" dirty="0" smtClean="0"/>
                        <a:t>31154</a:t>
                      </a:r>
                      <a:endParaRPr sz="1600" dirty="0"/>
                    </a:p>
                  </a:txBody>
                  <a:tcPr marL="63500" marR="63500" marT="63500" marB="635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600" b="0" i="0" cap="none"/>
                      </a:pPr>
                      <a:endParaRPr/>
                    </a:p>
                  </a:txBody>
                  <a:tcPr marL="63500" marR="63500" marT="63500" marB="635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defRPr sz="1600" b="0" i="0" cap="none"/>
                      </a:pPr>
                      <a:endParaRPr/>
                    </a:p>
                  </a:txBody>
                  <a:tcPr marL="63500" marR="63500" marT="63500" marB="63500" horzOverflow="overflow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34072">
                <a:tc>
                  <a:txBody>
                    <a:bodyPr/>
                    <a:lstStyle/>
                    <a:p>
                      <a:pPr algn="r">
                        <a:tabLst>
                          <a:tab pos="355600" algn="l"/>
                          <a:tab pos="711200" algn="l"/>
                          <a:tab pos="1066800" algn="l"/>
                          <a:tab pos="1422400" algn="l"/>
                          <a:tab pos="1778000" algn="l"/>
                          <a:tab pos="2133600" algn="l"/>
                          <a:tab pos="2489200" algn="l"/>
                          <a:tab pos="2844800" algn="l"/>
                          <a:tab pos="3200400" algn="l"/>
                          <a:tab pos="3556000" algn="l"/>
                          <a:tab pos="3911600" algn="l"/>
                          <a:tab pos="4267200" algn="l"/>
                        </a:tabLst>
                        <a:defRPr sz="1600" b="0" i="0" cap="none"/>
                      </a:pPr>
                      <a:endParaRPr dirty="0"/>
                    </a:p>
                  </a:txBody>
                  <a:tcPr marL="63500" marR="63500" marT="63500" marB="63500" horzOverflow="overflow">
                    <a:lnL w="12700" cmpd="sng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tabLst>
                          <a:tab pos="355600" algn="l"/>
                          <a:tab pos="711200" algn="l"/>
                          <a:tab pos="1066800" algn="l"/>
                          <a:tab pos="1422400" algn="l"/>
                          <a:tab pos="1778000" algn="l"/>
                          <a:tab pos="2133600" algn="l"/>
                          <a:tab pos="2489200" algn="l"/>
                          <a:tab pos="2844800" algn="l"/>
                          <a:tab pos="3200400" algn="l"/>
                          <a:tab pos="3556000" algn="l"/>
                          <a:tab pos="3911600" algn="l"/>
                          <a:tab pos="4267200" algn="l"/>
                        </a:tabLst>
                        <a:defRPr sz="1800" b="0" i="0" cap="none"/>
                      </a:pPr>
                      <a:r>
                        <a:rPr sz="1600" dirty="0"/>
                        <a:t>…</a:t>
                      </a:r>
                    </a:p>
                  </a:txBody>
                  <a:tcPr marL="63500" marR="63500" marT="63500" marB="635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600" b="0" i="0" cap="none"/>
                      </a:pPr>
                      <a:endParaRPr dirty="0"/>
                    </a:p>
                  </a:txBody>
                  <a:tcPr marL="63500" marR="63500" marT="63500" marB="635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defRPr sz="1600" b="0" i="0" cap="none"/>
                      </a:pPr>
                      <a:endParaRPr dirty="0"/>
                    </a:p>
                  </a:txBody>
                  <a:tcPr marL="63500" marR="63500" marT="63500" marB="63500" horzOverflow="overflow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45" name="Shape 245"/>
          <p:cNvSpPr/>
          <p:nvPr/>
        </p:nvSpPr>
        <p:spPr>
          <a:xfrm>
            <a:off x="3200400" y="4450680"/>
            <a:ext cx="1270000" cy="1649481"/>
          </a:xfrm>
          <a:prstGeom prst="rect">
            <a:avLst/>
          </a:prstGeom>
          <a:ln w="50800">
            <a:solidFill>
              <a:schemeClr val="accent1"/>
            </a:solidFill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>
              <a:defRPr>
                <a:latin typeface="Avenir Next"/>
                <a:ea typeface="Avenir Next"/>
                <a:cs typeface="Avenir Next"/>
                <a:sym typeface="Avenir Next"/>
              </a:defRPr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248" name="Shape 248"/>
          <p:cNvSpPr/>
          <p:nvPr/>
        </p:nvSpPr>
        <p:spPr>
          <a:xfrm>
            <a:off x="3850905" y="3273499"/>
            <a:ext cx="21008" cy="115178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cubicBezTo>
                  <a:pt x="7200" y="14400"/>
                  <a:pt x="14400" y="7200"/>
                  <a:pt x="21600" y="0"/>
                </a:cubicBezTo>
              </a:path>
            </a:pathLst>
          </a:custGeom>
          <a:ln w="25400">
            <a:solidFill>
              <a:schemeClr val="accent1"/>
            </a:solidFill>
            <a:miter lim="400000"/>
            <a:headEnd type="triangle" len="sm"/>
            <a:tailEnd type="triangle" len="sm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/>
          <a:lstStyle/>
          <a:p>
            <a:endParaRPr>
              <a:solidFill>
                <a:schemeClr val="accent1"/>
              </a:solidFill>
            </a:endParaRPr>
          </a:p>
        </p:txBody>
      </p:sp>
      <p:sp>
        <p:nvSpPr>
          <p:cNvPr id="247" name="Shape 247"/>
          <p:cNvSpPr/>
          <p:nvPr/>
        </p:nvSpPr>
        <p:spPr>
          <a:xfrm>
            <a:off x="1177007" y="3035300"/>
            <a:ext cx="5341591" cy="476399"/>
          </a:xfrm>
          <a:prstGeom prst="rect">
            <a:avLst/>
          </a:prstGeom>
          <a:solidFill>
            <a:srgbClr val="FFFFFF"/>
          </a:solidFill>
          <a:ln w="50800">
            <a:solidFill>
              <a:schemeClr val="accent1"/>
            </a:solidFill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 anchor="ctr"/>
          <a:lstStyle/>
          <a:p>
            <a:pPr lvl="1">
              <a:defRPr b="1">
                <a:solidFill>
                  <a:srgbClr val="AB5A52"/>
                </a:solidFill>
              </a:defRPr>
            </a:pPr>
            <a:r>
              <a:rPr dirty="0">
                <a:solidFill>
                  <a:schemeClr val="accent1"/>
                </a:solidFill>
              </a:rPr>
              <a:t>capacity     &lt;a stadium&gt;     &lt;country </a:t>
            </a:r>
            <a:r>
              <a:rPr lang="de-DE" dirty="0" smtClean="0">
                <a:solidFill>
                  <a:schemeClr val="accent1"/>
                </a:solidFill>
              </a:rPr>
              <a:t>England</a:t>
            </a:r>
            <a:r>
              <a:rPr dirty="0" smtClean="0">
                <a:solidFill>
                  <a:schemeClr val="accent1"/>
                </a:solidFill>
              </a:rPr>
              <a:t>&gt;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not use numeric values?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B03EE-0F65-4FB3-87AD-3AF455168DB9}" type="slidenum">
              <a:rPr lang="en-US" smtClean="0"/>
              <a:t>11</a:t>
            </a:fld>
            <a:endParaRPr lang="en-US"/>
          </a:p>
        </p:txBody>
      </p:sp>
      <p:sp>
        <p:nvSpPr>
          <p:cNvPr id="11" name="Inhaltsplatzhalter 2"/>
          <p:cNvSpPr>
            <a:spLocks noGrp="1"/>
          </p:cNvSpPr>
          <p:nvPr>
            <p:ph idx="1"/>
          </p:nvPr>
        </p:nvSpPr>
        <p:spPr>
          <a:xfrm>
            <a:off x="628650" y="1668865"/>
            <a:ext cx="7886700" cy="1287027"/>
          </a:xfrm>
        </p:spPr>
        <p:txBody>
          <a:bodyPr>
            <a:normAutofit/>
          </a:bodyPr>
          <a:lstStyle/>
          <a:p>
            <a:r>
              <a:rPr lang="en-US" sz="2400" dirty="0"/>
              <a:t>Identifying the most likely semantic label for a bag of </a:t>
            </a:r>
            <a:r>
              <a:rPr lang="en-US" sz="2400" dirty="0" smtClean="0"/>
              <a:t>numerical values</a:t>
            </a:r>
          </a:p>
          <a:p>
            <a:r>
              <a:rPr lang="en-US" sz="2400" dirty="0" smtClean="0"/>
              <a:t>Deliberately ignore surroundings</a:t>
            </a:r>
            <a:endParaRPr lang="en-US" sz="24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142552135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Our Approach</a:t>
            </a:r>
            <a:endParaRPr lang="en-US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628650" y="1773371"/>
            <a:ext cx="7886700" cy="4351338"/>
          </a:xfrm>
        </p:spPr>
        <p:txBody>
          <a:bodyPr>
            <a:no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600" b="1" dirty="0" smtClean="0"/>
              <a:t>Hierarchical </a:t>
            </a:r>
            <a:r>
              <a:rPr lang="en-US" sz="2600" b="1" dirty="0"/>
              <a:t>clustering </a:t>
            </a:r>
            <a:r>
              <a:rPr lang="en-US" sz="2600" dirty="0"/>
              <a:t>over an RDF knowledge base</a:t>
            </a:r>
            <a:r>
              <a:rPr lang="en-US" dirty="0"/>
              <a:t> </a:t>
            </a:r>
            <a:endParaRPr lang="en-US" dirty="0" smtClean="0"/>
          </a:p>
          <a:p>
            <a:pPr lvl="1"/>
            <a:r>
              <a:rPr lang="en-US" sz="2000" dirty="0" smtClean="0"/>
              <a:t>to </a:t>
            </a:r>
            <a:r>
              <a:rPr lang="en-US" sz="2000" dirty="0"/>
              <a:t>build </a:t>
            </a:r>
            <a:r>
              <a:rPr lang="en-US" sz="2000" dirty="0" smtClean="0"/>
              <a:t>background knowledge graph </a:t>
            </a:r>
            <a:r>
              <a:rPr lang="en-US" sz="2000" dirty="0"/>
              <a:t>(</a:t>
            </a:r>
            <a:r>
              <a:rPr lang="en-US" sz="2000" b="1" dirty="0" smtClean="0"/>
              <a:t>BKG</a:t>
            </a:r>
            <a:r>
              <a:rPr lang="en-US" sz="2000" dirty="0" smtClean="0"/>
              <a:t>) </a:t>
            </a:r>
          </a:p>
          <a:p>
            <a:pPr lvl="1"/>
            <a:r>
              <a:rPr lang="en-US" sz="2000" dirty="0" smtClean="0"/>
              <a:t>nodes consist of </a:t>
            </a:r>
            <a:r>
              <a:rPr lang="en-US" sz="2000" b="1" dirty="0" smtClean="0"/>
              <a:t>typical numerical values</a:t>
            </a:r>
            <a:r>
              <a:rPr lang="en-US" sz="2000" dirty="0" smtClean="0"/>
              <a:t>, </a:t>
            </a:r>
            <a:r>
              <a:rPr lang="en-US" sz="2000" dirty="0"/>
              <a:t>annotated with context </a:t>
            </a:r>
            <a:r>
              <a:rPr lang="en-US" sz="2000" dirty="0" smtClean="0"/>
              <a:t>information, i.e.:</a:t>
            </a:r>
            <a:br>
              <a:rPr lang="en-US" sz="2000" dirty="0" smtClean="0"/>
            </a:br>
            <a:r>
              <a:rPr lang="en-US" sz="2000" dirty="0" smtClean="0"/>
              <a:t>grouped </a:t>
            </a:r>
            <a:r>
              <a:rPr lang="en-US" sz="2000" dirty="0"/>
              <a:t>by </a:t>
            </a:r>
            <a:r>
              <a:rPr lang="en-US" sz="2000" b="1" dirty="0"/>
              <a:t>properties </a:t>
            </a:r>
            <a:r>
              <a:rPr lang="en-US" sz="2000" dirty="0"/>
              <a:t>and their </a:t>
            </a:r>
            <a:r>
              <a:rPr lang="en-US" sz="2000" b="1" dirty="0"/>
              <a:t>shared domain (subject) </a:t>
            </a:r>
            <a:r>
              <a:rPr lang="en-US" sz="2000" b="1" dirty="0" smtClean="0"/>
              <a:t>pairs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dirty="0" smtClean="0"/>
              <a:t>k-nearest neighbors </a:t>
            </a:r>
            <a:r>
              <a:rPr lang="en-US" dirty="0"/>
              <a:t>search</a:t>
            </a:r>
            <a:endParaRPr lang="en-US" b="1" dirty="0"/>
          </a:p>
          <a:p>
            <a:pPr marL="514350" indent="-514350">
              <a:buFont typeface="+mj-lt"/>
              <a:buAutoNum type="arabicPeriod"/>
            </a:pPr>
            <a:r>
              <a:rPr lang="en-US" b="1" dirty="0" smtClean="0"/>
              <a:t>Aggregation </a:t>
            </a:r>
            <a:r>
              <a:rPr lang="en-US" b="1" dirty="0"/>
              <a:t>of the results </a:t>
            </a:r>
            <a:r>
              <a:rPr lang="en-US" dirty="0"/>
              <a:t>at different levels to find the most </a:t>
            </a:r>
            <a:r>
              <a:rPr lang="en-US" dirty="0" smtClean="0"/>
              <a:t>likely context:</a:t>
            </a:r>
            <a:endParaRPr lang="en-US" dirty="0"/>
          </a:p>
          <a:p>
            <a:pPr lvl="1"/>
            <a:r>
              <a:rPr lang="en-US" sz="2000" dirty="0"/>
              <a:t>property</a:t>
            </a:r>
          </a:p>
          <a:p>
            <a:pPr lvl="1"/>
            <a:r>
              <a:rPr lang="en-US" sz="2000" dirty="0"/>
              <a:t>type</a:t>
            </a:r>
          </a:p>
          <a:p>
            <a:pPr lvl="1"/>
            <a:r>
              <a:rPr lang="en-US" sz="2000" dirty="0" smtClean="0"/>
              <a:t>context</a:t>
            </a:r>
            <a:endParaRPr lang="en-US" sz="2000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B03EE-0F65-4FB3-87AD-3AF455168DB9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5127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1. Background </a:t>
            </a:r>
            <a:r>
              <a:rPr lang="en-US" dirty="0" smtClean="0"/>
              <a:t>Knowledge Graph</a:t>
            </a:r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B03EE-0F65-4FB3-87AD-3AF455168DB9}" type="slidenum">
              <a:rPr lang="en-US" smtClean="0"/>
              <a:t>13</a:t>
            </a:fld>
            <a:endParaRPr lang="en-US"/>
          </a:p>
        </p:txBody>
      </p:sp>
      <p:pic>
        <p:nvPicPr>
          <p:cNvPr id="5" name="Grafik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9011" y="2103053"/>
            <a:ext cx="4328318" cy="4270277"/>
          </a:xfrm>
          <a:prstGeom prst="rect">
            <a:avLst/>
          </a:prstGeom>
        </p:spPr>
      </p:pic>
      <p:cxnSp>
        <p:nvCxnSpPr>
          <p:cNvPr id="7" name="Gerader Verbinder 6"/>
          <p:cNvCxnSpPr/>
          <p:nvPr/>
        </p:nvCxnSpPr>
        <p:spPr>
          <a:xfrm flipH="1">
            <a:off x="1035587" y="4635455"/>
            <a:ext cx="7771742" cy="0"/>
          </a:xfrm>
          <a:prstGeom prst="line">
            <a:avLst/>
          </a:prstGeom>
          <a:ln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628650" y="1740669"/>
            <a:ext cx="4532976" cy="4469204"/>
          </a:xfrm>
        </p:spPr>
        <p:txBody>
          <a:bodyPr/>
          <a:lstStyle/>
          <a:p>
            <a:r>
              <a:rPr lang="en-US" sz="2400" dirty="0"/>
              <a:t>Find properties with </a:t>
            </a:r>
            <a:br>
              <a:rPr lang="en-US" sz="2400" dirty="0"/>
            </a:br>
            <a:r>
              <a:rPr lang="en-US" sz="2400" b="1" dirty="0"/>
              <a:t>numerical range</a:t>
            </a:r>
          </a:p>
          <a:p>
            <a:r>
              <a:rPr lang="en-US" sz="2400" dirty="0"/>
              <a:t>Hierarchical clustering approach</a:t>
            </a:r>
          </a:p>
          <a:p>
            <a:endParaRPr lang="en-US" sz="2400" dirty="0" smtClean="0"/>
          </a:p>
          <a:p>
            <a:r>
              <a:rPr lang="en-US" sz="2400" dirty="0" smtClean="0"/>
              <a:t>Two </a:t>
            </a:r>
            <a:r>
              <a:rPr lang="en-US" sz="2400" dirty="0"/>
              <a:t>hierarchical </a:t>
            </a:r>
            <a:r>
              <a:rPr lang="en-US" sz="2400" dirty="0" smtClean="0"/>
              <a:t>layers:</a:t>
            </a:r>
            <a:endParaRPr lang="en-US" sz="2400" dirty="0"/>
          </a:p>
          <a:p>
            <a:pPr lvl="1"/>
            <a:r>
              <a:rPr lang="en-US" sz="2000" b="1" dirty="0"/>
              <a:t>Type</a:t>
            </a:r>
            <a:r>
              <a:rPr lang="en-US" sz="2000" dirty="0"/>
              <a:t> hierarchy </a:t>
            </a:r>
            <a:r>
              <a:rPr lang="en-US" sz="2000" dirty="0" smtClean="0"/>
              <a:t/>
            </a:r>
            <a:br>
              <a:rPr lang="en-US" sz="2000" dirty="0" smtClean="0"/>
            </a:br>
            <a:r>
              <a:rPr lang="en-US" sz="2000" dirty="0" smtClean="0"/>
              <a:t>(</a:t>
            </a:r>
            <a:r>
              <a:rPr lang="en-US" sz="2000" dirty="0"/>
              <a:t>using OWL classes</a:t>
            </a:r>
            <a:r>
              <a:rPr lang="en-US" sz="2000" dirty="0" smtClean="0"/>
              <a:t>)</a:t>
            </a:r>
          </a:p>
          <a:p>
            <a:pPr lvl="1"/>
            <a:endParaRPr lang="en-US" sz="2000" dirty="0"/>
          </a:p>
          <a:p>
            <a:pPr lvl="1"/>
            <a:r>
              <a:rPr lang="en-US" sz="2000" b="1" dirty="0" smtClean="0"/>
              <a:t>Property-object</a:t>
            </a:r>
            <a:r>
              <a:rPr lang="en-US" sz="2000" dirty="0" smtClean="0"/>
              <a:t> </a:t>
            </a:r>
            <a:r>
              <a:rPr lang="en-US" sz="2000" dirty="0"/>
              <a:t>hierarchy </a:t>
            </a:r>
            <a:r>
              <a:rPr lang="en-US" sz="2000" dirty="0" smtClean="0"/>
              <a:t/>
            </a:r>
            <a:br>
              <a:rPr lang="en-US" sz="2000" dirty="0" smtClean="0"/>
            </a:br>
            <a:r>
              <a:rPr lang="en-US" sz="2000" dirty="0" smtClean="0"/>
              <a:t>(</a:t>
            </a:r>
            <a:r>
              <a:rPr lang="en-US" sz="2000" dirty="0"/>
              <a:t>shared property-object pairs)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9238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fik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097" y="2345174"/>
            <a:ext cx="3766499" cy="3715991"/>
          </a:xfrm>
          <a:prstGeom prst="rect">
            <a:avLst/>
          </a:prstGeom>
        </p:spPr>
      </p:pic>
      <p:pic>
        <p:nvPicPr>
          <p:cNvPr id="272" name="pasted-image.pdf"/>
          <p:cNvPicPr>
            <a:picLocks noChangeAspect="1"/>
          </p:cNvPicPr>
          <p:nvPr/>
        </p:nvPicPr>
        <p:blipFill rotWithShape="1">
          <a:blip r:embed="rId4">
            <a:extLst/>
          </a:blip>
          <a:srcRect l="52212"/>
          <a:stretch/>
        </p:blipFill>
        <p:spPr>
          <a:xfrm>
            <a:off x="4737462" y="2285578"/>
            <a:ext cx="3574687" cy="3670301"/>
          </a:xfrm>
          <a:prstGeom prst="rect">
            <a:avLst/>
          </a:prstGeom>
          <a:ln w="12700">
            <a:miter lim="400000"/>
          </a:ln>
        </p:spPr>
      </p:pic>
      <p:sp>
        <p:nvSpPr>
          <p:cNvPr id="273" name="Shape 273"/>
          <p:cNvSpPr/>
          <p:nvPr/>
        </p:nvSpPr>
        <p:spPr>
          <a:xfrm>
            <a:off x="471556" y="1864298"/>
            <a:ext cx="6678289" cy="396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45719" rIns="45719">
            <a:spAutoFit/>
          </a:bodyPr>
          <a:lstStyle/>
          <a:p>
            <a:r>
              <a:rPr dirty="0"/>
              <a:t>Mapping bags of numerical value to vector space (feature vector)</a:t>
            </a:r>
          </a:p>
        </p:txBody>
      </p:sp>
      <p:sp>
        <p:nvSpPr>
          <p:cNvPr id="7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2. </a:t>
            </a:r>
            <a:r>
              <a:rPr lang="en-US" i="1" dirty="0" smtClean="0"/>
              <a:t>k</a:t>
            </a:r>
            <a:r>
              <a:rPr lang="en-US" dirty="0" smtClean="0"/>
              <a:t>-Nearest </a:t>
            </a:r>
            <a:r>
              <a:rPr lang="en-US" dirty="0" smtClean="0"/>
              <a:t>neighbor search</a:t>
            </a:r>
            <a:endParaRPr lang="en-US" dirty="0"/>
          </a:p>
        </p:txBody>
      </p:sp>
      <p:sp>
        <p:nvSpPr>
          <p:cNvPr id="3" name="Rechteck 2"/>
          <p:cNvSpPr/>
          <p:nvPr/>
        </p:nvSpPr>
        <p:spPr>
          <a:xfrm>
            <a:off x="5660571" y="2285578"/>
            <a:ext cx="313509" cy="33570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Gerade Verbindung mit Pfeil 9"/>
          <p:cNvCxnSpPr/>
          <p:nvPr/>
        </p:nvCxnSpPr>
        <p:spPr>
          <a:xfrm flipV="1">
            <a:off x="3157538" y="2856411"/>
            <a:ext cx="2990713" cy="585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Gerade Verbindung mit Pfeil 10"/>
          <p:cNvCxnSpPr/>
          <p:nvPr/>
        </p:nvCxnSpPr>
        <p:spPr>
          <a:xfrm>
            <a:off x="3514725" y="3548063"/>
            <a:ext cx="2828925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Gerade Verbindung mit Pfeil 11"/>
          <p:cNvCxnSpPr/>
          <p:nvPr/>
        </p:nvCxnSpPr>
        <p:spPr>
          <a:xfrm>
            <a:off x="2343150" y="3610791"/>
            <a:ext cx="3081338" cy="44767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Gerade Verbindung mit Pfeil 23"/>
          <p:cNvCxnSpPr/>
          <p:nvPr/>
        </p:nvCxnSpPr>
        <p:spPr>
          <a:xfrm>
            <a:off x="3257550" y="4333876"/>
            <a:ext cx="2890701" cy="8137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Gerade Verbindung mit Pfeil 26"/>
          <p:cNvCxnSpPr/>
          <p:nvPr/>
        </p:nvCxnSpPr>
        <p:spPr>
          <a:xfrm flipV="1">
            <a:off x="2662238" y="4768079"/>
            <a:ext cx="4814891" cy="2286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Gerade Verbindung mit Pfeil 30"/>
          <p:cNvCxnSpPr/>
          <p:nvPr/>
        </p:nvCxnSpPr>
        <p:spPr>
          <a:xfrm flipV="1">
            <a:off x="1890713" y="5462162"/>
            <a:ext cx="5176839" cy="31475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Gerade Verbindung mit Pfeil 32"/>
          <p:cNvCxnSpPr/>
          <p:nvPr/>
        </p:nvCxnSpPr>
        <p:spPr>
          <a:xfrm flipV="1">
            <a:off x="3452813" y="5605859"/>
            <a:ext cx="4305301" cy="16710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Foliennummernplatzhalt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B03EE-0F65-4FB3-87AD-3AF455168DB9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0682084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Shape 284"/>
          <p:cNvSpPr/>
          <p:nvPr/>
        </p:nvSpPr>
        <p:spPr>
          <a:xfrm>
            <a:off x="471556" y="1864298"/>
            <a:ext cx="5660416" cy="396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45719" rIns="45719">
            <a:spAutoFit/>
          </a:bodyPr>
          <a:lstStyle/>
          <a:p>
            <a:r>
              <a:t>Compute &amp; rank k-nearest neighbours for input values</a:t>
            </a:r>
          </a:p>
        </p:txBody>
      </p:sp>
      <p:sp>
        <p:nvSpPr>
          <p:cNvPr id="285" name="Shape 285"/>
          <p:cNvSpPr/>
          <p:nvPr/>
        </p:nvSpPr>
        <p:spPr>
          <a:xfrm>
            <a:off x="4294256" y="2494279"/>
            <a:ext cx="4710967" cy="396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45719" rIns="45719">
            <a:spAutoFit/>
          </a:bodyPr>
          <a:lstStyle/>
          <a:p>
            <a:r>
              <a:t>1) input: [ 187, 201, 199, 198, 195, 199, 203, … ]</a:t>
            </a:r>
          </a:p>
        </p:txBody>
      </p:sp>
      <p:pic>
        <p:nvPicPr>
          <p:cNvPr id="286" name="pasted-image.pd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683250" y="2889250"/>
            <a:ext cx="241300" cy="241300"/>
          </a:xfrm>
          <a:prstGeom prst="rect">
            <a:avLst/>
          </a:prstGeom>
          <a:ln w="12700">
            <a:miter lim="400000"/>
          </a:ln>
        </p:spPr>
      </p:pic>
      <p:pic>
        <p:nvPicPr>
          <p:cNvPr id="287" name="pasted-image.pdf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25450" y="2432050"/>
            <a:ext cx="3594100" cy="3670300"/>
          </a:xfrm>
          <a:prstGeom prst="rect">
            <a:avLst/>
          </a:prstGeom>
          <a:ln w="12700">
            <a:miter lim="400000"/>
          </a:ln>
        </p:spPr>
      </p:pic>
      <p:sp>
        <p:nvSpPr>
          <p:cNvPr id="288" name="Shape 288"/>
          <p:cNvSpPr/>
          <p:nvPr/>
        </p:nvSpPr>
        <p:spPr>
          <a:xfrm>
            <a:off x="4297121" y="2837179"/>
            <a:ext cx="1383654" cy="396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45719" rIns="45719">
            <a:spAutoFit/>
          </a:bodyPr>
          <a:lstStyle/>
          <a:p>
            <a:r>
              <a:t>2) mapping: </a:t>
            </a:r>
          </a:p>
        </p:txBody>
      </p:sp>
      <p:sp>
        <p:nvSpPr>
          <p:cNvPr id="289" name="Shape 289"/>
          <p:cNvSpPr/>
          <p:nvPr/>
        </p:nvSpPr>
        <p:spPr>
          <a:xfrm>
            <a:off x="4309821" y="3187762"/>
            <a:ext cx="3591408" cy="396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45719" rIns="45719">
            <a:spAutoFit/>
          </a:bodyPr>
          <a:lstStyle/>
          <a:p>
            <a:r>
              <a:t>3) compute distance to neighbours</a:t>
            </a:r>
          </a:p>
        </p:txBody>
      </p:sp>
      <p:sp>
        <p:nvSpPr>
          <p:cNvPr id="290" name="Shape 290"/>
          <p:cNvSpPr/>
          <p:nvPr/>
        </p:nvSpPr>
        <p:spPr>
          <a:xfrm>
            <a:off x="4312252" y="3545542"/>
            <a:ext cx="1918542" cy="396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45719" rIns="45719">
            <a:spAutoFit/>
          </a:bodyPr>
          <a:lstStyle/>
          <a:p>
            <a:r>
              <a:t>4) select K nearest</a:t>
            </a:r>
          </a:p>
        </p:txBody>
      </p:sp>
      <p:sp>
        <p:nvSpPr>
          <p:cNvPr id="291" name="Shape 291"/>
          <p:cNvSpPr/>
          <p:nvPr/>
        </p:nvSpPr>
        <p:spPr>
          <a:xfrm flipH="1">
            <a:off x="3055164" y="3015555"/>
            <a:ext cx="2687866" cy="2288233"/>
          </a:xfrm>
          <a:prstGeom prst="line">
            <a:avLst/>
          </a:prstGeom>
          <a:ln w="25400">
            <a:solidFill>
              <a:schemeClr val="accent1"/>
            </a:solidFill>
            <a:bevel/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 defTabSz="457200"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/>
          </a:p>
        </p:txBody>
      </p:sp>
      <p:pic>
        <p:nvPicPr>
          <p:cNvPr id="292" name="pasted-image.pdf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425450" y="2432050"/>
            <a:ext cx="3594100" cy="3670300"/>
          </a:xfrm>
          <a:prstGeom prst="rect">
            <a:avLst/>
          </a:prstGeom>
          <a:ln w="12700">
            <a:miter lim="400000"/>
          </a:ln>
        </p:spPr>
      </p:pic>
      <p:sp>
        <p:nvSpPr>
          <p:cNvPr id="293" name="Shape 293"/>
          <p:cNvSpPr/>
          <p:nvPr/>
        </p:nvSpPr>
        <p:spPr>
          <a:xfrm>
            <a:off x="2757556" y="5584252"/>
            <a:ext cx="237491" cy="447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2100" b="1">
                <a:solidFill>
                  <a:srgbClr val="AB5A52"/>
                </a:solidFill>
              </a:defRPr>
            </a:lvl1pPr>
          </a:lstStyle>
          <a:p>
            <a:r>
              <a:t>1</a:t>
            </a:r>
          </a:p>
        </p:txBody>
      </p:sp>
      <p:sp>
        <p:nvSpPr>
          <p:cNvPr id="294" name="Shape 294"/>
          <p:cNvSpPr/>
          <p:nvPr/>
        </p:nvSpPr>
        <p:spPr>
          <a:xfrm>
            <a:off x="3367156" y="4657152"/>
            <a:ext cx="237491" cy="447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2100" b="1">
                <a:solidFill>
                  <a:srgbClr val="AB5A52"/>
                </a:solidFill>
              </a:defRPr>
            </a:lvl1pPr>
          </a:lstStyle>
          <a:p>
            <a:r>
              <a:t>2</a:t>
            </a:r>
          </a:p>
        </p:txBody>
      </p:sp>
      <p:sp>
        <p:nvSpPr>
          <p:cNvPr id="295" name="Shape 295"/>
          <p:cNvSpPr/>
          <p:nvPr/>
        </p:nvSpPr>
        <p:spPr>
          <a:xfrm>
            <a:off x="3633856" y="5139752"/>
            <a:ext cx="237491" cy="447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2100" b="1">
                <a:solidFill>
                  <a:srgbClr val="AB5A52"/>
                </a:solidFill>
              </a:defRPr>
            </a:lvl1pPr>
          </a:lstStyle>
          <a:p>
            <a:r>
              <a:t>3</a:t>
            </a:r>
          </a:p>
        </p:txBody>
      </p:sp>
      <p:sp>
        <p:nvSpPr>
          <p:cNvPr id="296" name="Shape 296"/>
          <p:cNvSpPr/>
          <p:nvPr/>
        </p:nvSpPr>
        <p:spPr>
          <a:xfrm>
            <a:off x="2236856" y="4949252"/>
            <a:ext cx="237491" cy="447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2100" b="1">
                <a:solidFill>
                  <a:srgbClr val="AB5A52"/>
                </a:solidFill>
              </a:defRPr>
            </a:lvl1pPr>
          </a:lstStyle>
          <a:p>
            <a:r>
              <a:t>4</a:t>
            </a:r>
          </a:p>
        </p:txBody>
      </p:sp>
      <p:sp>
        <p:nvSpPr>
          <p:cNvPr id="297" name="Shape 297"/>
          <p:cNvSpPr/>
          <p:nvPr/>
        </p:nvSpPr>
        <p:spPr>
          <a:xfrm>
            <a:off x="3633856" y="5537529"/>
            <a:ext cx="237491" cy="447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2100" b="1">
                <a:solidFill>
                  <a:srgbClr val="AB5A52"/>
                </a:solidFill>
              </a:defRPr>
            </a:lvl1pPr>
          </a:lstStyle>
          <a:p>
            <a:r>
              <a:t>5</a:t>
            </a:r>
          </a:p>
        </p:txBody>
      </p:sp>
      <p:sp>
        <p:nvSpPr>
          <p:cNvPr id="298" name="Shape 298"/>
          <p:cNvSpPr/>
          <p:nvPr/>
        </p:nvSpPr>
        <p:spPr>
          <a:xfrm>
            <a:off x="1830456" y="5406452"/>
            <a:ext cx="237491" cy="447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2100" b="1">
                <a:solidFill>
                  <a:srgbClr val="AB5A52"/>
                </a:solidFill>
              </a:defRPr>
            </a:lvl1pPr>
          </a:lstStyle>
          <a:p>
            <a:r>
              <a:t>6</a:t>
            </a:r>
          </a:p>
        </p:txBody>
      </p:sp>
      <p:pic>
        <p:nvPicPr>
          <p:cNvPr id="299" name="pasted-image.pdf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425450" y="2432050"/>
            <a:ext cx="3594100" cy="3670300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8001544" cy="1325563"/>
          </a:xfrm>
        </p:spPr>
        <p:txBody>
          <a:bodyPr/>
          <a:lstStyle/>
          <a:p>
            <a:r>
              <a:rPr lang="en-US" dirty="0" smtClean="0"/>
              <a:t>2. </a:t>
            </a:r>
            <a:r>
              <a:rPr lang="en-US" i="1" dirty="0" smtClean="0"/>
              <a:t>k</a:t>
            </a:r>
            <a:r>
              <a:rPr lang="en-US" dirty="0" smtClean="0"/>
              <a:t>-Nearest </a:t>
            </a:r>
            <a:r>
              <a:rPr lang="en-US" dirty="0"/>
              <a:t>neighbor search (cont’d)</a:t>
            </a:r>
          </a:p>
        </p:txBody>
      </p:sp>
      <p:sp>
        <p:nvSpPr>
          <p:cNvPr id="21" name="Rechteck 20"/>
          <p:cNvSpPr/>
          <p:nvPr/>
        </p:nvSpPr>
        <p:spPr>
          <a:xfrm>
            <a:off x="1367246" y="2470196"/>
            <a:ext cx="313509" cy="33570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B03EE-0F65-4FB3-87AD-3AF455168DB9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7717335"/>
      </p:ext>
    </p:extLst>
  </p:cSld>
  <p:clrMapOvr>
    <a:masterClrMapping/>
  </p:clrMapOvr>
  <p:transition spd="slow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" fill="hold"/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" fill="hold"/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3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9" fill="hold"/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3" fill="hold"/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6" fill="hold"/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300"/>
                            </p:stCondLst>
                            <p:childTnLst>
                              <p:par>
                                <p:cTn id="38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9" fill="hold"/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600"/>
                            </p:stCondLst>
                            <p:childTnLst>
                              <p:par>
                                <p:cTn id="41" presetID="1" presetClass="entr" presetSubtype="0" fill="hold" grpId="0" nodeType="afterEffect">
                                  <p:stCondLst>
                                    <p:cond delay="20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2" fill="hold"/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800"/>
                            </p:stCondLst>
                            <p:childTnLst>
                              <p:par>
                                <p:cTn id="44" presetID="1" presetClass="entr" presetSubtype="0" fill="hold" grpId="0" nodeType="afterEffect">
                                  <p:stCondLst>
                                    <p:cond delay="20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5" fill="hold"/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000"/>
                            </p:stCondLst>
                            <p:childTnLst>
                              <p:par>
                                <p:cTn id="47" presetID="1" presetClass="entr" presetSubtype="0" fill="hold" grpId="0" nodeType="afterEffect">
                                  <p:stCondLst>
                                    <p:cond delay="10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8" fill="hold"/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100"/>
                            </p:stCondLst>
                            <p:childTnLst>
                              <p:par>
                                <p:cTn id="50" presetID="1" presetClass="entr" presetSubtype="0" fill="hold" grpId="0" nodeType="afterEffect">
                                  <p:stCondLst>
                                    <p:cond delay="10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1" fill="hold"/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5" grpId="0" animBg="1" advAuto="0"/>
      <p:bldP spid="286" grpId="0" animBg="1" advAuto="0"/>
      <p:bldP spid="288" grpId="0" animBg="1" advAuto="0"/>
      <p:bldP spid="289" grpId="0" animBg="1" advAuto="0"/>
      <p:bldP spid="290" grpId="0" animBg="1" advAuto="0"/>
      <p:bldP spid="291" grpId="0" animBg="1" advAuto="0"/>
      <p:bldP spid="291" grpId="1" animBg="1" advAuto="0"/>
      <p:bldP spid="292" grpId="0" animBg="1" advAuto="0"/>
      <p:bldP spid="293" grpId="0" animBg="1" advAuto="0"/>
      <p:bldP spid="294" grpId="0" animBg="1" advAuto="0"/>
      <p:bldP spid="295" grpId="0" animBg="1" advAuto="0"/>
      <p:bldP spid="296" grpId="0" animBg="1" advAuto="0"/>
      <p:bldP spid="297" grpId="0" animBg="1" advAuto="0"/>
      <p:bldP spid="298" grpId="0" animBg="1" advAuto="0"/>
      <p:bldP spid="299" grpId="0" animBg="1" advAuto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9" name="pasted-image.pd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42950" y="2310278"/>
            <a:ext cx="7480300" cy="3670301"/>
          </a:xfrm>
          <a:prstGeom prst="rect">
            <a:avLst/>
          </a:prstGeom>
          <a:ln w="12700">
            <a:miter lim="400000"/>
          </a:ln>
        </p:spPr>
      </p:pic>
      <p:sp>
        <p:nvSpPr>
          <p:cNvPr id="333" name="Shape 333"/>
          <p:cNvSpPr/>
          <p:nvPr/>
        </p:nvSpPr>
        <p:spPr>
          <a:xfrm>
            <a:off x="6973957" y="5457252"/>
            <a:ext cx="237491" cy="447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2100" b="1">
                <a:solidFill>
                  <a:srgbClr val="AB5A52"/>
                </a:solidFill>
              </a:defRPr>
            </a:lvl1pPr>
          </a:lstStyle>
          <a:p>
            <a:r>
              <a:t>1</a:t>
            </a:r>
          </a:p>
        </p:txBody>
      </p:sp>
      <p:sp>
        <p:nvSpPr>
          <p:cNvPr id="334" name="Shape 334"/>
          <p:cNvSpPr/>
          <p:nvPr/>
        </p:nvSpPr>
        <p:spPr>
          <a:xfrm>
            <a:off x="7583557" y="4530152"/>
            <a:ext cx="237491" cy="447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2100" b="1">
                <a:solidFill>
                  <a:srgbClr val="AB5A52"/>
                </a:solidFill>
              </a:defRPr>
            </a:lvl1pPr>
          </a:lstStyle>
          <a:p>
            <a:r>
              <a:t>2</a:t>
            </a:r>
          </a:p>
        </p:txBody>
      </p:sp>
      <p:sp>
        <p:nvSpPr>
          <p:cNvPr id="335" name="Shape 335"/>
          <p:cNvSpPr/>
          <p:nvPr/>
        </p:nvSpPr>
        <p:spPr>
          <a:xfrm>
            <a:off x="7850257" y="5012752"/>
            <a:ext cx="237491" cy="447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2100" b="1">
                <a:solidFill>
                  <a:srgbClr val="AB5A52"/>
                </a:solidFill>
              </a:defRPr>
            </a:lvl1pPr>
          </a:lstStyle>
          <a:p>
            <a:r>
              <a:t>3</a:t>
            </a:r>
          </a:p>
        </p:txBody>
      </p:sp>
      <p:sp>
        <p:nvSpPr>
          <p:cNvPr id="336" name="Shape 336"/>
          <p:cNvSpPr/>
          <p:nvPr/>
        </p:nvSpPr>
        <p:spPr>
          <a:xfrm>
            <a:off x="6453256" y="4822252"/>
            <a:ext cx="237491" cy="447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2100" b="1">
                <a:solidFill>
                  <a:srgbClr val="AB5A52"/>
                </a:solidFill>
              </a:defRPr>
            </a:lvl1pPr>
          </a:lstStyle>
          <a:p>
            <a:r>
              <a:t>4</a:t>
            </a:r>
          </a:p>
        </p:txBody>
      </p:sp>
      <p:sp>
        <p:nvSpPr>
          <p:cNvPr id="337" name="Shape 337"/>
          <p:cNvSpPr/>
          <p:nvPr/>
        </p:nvSpPr>
        <p:spPr>
          <a:xfrm>
            <a:off x="7850257" y="5410529"/>
            <a:ext cx="237491" cy="447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2100" b="1">
                <a:solidFill>
                  <a:srgbClr val="AB5A52"/>
                </a:solidFill>
              </a:defRPr>
            </a:lvl1pPr>
          </a:lstStyle>
          <a:p>
            <a:r>
              <a:t>5</a:t>
            </a:r>
          </a:p>
        </p:txBody>
      </p:sp>
      <p:sp>
        <p:nvSpPr>
          <p:cNvPr id="338" name="Shape 338"/>
          <p:cNvSpPr/>
          <p:nvPr/>
        </p:nvSpPr>
        <p:spPr>
          <a:xfrm>
            <a:off x="6046856" y="5279452"/>
            <a:ext cx="237491" cy="447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2100" b="1">
                <a:solidFill>
                  <a:srgbClr val="AB5A52"/>
                </a:solidFill>
              </a:defRPr>
            </a:lvl1pPr>
          </a:lstStyle>
          <a:p>
            <a:r>
              <a:t>6</a:t>
            </a:r>
          </a:p>
        </p:txBody>
      </p:sp>
      <p:pic>
        <p:nvPicPr>
          <p:cNvPr id="339" name="pasted-image.pdf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7149851" y="5115623"/>
            <a:ext cx="241301" cy="241301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3. Result </a:t>
            </a:r>
            <a:r>
              <a:rPr lang="en-US" dirty="0" smtClean="0"/>
              <a:t>Aggregation</a:t>
            </a:r>
            <a:endParaRPr lang="en-US" dirty="0"/>
          </a:p>
        </p:txBody>
      </p:sp>
      <p:sp>
        <p:nvSpPr>
          <p:cNvPr id="14" name="Rechteck 13"/>
          <p:cNvSpPr/>
          <p:nvPr/>
        </p:nvSpPr>
        <p:spPr>
          <a:xfrm>
            <a:off x="5573485" y="2381373"/>
            <a:ext cx="313509" cy="33570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B03EE-0F65-4FB3-87AD-3AF455168DB9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189359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Shape 347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>
            <a:normAutofit lnSpcReduction="10000"/>
          </a:bodyPr>
          <a:lstStyle/>
          <a:p>
            <a:pPr marL="230605" indent="-230605">
              <a:buFontTx/>
              <a:buChar char="•"/>
              <a:defRPr sz="2300"/>
            </a:pPr>
            <a:r>
              <a:rPr lang="de-DE" sz="2400" dirty="0"/>
              <a:t>Data</a:t>
            </a:r>
            <a:endParaRPr lang="de-DE" dirty="0"/>
          </a:p>
          <a:p>
            <a:pPr marL="581526" lvl="1" indent="-200526">
              <a:buFontTx/>
              <a:buChar char="•"/>
              <a:defRPr sz="2000"/>
            </a:pPr>
            <a:r>
              <a:rPr lang="de-DE" dirty="0" err="1"/>
              <a:t>DBPedia</a:t>
            </a:r>
            <a:r>
              <a:rPr lang="de-DE" dirty="0"/>
              <a:t> 3.9</a:t>
            </a:r>
          </a:p>
          <a:p>
            <a:pPr marL="581526" lvl="1" indent="-200526">
              <a:buFontTx/>
              <a:buChar char="•"/>
              <a:defRPr sz="2000"/>
            </a:pPr>
            <a:r>
              <a:rPr lang="de-DE" dirty="0"/>
              <a:t>50 </a:t>
            </a:r>
            <a:r>
              <a:rPr lang="de-DE" dirty="0" err="1"/>
              <a:t>most</a:t>
            </a:r>
            <a:r>
              <a:rPr lang="de-DE" dirty="0"/>
              <a:t> </a:t>
            </a:r>
            <a:r>
              <a:rPr lang="de-DE" dirty="0" err="1"/>
              <a:t>frequent</a:t>
            </a:r>
            <a:r>
              <a:rPr lang="de-DE" dirty="0"/>
              <a:t> </a:t>
            </a:r>
            <a:r>
              <a:rPr lang="de-DE" dirty="0" err="1"/>
              <a:t>numerical</a:t>
            </a:r>
            <a:r>
              <a:rPr lang="de-DE" dirty="0"/>
              <a:t> </a:t>
            </a:r>
            <a:r>
              <a:rPr lang="de-DE" dirty="0" err="1" smtClean="0"/>
              <a:t>properties</a:t>
            </a:r>
            <a:endParaRPr lang="de-DE" dirty="0"/>
          </a:p>
          <a:p>
            <a:pPr marL="240631" indent="-240631">
              <a:buFontTx/>
              <a:buChar char="•"/>
            </a:pPr>
            <a:r>
              <a:rPr lang="de-DE" sz="2400" dirty="0" smtClean="0">
                <a:solidFill>
                  <a:prstClr val="black"/>
                </a:solidFill>
              </a:rPr>
              <a:t>Aggregation Levels</a:t>
            </a:r>
          </a:p>
          <a:p>
            <a:pPr marL="240631" indent="-240631">
              <a:buFontTx/>
              <a:buChar char="•"/>
            </a:pPr>
            <a:endParaRPr lang="en-US" sz="2400" dirty="0" smtClean="0"/>
          </a:p>
          <a:p>
            <a:pPr marL="240631" indent="-240631">
              <a:buFontTx/>
              <a:buChar char="•"/>
            </a:pPr>
            <a:endParaRPr lang="en-US" sz="2400" dirty="0"/>
          </a:p>
          <a:p>
            <a:pPr marL="240631" indent="-240631">
              <a:buFontTx/>
              <a:buChar char="•"/>
            </a:pPr>
            <a:r>
              <a:rPr lang="en-US" sz="2400" dirty="0" smtClean="0"/>
              <a:t>Aggregation </a:t>
            </a:r>
            <a:r>
              <a:rPr lang="en-US" sz="2400" dirty="0"/>
              <a:t>Function</a:t>
            </a:r>
          </a:p>
          <a:p>
            <a:pPr marL="697831" lvl="1" indent="-240631">
              <a:buFontTx/>
              <a:buChar char="•"/>
            </a:pPr>
            <a:r>
              <a:rPr lang="en-US" i="1" dirty="0">
                <a:ea typeface="Avenir Next Demi Bold"/>
                <a:cs typeface="Avenir Next Demi Bold"/>
                <a:sym typeface="Avenir Next Demi Bold"/>
              </a:rPr>
              <a:t>majority vote</a:t>
            </a:r>
            <a:r>
              <a:rPr lang="en-US" i="1" dirty="0"/>
              <a:t> </a:t>
            </a:r>
            <a:r>
              <a:rPr lang="en-US" dirty="0"/>
              <a:t>and</a:t>
            </a:r>
            <a:r>
              <a:rPr lang="en-US" i="1" dirty="0"/>
              <a:t> </a:t>
            </a:r>
            <a:r>
              <a:rPr lang="en-US" i="1" dirty="0">
                <a:ea typeface="Avenir Next Demi Bold"/>
                <a:cs typeface="Avenir Next Demi Bold"/>
                <a:sym typeface="Avenir Next Demi Bold"/>
              </a:rPr>
              <a:t>average </a:t>
            </a:r>
            <a:r>
              <a:rPr lang="en-US" i="1" dirty="0" smtClean="0">
                <a:ea typeface="Avenir Next Demi Bold"/>
                <a:cs typeface="Avenir Next Demi Bold"/>
                <a:sym typeface="Avenir Next Demi Bold"/>
              </a:rPr>
              <a:t>distance</a:t>
            </a:r>
          </a:p>
          <a:p>
            <a:pPr marL="697831" lvl="1" indent="-240631">
              <a:buFontTx/>
              <a:buChar char="•"/>
            </a:pPr>
            <a:endParaRPr lang="de-DE" sz="2400" dirty="0"/>
          </a:p>
          <a:p>
            <a:pPr marL="240631" indent="-240631">
              <a:buFontTx/>
              <a:buChar char="•"/>
            </a:pPr>
            <a:r>
              <a:rPr lang="de-DE" sz="2400" dirty="0" smtClean="0"/>
              <a:t>Evaluation </a:t>
            </a:r>
            <a:r>
              <a:rPr lang="de-DE" sz="2400" dirty="0" err="1" smtClean="0"/>
              <a:t>of</a:t>
            </a:r>
            <a:r>
              <a:rPr lang="de-DE" sz="2400" dirty="0" smtClean="0"/>
              <a:t> </a:t>
            </a:r>
            <a:r>
              <a:rPr lang="de-DE" sz="2400" dirty="0" smtClean="0"/>
              <a:t>different </a:t>
            </a:r>
            <a:r>
              <a:rPr lang="de-DE" sz="2400" dirty="0" err="1" smtClean="0"/>
              <a:t>distance</a:t>
            </a:r>
            <a:r>
              <a:rPr lang="de-DE" sz="2400" dirty="0" smtClean="0"/>
              <a:t> </a:t>
            </a:r>
            <a:r>
              <a:rPr lang="de-DE" sz="2400" dirty="0" err="1" smtClean="0"/>
              <a:t>functions</a:t>
            </a:r>
            <a:endParaRPr lang="de-DE" sz="2400" dirty="0" smtClean="0"/>
          </a:p>
          <a:p>
            <a:pPr marL="697831" lvl="1" indent="-240631">
              <a:buFontTx/>
              <a:buChar char="•"/>
            </a:pPr>
            <a:r>
              <a:rPr lang="de-DE" sz="2000" dirty="0" smtClean="0">
                <a:latin typeface="Avenir Next Demi Bold"/>
                <a:ea typeface="Avenir Next Demi Bold"/>
                <a:cs typeface="Avenir Next Demi Bold"/>
                <a:sym typeface="Avenir Next Demi Bold"/>
              </a:rPr>
              <a:t>Best</a:t>
            </a:r>
            <a:r>
              <a:rPr lang="de-DE" sz="2000" dirty="0" smtClean="0"/>
              <a:t>: </a:t>
            </a:r>
            <a:r>
              <a:rPr lang="de-DE" sz="2000" i="1" dirty="0" err="1" smtClean="0"/>
              <a:t>Kolmogorov-Smirnov</a:t>
            </a:r>
            <a:r>
              <a:rPr lang="de-DE" sz="2000" i="1" dirty="0" smtClean="0"/>
              <a:t> </a:t>
            </a:r>
            <a:r>
              <a:rPr lang="de-DE" sz="2000" i="1" dirty="0"/>
              <a:t>(KS) </a:t>
            </a:r>
            <a:r>
              <a:rPr lang="de-DE" sz="2000" i="1" dirty="0" err="1"/>
              <a:t>distance</a:t>
            </a:r>
            <a:endParaRPr sz="2000" dirty="0" smtClean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Evaluation: Setup</a:t>
            </a:r>
            <a:endParaRPr lang="en-US" dirty="0"/>
          </a:p>
        </p:txBody>
      </p:sp>
      <p:graphicFrame>
        <p:nvGraphicFramePr>
          <p:cNvPr id="3" name="Tabel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6898807"/>
              </p:ext>
            </p:extLst>
          </p:nvPr>
        </p:nvGraphicFramePr>
        <p:xfrm>
          <a:off x="1022783" y="3212597"/>
          <a:ext cx="6096000" cy="762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32000"/>
                <a:gridCol w="2032000"/>
                <a:gridCol w="2032000"/>
              </a:tblGrid>
              <a:tr h="372255"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kumimoji="0" lang="de-DE" sz="2000" b="0" i="1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 Light" panose="020F0302020204030204"/>
                          <a:ea typeface="+mn-ea"/>
                          <a:cs typeface="+mn-cs"/>
                        </a:rPr>
                        <a:t>property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de-DE" sz="20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 Light" panose="020F0302020204030204"/>
                          <a:ea typeface="+mn-ea"/>
                          <a:cs typeface="+mn-cs"/>
                        </a:rPr>
                        <a:t>type</a:t>
                      </a:r>
                      <a:endParaRPr kumimoji="0" lang="en-US" sz="1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de-DE" sz="18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 Light" panose="020F0302020204030204"/>
                          <a:ea typeface="+mn-ea"/>
                          <a:cs typeface="+mn-cs"/>
                        </a:rPr>
                        <a:t>p-o </a:t>
                      </a:r>
                      <a:r>
                        <a:rPr kumimoji="0" lang="de-DE" sz="1800" b="0" i="1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 Light" panose="020F0302020204030204"/>
                          <a:ea typeface="+mn-ea"/>
                          <a:cs typeface="+mn-cs"/>
                        </a:rPr>
                        <a:t>level</a:t>
                      </a:r>
                      <a:endParaRPr kumimoji="0" lang="en-US" sz="16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50520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sz="16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B03EE-0F65-4FB3-87AD-3AF455168DB9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6359463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Screen Shot 2016-06-14 at 21.41.12.png"/>
          <p:cNvPicPr>
            <a:picLocks noChangeAspect="1"/>
          </p:cNvPicPr>
          <p:nvPr/>
        </p:nvPicPr>
        <p:blipFill rotWithShape="1">
          <a:blip r:embed="rId2">
            <a:extLst/>
          </a:blip>
          <a:srcRect l="65403"/>
          <a:stretch/>
        </p:blipFill>
        <p:spPr>
          <a:xfrm>
            <a:off x="4055902" y="3657413"/>
            <a:ext cx="2888703" cy="2598719"/>
          </a:xfrm>
          <a:prstGeom prst="rect">
            <a:avLst/>
          </a:prstGeom>
          <a:ln w="12700">
            <a:miter lim="400000"/>
          </a:ln>
        </p:spPr>
      </p:pic>
      <p:pic>
        <p:nvPicPr>
          <p:cNvPr id="365" name="Screen Shot 2016-06-14 at 21.41.12.png"/>
          <p:cNvPicPr>
            <a:picLocks noChangeAspect="1"/>
          </p:cNvPicPr>
          <p:nvPr/>
        </p:nvPicPr>
        <p:blipFill rotWithShape="1">
          <a:blip r:embed="rId2">
            <a:extLst/>
          </a:blip>
          <a:srcRect r="51700"/>
          <a:stretch/>
        </p:blipFill>
        <p:spPr>
          <a:xfrm>
            <a:off x="1460782" y="3655999"/>
            <a:ext cx="4032806" cy="2598719"/>
          </a:xfrm>
          <a:prstGeom prst="rect">
            <a:avLst/>
          </a:prstGeom>
          <a:ln w="12700">
            <a:miter lim="400000"/>
          </a:ln>
        </p:spPr>
      </p:pic>
      <p:sp>
        <p:nvSpPr>
          <p:cNvPr id="368" name="Shape 368"/>
          <p:cNvSpPr/>
          <p:nvPr/>
        </p:nvSpPr>
        <p:spPr>
          <a:xfrm>
            <a:off x="3349277" y="5605950"/>
            <a:ext cx="490440" cy="511881"/>
          </a:xfrm>
          <a:prstGeom prst="rect">
            <a:avLst/>
          </a:prstGeom>
          <a:solidFill>
            <a:schemeClr val="accent1">
              <a:alpha val="43797"/>
            </a:schemeClr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>
              <a:defRPr>
                <a:latin typeface="Avenir Next"/>
                <a:ea typeface="Avenir Next"/>
                <a:cs typeface="Avenir Next"/>
                <a:sym typeface="Avenir Next"/>
              </a:defRPr>
            </a:pPr>
            <a:endParaRPr/>
          </a:p>
        </p:txBody>
      </p:sp>
      <p:sp>
        <p:nvSpPr>
          <p:cNvPr id="369" name="Shape 369"/>
          <p:cNvSpPr/>
          <p:nvPr/>
        </p:nvSpPr>
        <p:spPr>
          <a:xfrm>
            <a:off x="4420470" y="5873989"/>
            <a:ext cx="508907" cy="243841"/>
          </a:xfrm>
          <a:prstGeom prst="rect">
            <a:avLst/>
          </a:prstGeom>
          <a:solidFill>
            <a:schemeClr val="accent1">
              <a:alpha val="43797"/>
            </a:schemeClr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>
              <a:defRPr>
                <a:latin typeface="Avenir Next"/>
                <a:ea typeface="Avenir Next"/>
                <a:cs typeface="Avenir Next"/>
                <a:sym typeface="Avenir Next"/>
              </a:defRPr>
            </a:pPr>
            <a:endParaRPr/>
          </a:p>
        </p:txBody>
      </p:sp>
      <p:sp>
        <p:nvSpPr>
          <p:cNvPr id="371" name="Shape 371"/>
          <p:cNvSpPr/>
          <p:nvPr/>
        </p:nvSpPr>
        <p:spPr>
          <a:xfrm>
            <a:off x="5500253" y="5861437"/>
            <a:ext cx="561726" cy="268944"/>
          </a:xfrm>
          <a:prstGeom prst="rect">
            <a:avLst/>
          </a:prstGeom>
          <a:solidFill>
            <a:schemeClr val="accent1">
              <a:alpha val="43797"/>
            </a:schemeClr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>
              <a:defRPr>
                <a:latin typeface="Avenir Next"/>
                <a:ea typeface="Avenir Next"/>
                <a:cs typeface="Avenir Next"/>
                <a:sym typeface="Avenir Next"/>
              </a:defRPr>
            </a:pPr>
            <a:endParaRPr/>
          </a:p>
        </p:txBody>
      </p:sp>
      <p:sp>
        <p:nvSpPr>
          <p:cNvPr id="12" name="Titel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>
            <a:normAutofit/>
          </a:bodyPr>
          <a:lstStyle/>
          <a:p>
            <a:r>
              <a:rPr lang="de-DE" dirty="0" smtClean="0"/>
              <a:t>Evaluation</a:t>
            </a:r>
            <a:r>
              <a:rPr lang="de-DE" dirty="0"/>
              <a:t/>
            </a:r>
            <a:br>
              <a:rPr lang="de-DE" dirty="0"/>
            </a:br>
            <a:r>
              <a:rPr lang="de-DE" sz="2400" dirty="0"/>
              <a:t> </a:t>
            </a:r>
            <a:r>
              <a:rPr lang="de-DE" sz="2400" dirty="0" smtClean="0"/>
              <a:t>           </a:t>
            </a:r>
            <a:r>
              <a:rPr lang="de-DE" sz="2400" i="1" dirty="0"/>
              <a:t>33657 Test </a:t>
            </a:r>
            <a:r>
              <a:rPr lang="de-DE" sz="2400" i="1" dirty="0" smtClean="0"/>
              <a:t>Nodes</a:t>
            </a:r>
            <a:endParaRPr lang="en-US" sz="2400" dirty="0"/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B03EE-0F65-4FB3-87AD-3AF455168DB9}" type="slidenum">
              <a:rPr lang="en-US" smtClean="0"/>
              <a:t>18</a:t>
            </a:fld>
            <a:endParaRPr lang="en-US"/>
          </a:p>
        </p:txBody>
      </p:sp>
      <p:sp>
        <p:nvSpPr>
          <p:cNvPr id="3" name="Textfeld 2"/>
          <p:cNvSpPr txBox="1"/>
          <p:nvPr/>
        </p:nvSpPr>
        <p:spPr>
          <a:xfrm>
            <a:off x="1526822" y="3418360"/>
            <a:ext cx="36228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Accuracy results:</a:t>
            </a:r>
            <a:endParaRPr lang="en-US" dirty="0"/>
          </a:p>
        </p:txBody>
      </p:sp>
      <p:sp>
        <p:nvSpPr>
          <p:cNvPr id="4" name="Textfeld 3"/>
          <p:cNvSpPr txBox="1"/>
          <p:nvPr/>
        </p:nvSpPr>
        <p:spPr>
          <a:xfrm>
            <a:off x="667499" y="1850837"/>
            <a:ext cx="362287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/>
              <a:t>Majority vote slightly </a:t>
            </a:r>
            <a:r>
              <a:rPr lang="en-US" sz="2200" dirty="0" smtClean="0"/>
              <a:t>better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 smtClean="0"/>
              <a:t>More </a:t>
            </a:r>
            <a:r>
              <a:rPr lang="en-US" sz="2200" dirty="0"/>
              <a:t>neighbors also </a:t>
            </a:r>
            <a:r>
              <a:rPr lang="en-US" sz="2200" dirty="0" smtClean="0"/>
              <a:t>better</a:t>
            </a:r>
          </a:p>
        </p:txBody>
      </p:sp>
      <p:sp>
        <p:nvSpPr>
          <p:cNvPr id="6" name="Textfeld 5"/>
          <p:cNvSpPr txBox="1"/>
          <p:nvPr/>
        </p:nvSpPr>
        <p:spPr>
          <a:xfrm>
            <a:off x="4378511" y="1850837"/>
            <a:ext cx="3895155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Top-5 shows already clear better results than </a:t>
            </a:r>
            <a:r>
              <a:rPr lang="en-US" sz="2000" dirty="0" smtClean="0"/>
              <a:t>top-1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9</a:t>
            </a:r>
            <a:r>
              <a:rPr lang="en-US" sz="2000" dirty="0"/>
              <a:t>% of test nodes are contained 1-1 in knowledge graph !!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33441543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Experimental OD Column labelling</a:t>
            </a:r>
            <a:endParaRPr lang="en-US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Data from two selected Open Data portals</a:t>
            </a:r>
          </a:p>
          <a:p>
            <a:pPr lvl="1"/>
            <a:r>
              <a:rPr lang="en-US" dirty="0"/>
              <a:t>1170 CSV </a:t>
            </a:r>
            <a:r>
              <a:rPr lang="en-US" dirty="0" smtClean="0"/>
              <a:t>tables</a:t>
            </a:r>
          </a:p>
          <a:p>
            <a:r>
              <a:rPr lang="en-US" dirty="0" smtClean="0"/>
              <a:t>Manual </a:t>
            </a:r>
            <a:r>
              <a:rPr lang="en-US" dirty="0"/>
              <a:t>inspection of  top 100 </a:t>
            </a:r>
            <a:r>
              <a:rPr lang="en-US" dirty="0" smtClean="0"/>
              <a:t>tables</a:t>
            </a:r>
          </a:p>
          <a:p>
            <a:endParaRPr lang="en-US" dirty="0"/>
          </a:p>
          <a:p>
            <a:r>
              <a:rPr lang="en-US" b="1" dirty="0" smtClean="0"/>
              <a:t>Lessons learned</a:t>
            </a:r>
            <a:r>
              <a:rPr lang="en-US" dirty="0" smtClean="0"/>
              <a:t>:</a:t>
            </a:r>
          </a:p>
          <a:p>
            <a:pPr lvl="1"/>
            <a:r>
              <a:rPr lang="en-US" dirty="0"/>
              <a:t>Missing domain knowledge</a:t>
            </a:r>
          </a:p>
          <a:p>
            <a:pPr lvl="1"/>
            <a:r>
              <a:rPr lang="en-US" dirty="0" smtClean="0"/>
              <a:t>Timeline data</a:t>
            </a:r>
            <a:endParaRPr lang="en-US" dirty="0"/>
          </a:p>
          <a:p>
            <a:pPr lvl="1"/>
            <a:r>
              <a:rPr lang="en-US" dirty="0" smtClean="0"/>
              <a:t>Combine with (existing) complementary approaches</a:t>
            </a:r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B03EE-0F65-4FB3-87AD-3AF455168DB9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56918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el 1"/>
          <p:cNvSpPr txBox="1">
            <a:spLocks/>
          </p:cNvSpPr>
          <p:nvPr/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Conclusions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  <p:sp>
        <p:nvSpPr>
          <p:cNvPr id="14" name="Inhaltsplatzhalter 2"/>
          <p:cNvSpPr txBox="1">
            <a:spLocks/>
          </p:cNvSpPr>
          <p:nvPr/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Semantic labelling of numerical values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Hierarchical unsupervised background knowledge (BK)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We can assign fine-grained semantic labels if there is enough evidence in BK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Complementary to existing approaches</a:t>
            </a:r>
            <a:endParaRPr kumimoji="0" lang="en-US" sz="5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Future work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000" dirty="0" smtClean="0">
                <a:solidFill>
                  <a:sysClr val="windowText" lastClr="000000"/>
                </a:solidFill>
                <a:latin typeface="Calibri" panose="020F0502020204030204"/>
              </a:rPr>
              <a:t>Fi</a:t>
            </a:r>
            <a:r>
              <a:rPr kumimoji="0" 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nd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and integrate more background knowledge</a:t>
            </a:r>
            <a:endParaRPr kumimoji="0" lang="en-US" sz="24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000" dirty="0">
                <a:solidFill>
                  <a:sysClr val="windowText" lastClr="000000"/>
                </a:solidFill>
                <a:latin typeface="Calibri" panose="020F0502020204030204"/>
              </a:rPr>
              <a:t>S</a:t>
            </a:r>
            <a:r>
              <a:rPr kumimoji="0" 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olve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the domain mismatch</a:t>
            </a:r>
            <a:r>
              <a:rPr kumimoji="0" lang="en-US" sz="2000" b="0" i="0" u="none" strike="noStrike" kern="1200" cap="none" spc="0" normalizeH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between Open Data and existing KGs</a:t>
            </a:r>
            <a:endParaRPr kumimoji="0" lang="en-US" sz="20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000" dirty="0" smtClean="0">
                <a:solidFill>
                  <a:sysClr val="windowText" lastClr="000000"/>
                </a:solidFill>
                <a:latin typeface="Calibri" panose="020F0502020204030204"/>
              </a:rPr>
              <a:t>Potentially applicable in </a:t>
            </a:r>
            <a:r>
              <a:rPr lang="en-US" sz="2000" dirty="0">
                <a:solidFill>
                  <a:sysClr val="windowText" lastClr="000000"/>
                </a:solidFill>
                <a:latin typeface="Calibri" panose="020F0502020204030204"/>
              </a:rPr>
              <a:t>o</a:t>
            </a:r>
            <a:r>
              <a:rPr kumimoji="0" 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ther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use cases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hteck 14"/>
          <p:cNvSpPr/>
          <p:nvPr/>
        </p:nvSpPr>
        <p:spPr>
          <a:xfrm>
            <a:off x="571048" y="5473149"/>
            <a:ext cx="4741181" cy="1263368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76193" tIns="38096" rIns="76193" bIns="38096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AT" sz="1500" b="0" i="0" u="none" strike="noStrike" kern="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6" name="Grafik 15" descr="Logo-für-VK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19957" y="5513339"/>
            <a:ext cx="273773" cy="1179635"/>
          </a:xfrm>
          <a:prstGeom prst="rect">
            <a:avLst/>
          </a:prstGeom>
        </p:spPr>
      </p:pic>
      <p:sp>
        <p:nvSpPr>
          <p:cNvPr id="17" name="Textplatzhalter 1"/>
          <p:cNvSpPr txBox="1">
            <a:spLocks/>
          </p:cNvSpPr>
          <p:nvPr/>
        </p:nvSpPr>
        <p:spPr>
          <a:xfrm>
            <a:off x="1142639" y="5527115"/>
            <a:ext cx="5166133" cy="11658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 smtClean="0">
                <a:solidFill>
                  <a:prstClr val="black"/>
                </a:solidFill>
                <a:latin typeface="Calibri" panose="020F0502020204030204"/>
              </a:rPr>
              <a:t>Sebastian Neumaier</a:t>
            </a:r>
          </a:p>
          <a:p>
            <a:r>
              <a:rPr lang="en-US" sz="1100" dirty="0" smtClean="0">
                <a:solidFill>
                  <a:prstClr val="black"/>
                </a:solidFill>
                <a:latin typeface="Calibri" panose="020F0502020204030204"/>
              </a:rPr>
              <a:t>WU Vienna, Institute for Information Business</a:t>
            </a:r>
          </a:p>
          <a:p>
            <a:endParaRPr lang="en-US" sz="1100" dirty="0" smtClean="0">
              <a:solidFill>
                <a:prstClr val="black"/>
              </a:solidFill>
              <a:latin typeface="Calibri" panose="020F0502020204030204"/>
            </a:endParaRPr>
          </a:p>
          <a:p>
            <a:r>
              <a:rPr lang="en-US" sz="1100" i="1" dirty="0" smtClean="0">
                <a:solidFill>
                  <a:prstClr val="black"/>
                </a:solidFill>
                <a:latin typeface="Calibri" panose="020F0502020204030204"/>
              </a:rPr>
              <a:t>email</a:t>
            </a:r>
            <a:r>
              <a:rPr lang="en-US" sz="1100" dirty="0" smtClean="0">
                <a:solidFill>
                  <a:prstClr val="black"/>
                </a:solidFill>
                <a:latin typeface="Calibri" panose="020F0502020204030204"/>
              </a:rPr>
              <a:t>: sebastian.neumaier@wu.ac.at</a:t>
            </a:r>
          </a:p>
          <a:p>
            <a:r>
              <a:rPr lang="en-US" sz="1100" i="1" dirty="0" smtClean="0">
                <a:solidFill>
                  <a:prstClr val="black"/>
                </a:solidFill>
                <a:latin typeface="Calibri" panose="020F0502020204030204"/>
              </a:rPr>
              <a:t>url</a:t>
            </a:r>
            <a:r>
              <a:rPr lang="en-US" sz="1100" dirty="0" smtClean="0">
                <a:solidFill>
                  <a:prstClr val="black"/>
                </a:solidFill>
                <a:latin typeface="Calibri" panose="020F0502020204030204"/>
              </a:rPr>
              <a:t>: https://sebneumaier.wordpress.com/</a:t>
            </a:r>
          </a:p>
          <a:p>
            <a:r>
              <a:rPr lang="en-US" sz="1100" i="1" dirty="0" smtClean="0">
                <a:solidFill>
                  <a:prstClr val="black"/>
                </a:solidFill>
                <a:latin typeface="Calibri" panose="020F0502020204030204"/>
              </a:rPr>
              <a:t>twitter</a:t>
            </a:r>
            <a:r>
              <a:rPr lang="en-US" sz="1100" dirty="0" smtClean="0">
                <a:solidFill>
                  <a:prstClr val="black"/>
                </a:solidFill>
                <a:latin typeface="Calibri" panose="020F0502020204030204"/>
              </a:rPr>
              <a:t>: @</a:t>
            </a:r>
            <a:r>
              <a:rPr lang="en-US" sz="1100" dirty="0" err="1" smtClean="0">
                <a:solidFill>
                  <a:prstClr val="black"/>
                </a:solidFill>
                <a:latin typeface="Calibri" panose="020F0502020204030204"/>
              </a:rPr>
              <a:t>sebneum</a:t>
            </a:r>
            <a:endParaRPr lang="en-US" sz="1100" dirty="0" smtClean="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702817919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Backup Slides</a:t>
            </a:r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B03EE-0F65-4FB3-87AD-3AF455168DB9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42808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BKG: Type hierarchy</a:t>
            </a:r>
            <a:endParaRPr lang="en-US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628650" y="1825625"/>
            <a:ext cx="7646670" cy="4351338"/>
          </a:xfrm>
        </p:spPr>
        <p:txBody>
          <a:bodyPr>
            <a:normAutofit/>
          </a:bodyPr>
          <a:lstStyle/>
          <a:p>
            <a:r>
              <a:rPr lang="en-US" sz="2400" dirty="0" smtClean="0"/>
              <a:t>Represents </a:t>
            </a:r>
            <a:r>
              <a:rPr lang="en-US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rdfs:subClassOf</a:t>
            </a:r>
            <a:r>
              <a:rPr lang="en-US" sz="2400" dirty="0"/>
              <a:t> relation for all available types</a:t>
            </a:r>
          </a:p>
          <a:p>
            <a:r>
              <a:rPr lang="en-US" sz="2400" dirty="0"/>
              <a:t>Construction</a:t>
            </a:r>
            <a:r>
              <a:rPr lang="en-US" sz="2400" dirty="0" smtClean="0"/>
              <a:t>:</a:t>
            </a:r>
            <a:endParaRPr lang="en-US" sz="2000" dirty="0"/>
          </a:p>
          <a:p>
            <a:pPr marL="914400" lvl="1" indent="-457200">
              <a:buFont typeface="+mj-lt"/>
              <a:buAutoNum type="arabicPeriod"/>
            </a:pPr>
            <a:r>
              <a:rPr lang="en-US" sz="2000" dirty="0"/>
              <a:t>Find properties with </a:t>
            </a:r>
            <a:r>
              <a:rPr lang="en-US" sz="2000" dirty="0" smtClean="0"/>
              <a:t/>
            </a:r>
            <a:br>
              <a:rPr lang="en-US" sz="2000" dirty="0" smtClean="0"/>
            </a:br>
            <a:r>
              <a:rPr lang="en-US" sz="2000" b="1" dirty="0" smtClean="0"/>
              <a:t>numerical range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000" dirty="0" smtClean="0"/>
              <a:t>Collect </a:t>
            </a:r>
            <a:r>
              <a:rPr lang="en-US" sz="2000" b="1" dirty="0"/>
              <a:t>entities</a:t>
            </a:r>
            <a:r>
              <a:rPr lang="en-US" sz="2000" dirty="0"/>
              <a:t> and all </a:t>
            </a:r>
            <a:r>
              <a:rPr lang="en-US" sz="2000" dirty="0" smtClean="0"/>
              <a:t/>
            </a:r>
            <a:br>
              <a:rPr lang="en-US" sz="2000" dirty="0" smtClean="0"/>
            </a:br>
            <a:r>
              <a:rPr lang="en-US" sz="2000" dirty="0" smtClean="0"/>
              <a:t>of </a:t>
            </a:r>
            <a:r>
              <a:rPr lang="en-US" sz="2000" dirty="0"/>
              <a:t>their </a:t>
            </a:r>
            <a:r>
              <a:rPr lang="en-US" sz="2000" b="1" dirty="0"/>
              <a:t>p-o </a:t>
            </a:r>
            <a:r>
              <a:rPr lang="en-US" sz="2000" b="1" dirty="0" smtClean="0"/>
              <a:t>pairs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000" dirty="0" smtClean="0"/>
              <a:t>Materials </a:t>
            </a:r>
            <a:r>
              <a:rPr lang="en-US" sz="2000" dirty="0"/>
              <a:t>the OWL </a:t>
            </a:r>
            <a:r>
              <a:rPr lang="en-US" sz="2000" dirty="0" smtClean="0"/>
              <a:t/>
            </a:r>
            <a:br>
              <a:rPr lang="en-US" sz="2000" dirty="0" smtClean="0"/>
            </a:br>
            <a:r>
              <a:rPr lang="en-US" sz="2000" dirty="0" smtClean="0"/>
              <a:t>class hierarchy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000" dirty="0" smtClean="0"/>
              <a:t>Form </a:t>
            </a:r>
            <a:r>
              <a:rPr lang="en-US" sz="2000" dirty="0"/>
              <a:t>a cluster for each </a:t>
            </a:r>
            <a:r>
              <a:rPr lang="en-US" sz="2000" dirty="0" smtClean="0"/>
              <a:t/>
            </a:r>
            <a:br>
              <a:rPr lang="en-US" sz="2000" dirty="0" smtClean="0"/>
            </a:br>
            <a:r>
              <a:rPr lang="en-US" sz="2000" dirty="0" smtClean="0"/>
              <a:t>type</a:t>
            </a:r>
            <a:r>
              <a:rPr lang="en-US" sz="2000" dirty="0"/>
              <a:t>, containing all </a:t>
            </a:r>
            <a:r>
              <a:rPr lang="en-US" sz="2000" dirty="0" smtClean="0"/>
              <a:t/>
            </a:r>
            <a:br>
              <a:rPr lang="en-US" sz="2000" dirty="0" smtClean="0"/>
            </a:br>
            <a:r>
              <a:rPr lang="en-US" sz="2000" dirty="0" smtClean="0"/>
              <a:t>entity </a:t>
            </a:r>
            <a:r>
              <a:rPr lang="en-US" sz="2000" dirty="0"/>
              <a:t>information</a:t>
            </a:r>
          </a:p>
          <a:p>
            <a:endParaRPr lang="en-US" sz="2400" dirty="0"/>
          </a:p>
        </p:txBody>
      </p:sp>
      <p:pic>
        <p:nvPicPr>
          <p:cNvPr id="7" name="Grafik 6"/>
          <p:cNvPicPr>
            <a:picLocks noChangeAspect="1"/>
          </p:cNvPicPr>
          <p:nvPr/>
        </p:nvPicPr>
        <p:blipFill rotWithShape="1">
          <a:blip r:embed="rId2"/>
          <a:srcRect b="29851"/>
          <a:stretch/>
        </p:blipFill>
        <p:spPr>
          <a:xfrm>
            <a:off x="4312920" y="2952171"/>
            <a:ext cx="4389120" cy="2252289"/>
          </a:xfrm>
          <a:prstGeom prst="rect">
            <a:avLst/>
          </a:prstGeom>
        </p:spPr>
      </p:pic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B03EE-0F65-4FB3-87AD-3AF455168DB9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53956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BKG: p-o hierarchy</a:t>
            </a:r>
            <a:endParaRPr lang="en-US" dirty="0"/>
          </a:p>
        </p:txBody>
      </p:sp>
      <p:pic>
        <p:nvPicPr>
          <p:cNvPr id="6" name="Grafik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6977" y="2069465"/>
            <a:ext cx="3966716" cy="3733597"/>
          </a:xfrm>
          <a:prstGeom prst="rect">
            <a:avLst/>
          </a:prstGeom>
        </p:spPr>
      </p:pic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628650" y="1825625"/>
            <a:ext cx="5558790" cy="4351338"/>
          </a:xfrm>
        </p:spPr>
        <p:txBody>
          <a:bodyPr>
            <a:normAutofit/>
          </a:bodyPr>
          <a:lstStyle/>
          <a:p>
            <a:r>
              <a:rPr lang="en-US" sz="2400" dirty="0" smtClean="0"/>
              <a:t>Hierarchical </a:t>
            </a:r>
            <a:r>
              <a:rPr lang="en-US" sz="2400" dirty="0"/>
              <a:t>clustering </a:t>
            </a:r>
            <a:r>
              <a:rPr lang="en-US" sz="2400" dirty="0" smtClean="0"/>
              <a:t>approach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 smtClean="0"/>
              <a:t>Start </a:t>
            </a:r>
            <a:r>
              <a:rPr lang="en-US" sz="2000" dirty="0"/>
              <a:t>with one node </a:t>
            </a:r>
            <a:r>
              <a:rPr lang="en-US" sz="2000" dirty="0" smtClean="0"/>
              <a:t>cluster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B</a:t>
            </a:r>
            <a:r>
              <a:rPr lang="en-US" sz="2000" dirty="0" smtClean="0"/>
              <a:t>uild candidates:</a:t>
            </a:r>
          </a:p>
          <a:p>
            <a:pPr lvl="1"/>
            <a:r>
              <a:rPr lang="en-US" sz="1600" b="1" dirty="0" smtClean="0"/>
              <a:t>constrain </a:t>
            </a:r>
            <a:r>
              <a:rPr lang="en-US" sz="1600" b="1" dirty="0"/>
              <a:t>property-object</a:t>
            </a:r>
            <a:r>
              <a:rPr lang="en-US" sz="1600" dirty="0"/>
              <a:t>: </a:t>
            </a:r>
            <a:r>
              <a:rPr lang="en-US" sz="1600" dirty="0" smtClean="0"/>
              <a:t>all </a:t>
            </a:r>
            <a:r>
              <a:rPr lang="en-US" sz="1600" dirty="0"/>
              <a:t>subject </a:t>
            </a:r>
            <a:r>
              <a:rPr lang="en-US" sz="1600" dirty="0" smtClean="0"/>
              <a:t/>
            </a:r>
            <a:br>
              <a:rPr lang="en-US" sz="1600" dirty="0" smtClean="0"/>
            </a:br>
            <a:r>
              <a:rPr lang="en-US" sz="1600" dirty="0" smtClean="0"/>
              <a:t>share </a:t>
            </a:r>
            <a:r>
              <a:rPr lang="en-US" sz="1600" dirty="0"/>
              <a:t>the same property-object pair</a:t>
            </a:r>
          </a:p>
          <a:p>
            <a:pPr lvl="1"/>
            <a:r>
              <a:rPr lang="en-US" sz="1600" b="1" dirty="0"/>
              <a:t>constrain size</a:t>
            </a:r>
            <a:r>
              <a:rPr lang="en-US" sz="1600" dirty="0"/>
              <a:t>: candidate nodes are </a:t>
            </a:r>
            <a:r>
              <a:rPr lang="en-US" sz="1600" dirty="0" smtClean="0"/>
              <a:t/>
            </a:r>
            <a:br>
              <a:rPr lang="en-US" sz="1600" dirty="0" smtClean="0"/>
            </a:br>
            <a:r>
              <a:rPr lang="en-US" sz="1600" dirty="0" smtClean="0"/>
              <a:t>larger </a:t>
            </a:r>
            <a:r>
              <a:rPr lang="en-US" sz="1600" dirty="0"/>
              <a:t>than 1% of the parent node </a:t>
            </a:r>
            <a:r>
              <a:rPr lang="en-US" sz="1600" dirty="0" smtClean="0"/>
              <a:t/>
            </a:r>
            <a:br>
              <a:rPr lang="en-US" sz="1600" dirty="0" smtClean="0"/>
            </a:br>
            <a:r>
              <a:rPr lang="en-US" sz="1600" dirty="0" smtClean="0"/>
              <a:t>and </a:t>
            </a:r>
            <a:r>
              <a:rPr lang="en-US" sz="1600" dirty="0"/>
              <a:t>smaller than </a:t>
            </a:r>
            <a:r>
              <a:rPr lang="en-US" sz="1600" dirty="0" smtClean="0"/>
              <a:t>99%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S</a:t>
            </a:r>
            <a:r>
              <a:rPr lang="en-US" sz="2000" dirty="0" smtClean="0"/>
              <a:t>ort candidates by their distance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 smtClean="0"/>
              <a:t>Select </a:t>
            </a:r>
            <a:r>
              <a:rPr lang="en-US" sz="2000" dirty="0"/>
              <a:t>candidate with largest </a:t>
            </a:r>
            <a:r>
              <a:rPr lang="en-US" sz="2000" dirty="0" smtClean="0"/>
              <a:t/>
            </a:r>
            <a:br>
              <a:rPr lang="en-US" sz="2000" dirty="0" smtClean="0"/>
            </a:br>
            <a:r>
              <a:rPr lang="en-US" sz="2000" dirty="0" smtClean="0"/>
              <a:t>distance</a:t>
            </a:r>
            <a:r>
              <a:rPr lang="en-US" sz="2000" dirty="0"/>
              <a:t>, subsequently select </a:t>
            </a:r>
            <a:r>
              <a:rPr lang="en-US" sz="2000" dirty="0" smtClean="0"/>
              <a:t/>
            </a:r>
            <a:br>
              <a:rPr lang="en-US" sz="2000" dirty="0" smtClean="0"/>
            </a:br>
            <a:r>
              <a:rPr lang="en-US" sz="2000" dirty="0" smtClean="0"/>
              <a:t>non-overlapping </a:t>
            </a:r>
            <a:r>
              <a:rPr lang="en-US" sz="2000" dirty="0"/>
              <a:t>candidates</a:t>
            </a:r>
          </a:p>
          <a:p>
            <a:endParaRPr lang="en-US" sz="2000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B03EE-0F65-4FB3-87AD-3AF455168DB9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73826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Shape 342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pPr marL="200526" indent="-200526">
              <a:buFontTx/>
              <a:buChar char="•"/>
            </a:pPr>
            <a:r>
              <a:rPr lang="en-US" sz="2400" dirty="0"/>
              <a:t>30 GB RAM</a:t>
            </a:r>
          </a:p>
          <a:p>
            <a:pPr marL="200526" indent="-200526">
              <a:buFontTx/>
              <a:buChar char="•"/>
            </a:pPr>
            <a:r>
              <a:rPr lang="en-US" sz="2400" dirty="0"/>
              <a:t>3 different knowledge bases:</a:t>
            </a:r>
          </a:p>
          <a:p>
            <a:pPr marL="230605" indent="-230605">
              <a:buClrTx/>
              <a:buFontTx/>
              <a:buChar char="•"/>
              <a:defRPr sz="2300"/>
            </a:pPr>
            <a:endParaRPr lang="de-DE" sz="2400" dirty="0" smtClean="0"/>
          </a:p>
          <a:p>
            <a:pPr marL="240631" indent="-240631">
              <a:buClrTx/>
              <a:buFontTx/>
              <a:buChar char="•"/>
            </a:pPr>
            <a:endParaRPr dirty="0"/>
          </a:p>
          <a:p>
            <a:pPr marL="0" indent="0">
              <a:buClrTx/>
              <a:buNone/>
            </a:pPr>
            <a:endParaRPr dirty="0"/>
          </a:p>
          <a:p>
            <a:pPr marL="134352" indent="-210552">
              <a:buFontTx/>
              <a:buChar char="•"/>
              <a:defRPr sz="2100"/>
            </a:pPr>
            <a:r>
              <a:rPr lang="de-DE" sz="2400" dirty="0" err="1" smtClean="0"/>
              <a:t>DBpedia</a:t>
            </a:r>
            <a:r>
              <a:rPr lang="de-DE" sz="2400" dirty="0" smtClean="0"/>
              <a:t> </a:t>
            </a:r>
            <a:r>
              <a:rPr lang="de-DE" sz="2400" dirty="0" err="1" smtClean="0"/>
              <a:t>properties</a:t>
            </a:r>
            <a:r>
              <a:rPr lang="de-DE" sz="2400" dirty="0" smtClean="0"/>
              <a:t>:</a:t>
            </a:r>
            <a:endParaRPr i="1" dirty="0"/>
          </a:p>
        </p:txBody>
      </p:sp>
      <p:pic>
        <p:nvPicPr>
          <p:cNvPr id="344" name="Screen Shot 2016-06-14 at 19.59.35.png"/>
          <p:cNvPicPr>
            <a:picLocks noChangeAspect="1"/>
          </p:cNvPicPr>
          <p:nvPr/>
        </p:nvPicPr>
        <p:blipFill>
          <a:blip r:embed="rId2">
            <a:extLst/>
          </a:blip>
          <a:srcRect t="6146" b="217"/>
          <a:stretch>
            <a:fillRect/>
          </a:stretch>
        </p:blipFill>
        <p:spPr>
          <a:xfrm>
            <a:off x="646837" y="4695039"/>
            <a:ext cx="7529195" cy="1906619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Evaluation: Setup</a:t>
            </a:r>
            <a:endParaRPr lang="en-US" dirty="0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B03EE-0F65-4FB3-87AD-3AF455168DB9}" type="slidenum">
              <a:rPr lang="en-US" smtClean="0"/>
              <a:t>24</a:t>
            </a:fld>
            <a:endParaRPr lang="en-US"/>
          </a:p>
        </p:txBody>
      </p:sp>
      <p:pic>
        <p:nvPicPr>
          <p:cNvPr id="7" name="Screen Shot 2016-06-14 at 21.14.57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746145" y="2622200"/>
            <a:ext cx="7330580" cy="1379094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4104859138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Shape 354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pPr marL="240631" indent="-240631">
              <a:buClrTx/>
              <a:buFontTx/>
              <a:buChar char="•"/>
            </a:pPr>
            <a:r>
              <a:rPr sz="2400" dirty="0"/>
              <a:t>train/test split : 80/20</a:t>
            </a:r>
          </a:p>
          <a:p>
            <a:pPr marL="240631" indent="-240631">
              <a:buClrTx/>
              <a:buFontTx/>
              <a:buChar char="•"/>
            </a:pPr>
            <a:r>
              <a:rPr sz="2400" dirty="0"/>
              <a:t>20% of the subjects for each property as test data</a:t>
            </a:r>
          </a:p>
          <a:p>
            <a:pPr marL="240631" indent="-240631">
              <a:buClrTx/>
              <a:buFontTx/>
              <a:buChar char="•"/>
            </a:pPr>
            <a:r>
              <a:rPr sz="2400" dirty="0"/>
              <a:t>test context graph: similar as background construction, however, without constrains</a:t>
            </a:r>
          </a:p>
          <a:p>
            <a:pPr marL="240631" indent="-240631">
              <a:buClrTx/>
              <a:buFontTx/>
              <a:buChar char="•"/>
            </a:pPr>
            <a:r>
              <a:rPr sz="2400" dirty="0"/>
              <a:t>randomly select leaf nodes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Evaluation: Test/</a:t>
            </a:r>
            <a:r>
              <a:rPr lang="de-DE" dirty="0" err="1" smtClean="0"/>
              <a:t>train</a:t>
            </a:r>
            <a:r>
              <a:rPr lang="de-DE" dirty="0" smtClean="0"/>
              <a:t> </a:t>
            </a:r>
            <a:r>
              <a:rPr lang="de-DE" dirty="0" err="1" smtClean="0"/>
              <a:t>data</a:t>
            </a:r>
            <a:endParaRPr lang="en-US" dirty="0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B03EE-0F65-4FB3-87AD-3AF455168DB9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5875078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Shape 358"/>
          <p:cNvSpPr>
            <a:spLocks noGrp="1"/>
          </p:cNvSpPr>
          <p:nvPr>
            <p:ph type="body" sz="quarter" idx="1"/>
          </p:nvPr>
        </p:nvSpPr>
        <p:spPr>
          <a:xfrm>
            <a:off x="4952262" y="4714716"/>
            <a:ext cx="3384018" cy="1015524"/>
          </a:xfrm>
          <a:prstGeom prst="rect">
            <a:avLst/>
          </a:prstGeom>
          <a:solidFill>
            <a:srgbClr val="F2F2F2"/>
          </a:solidFill>
          <a:ln w="9525">
            <a:solidFill>
              <a:srgbClr val="D2D2D2"/>
            </a:solidFill>
            <a:bevel/>
          </a:ln>
        </p:spPr>
        <p:txBody>
          <a:bodyPr/>
          <a:lstStyle/>
          <a:p>
            <a:pPr marL="0" indent="0">
              <a:spcBef>
                <a:spcPts val="0"/>
              </a:spcBef>
              <a:buClrTx/>
              <a:buSzTx/>
              <a:buFontTx/>
              <a:buNone/>
              <a:defRPr sz="1600"/>
            </a:pPr>
            <a:r>
              <a:rPr i="1" dirty="0"/>
              <a:t>exact</a:t>
            </a:r>
            <a:r>
              <a:rPr dirty="0"/>
              <a:t>  = correct property, type and p-o </a:t>
            </a:r>
          </a:p>
          <a:p>
            <a:pPr marL="0" indent="0">
              <a:spcBef>
                <a:spcPts val="0"/>
              </a:spcBef>
              <a:buClrTx/>
              <a:buSzTx/>
              <a:buFontTx/>
              <a:buNone/>
              <a:defRPr sz="1600"/>
            </a:pPr>
            <a:r>
              <a:rPr i="1" dirty="0"/>
              <a:t>prop</a:t>
            </a:r>
            <a:r>
              <a:rPr dirty="0"/>
              <a:t>   = correct property</a:t>
            </a:r>
          </a:p>
          <a:p>
            <a:pPr marL="0" indent="0">
              <a:spcBef>
                <a:spcPts val="0"/>
              </a:spcBef>
              <a:buClrTx/>
              <a:buSzTx/>
              <a:buFontTx/>
              <a:buNone/>
              <a:defRPr sz="1600"/>
            </a:pPr>
            <a:r>
              <a:rPr i="1" dirty="0"/>
              <a:t>type</a:t>
            </a:r>
            <a:r>
              <a:rPr dirty="0"/>
              <a:t>    = correct type</a:t>
            </a:r>
          </a:p>
          <a:p>
            <a:pPr marL="0" indent="0">
              <a:spcBef>
                <a:spcPts val="0"/>
              </a:spcBef>
              <a:buClrTx/>
              <a:buSzTx/>
              <a:buFontTx/>
              <a:buNone/>
              <a:defRPr sz="1600"/>
            </a:pPr>
            <a:r>
              <a:rPr i="1" dirty="0" err="1"/>
              <a:t>stype</a:t>
            </a:r>
            <a:r>
              <a:rPr dirty="0"/>
              <a:t>  = correct super type</a:t>
            </a:r>
          </a:p>
        </p:txBody>
      </p:sp>
      <p:sp>
        <p:nvSpPr>
          <p:cNvPr id="359" name="Shape 359"/>
          <p:cNvSpPr>
            <a:spLocks noGrp="1"/>
          </p:cNvSpPr>
          <p:nvPr>
            <p:ph type="sldNum" sz="quarter" idx="4294967295"/>
          </p:nvPr>
        </p:nvSpPr>
        <p:spPr>
          <a:xfrm>
            <a:off x="462406" y="6402198"/>
            <a:ext cx="892151" cy="2438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fld id="{86CB4B4D-7CA3-9044-876B-883B54F8677D}" type="slidenum">
              <a:t>26</a:t>
            </a:fld>
            <a:endParaRPr/>
          </a:p>
        </p:txBody>
      </p:sp>
      <p:pic>
        <p:nvPicPr>
          <p:cNvPr id="360" name="Screen Shot 2016-06-14 at 21.43.00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03994" y="1896777"/>
            <a:ext cx="8322506" cy="2444373"/>
          </a:xfrm>
          <a:prstGeom prst="rect">
            <a:avLst/>
          </a:prstGeom>
          <a:ln w="12700">
            <a:miter lim="400000"/>
          </a:ln>
        </p:spPr>
      </p:pic>
      <p:sp>
        <p:nvSpPr>
          <p:cNvPr id="361" name="Shape 361"/>
          <p:cNvSpPr/>
          <p:nvPr/>
        </p:nvSpPr>
        <p:spPr>
          <a:xfrm>
            <a:off x="494562" y="1839258"/>
            <a:ext cx="4177452" cy="50187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normAutofit/>
          </a:bodyPr>
          <a:lstStyle/>
          <a:p>
            <a:pPr marL="240631" indent="-240631">
              <a:spcBef>
                <a:spcPts val="600"/>
              </a:spcBef>
              <a:buSzPct val="100000"/>
              <a:buChar char="•"/>
              <a:defRPr sz="1700">
                <a:latin typeface="Avenir Next"/>
                <a:ea typeface="Avenir Next"/>
                <a:cs typeface="Avenir Next"/>
                <a:sym typeface="Avenir Next"/>
              </a:defRPr>
            </a:pPr>
            <a:endParaRPr dirty="0"/>
          </a:p>
          <a:p>
            <a:pPr marL="240631" indent="-240631">
              <a:spcBef>
                <a:spcPts val="600"/>
              </a:spcBef>
              <a:buSzPct val="100000"/>
              <a:buChar char="•"/>
              <a:defRPr sz="1700">
                <a:latin typeface="Avenir Next"/>
                <a:ea typeface="Avenir Next"/>
                <a:cs typeface="Avenir Next"/>
                <a:sym typeface="Avenir Next"/>
              </a:defRPr>
            </a:pPr>
            <a:endParaRPr dirty="0"/>
          </a:p>
          <a:p>
            <a:pPr marL="240631" indent="-240631">
              <a:spcBef>
                <a:spcPts val="600"/>
              </a:spcBef>
              <a:buSzPct val="100000"/>
              <a:buChar char="•"/>
              <a:defRPr sz="1700">
                <a:latin typeface="Avenir Next"/>
                <a:ea typeface="Avenir Next"/>
                <a:cs typeface="Avenir Next"/>
                <a:sym typeface="Avenir Next"/>
              </a:defRPr>
            </a:pPr>
            <a:endParaRPr dirty="0"/>
          </a:p>
          <a:p>
            <a:pPr marL="240631" indent="-240631">
              <a:spcBef>
                <a:spcPts val="600"/>
              </a:spcBef>
              <a:buSzPct val="100000"/>
              <a:buChar char="•"/>
              <a:defRPr sz="1700">
                <a:latin typeface="Avenir Next"/>
                <a:ea typeface="Avenir Next"/>
                <a:cs typeface="Avenir Next"/>
                <a:sym typeface="Avenir Next"/>
              </a:defRPr>
            </a:pPr>
            <a:endParaRPr dirty="0"/>
          </a:p>
          <a:p>
            <a:pPr marL="240631" indent="-240631">
              <a:spcBef>
                <a:spcPts val="600"/>
              </a:spcBef>
              <a:buSzPct val="100000"/>
              <a:buChar char="•"/>
              <a:defRPr sz="1700">
                <a:latin typeface="Avenir Next"/>
                <a:ea typeface="Avenir Next"/>
                <a:cs typeface="Avenir Next"/>
                <a:sym typeface="Avenir Next"/>
              </a:defRPr>
            </a:pPr>
            <a:endParaRPr dirty="0"/>
          </a:p>
          <a:p>
            <a:pPr marL="240631" indent="-240631">
              <a:spcBef>
                <a:spcPts val="600"/>
              </a:spcBef>
              <a:buSzPct val="100000"/>
              <a:buChar char="•"/>
              <a:defRPr sz="1700">
                <a:latin typeface="Avenir Next"/>
                <a:ea typeface="Avenir Next"/>
                <a:cs typeface="Avenir Next"/>
                <a:sym typeface="Avenir Next"/>
              </a:defRPr>
            </a:pPr>
            <a:endParaRPr dirty="0"/>
          </a:p>
          <a:p>
            <a:pPr marL="240631" indent="-240631">
              <a:spcBef>
                <a:spcPts val="600"/>
              </a:spcBef>
              <a:buSzPct val="100000"/>
              <a:buChar char="•"/>
              <a:defRPr sz="1700">
                <a:latin typeface="Avenir Next"/>
                <a:ea typeface="Avenir Next"/>
                <a:cs typeface="Avenir Next"/>
                <a:sym typeface="Avenir Next"/>
              </a:defRPr>
            </a:pPr>
            <a:endParaRPr dirty="0"/>
          </a:p>
          <a:p>
            <a:pPr>
              <a:spcBef>
                <a:spcPts val="600"/>
              </a:spcBef>
              <a:defRPr sz="1700">
                <a:latin typeface="Avenir Next"/>
                <a:ea typeface="Avenir Next"/>
                <a:cs typeface="Avenir Next"/>
                <a:sym typeface="Avenir Next"/>
              </a:defRPr>
            </a:pPr>
            <a:endParaRPr dirty="0"/>
          </a:p>
          <a:p>
            <a:pPr marL="240631" indent="-240631">
              <a:spcBef>
                <a:spcPts val="600"/>
              </a:spcBef>
              <a:buSzPct val="100000"/>
              <a:buChar char="•"/>
              <a:defRPr sz="1700">
                <a:latin typeface="Avenir Next"/>
                <a:ea typeface="Avenir Next"/>
                <a:cs typeface="Avenir Next"/>
                <a:sym typeface="Avenir Next"/>
              </a:defRPr>
            </a:pPr>
            <a:r>
              <a:rPr dirty="0">
                <a:latin typeface="Avenir Next Demi Bold"/>
                <a:ea typeface="Avenir Next Demi Bold"/>
                <a:cs typeface="Avenir Next Demi Bold"/>
                <a:sym typeface="Avenir Next Demi Bold"/>
              </a:rPr>
              <a:t>Best</a:t>
            </a:r>
            <a:r>
              <a:rPr dirty="0"/>
              <a:t>:</a:t>
            </a:r>
            <a:br>
              <a:rPr dirty="0"/>
            </a:br>
            <a:r>
              <a:rPr sz="1800" i="1" dirty="0"/>
              <a:t>Kolmogorov-Smirnov (KS) distance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dirty="0" smtClean="0"/>
              <a:t>Evaluation: </a:t>
            </a:r>
            <a:r>
              <a:rPr lang="de-DE" dirty="0" err="1" smtClean="0"/>
              <a:t>Distance</a:t>
            </a:r>
            <a:r>
              <a:rPr lang="de-DE" dirty="0" smtClean="0"/>
              <a:t> </a:t>
            </a:r>
            <a:r>
              <a:rPr lang="de-DE" dirty="0" err="1" smtClean="0"/>
              <a:t>Function</a:t>
            </a:r>
            <a:r>
              <a:rPr lang="de-DE" dirty="0"/>
              <a:t/>
            </a:r>
            <a:br>
              <a:rPr lang="de-DE" dirty="0"/>
            </a:br>
            <a:r>
              <a:rPr lang="de-DE" sz="2400" dirty="0"/>
              <a:t>            </a:t>
            </a:r>
            <a:r>
              <a:rPr lang="de-DE" sz="2400" i="1" dirty="0"/>
              <a:t>1787 </a:t>
            </a:r>
            <a:r>
              <a:rPr lang="de-DE" sz="2400" i="1" dirty="0" smtClean="0"/>
              <a:t>Test Nodes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625906292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Shape 217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ClrTx/>
              <a:buSzTx/>
              <a:buFontTx/>
              <a:buNone/>
            </a:pPr>
            <a:r>
              <a:rPr sz="2400" dirty="0"/>
              <a:t>Open Data tables typically contain </a:t>
            </a:r>
            <a:endParaRPr lang="de-DE" sz="2400" dirty="0"/>
          </a:p>
          <a:p>
            <a:pPr lvl="1"/>
            <a:r>
              <a:rPr sz="2000" dirty="0" smtClean="0"/>
              <a:t>a </a:t>
            </a:r>
            <a:r>
              <a:rPr sz="2000" u="sng" dirty="0"/>
              <a:t>large portion of numerical columns</a:t>
            </a:r>
            <a:r>
              <a:rPr sz="2000" dirty="0"/>
              <a:t> </a:t>
            </a:r>
          </a:p>
          <a:p>
            <a:pPr marL="697831" lvl="1" indent="-240631">
              <a:buFontTx/>
              <a:buChar char="•"/>
              <a:defRPr sz="2200"/>
            </a:pPr>
            <a:r>
              <a:rPr sz="2000" dirty="0"/>
              <a:t>missing headers</a:t>
            </a:r>
          </a:p>
          <a:p>
            <a:pPr marL="697831" lvl="1" indent="-240631">
              <a:buFontTx/>
              <a:buChar char="•"/>
              <a:defRPr sz="2200"/>
            </a:pPr>
            <a:r>
              <a:rPr sz="2000" dirty="0"/>
              <a:t>and/or non-textual headers</a:t>
            </a:r>
          </a:p>
          <a:p>
            <a:pPr>
              <a:buClrTx/>
              <a:buSzTx/>
              <a:buFontTx/>
              <a:buNone/>
            </a:pPr>
            <a:endParaRPr dirty="0"/>
          </a:p>
          <a:p>
            <a:pPr>
              <a:buClrTx/>
              <a:buSzTx/>
              <a:buFontTx/>
              <a:buNone/>
            </a:pPr>
            <a:endParaRPr dirty="0"/>
          </a:p>
          <a:p>
            <a:pPr>
              <a:buClrTx/>
              <a:buSzTx/>
              <a:buFontTx/>
              <a:buNone/>
            </a:pPr>
            <a:endParaRPr dirty="0"/>
          </a:p>
          <a:p>
            <a:pPr>
              <a:buClrTx/>
              <a:buSzTx/>
              <a:buFontTx/>
              <a:buNone/>
            </a:pPr>
            <a:endParaRPr dirty="0"/>
          </a:p>
        </p:txBody>
      </p:sp>
      <p:pic>
        <p:nvPicPr>
          <p:cNvPr id="219" name="Screen Shot 2016-06-13 at 23.32.34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83300" y="3597450"/>
            <a:ext cx="7977400" cy="1523324"/>
          </a:xfrm>
          <a:prstGeom prst="rect">
            <a:avLst/>
          </a:prstGeom>
          <a:ln w="12700">
            <a:miter lim="400000"/>
          </a:ln>
        </p:spPr>
      </p:pic>
      <p:sp>
        <p:nvSpPr>
          <p:cNvPr id="220" name="Shape 220"/>
          <p:cNvSpPr/>
          <p:nvPr/>
        </p:nvSpPr>
        <p:spPr>
          <a:xfrm>
            <a:off x="668741" y="5462992"/>
            <a:ext cx="7751359" cy="707886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  <a:bevel/>
          </a:ln>
          <a:effectLst/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 algn="ctr">
              <a:defRPr>
                <a:solidFill>
                  <a:srgbClr val="FFFFFF"/>
                </a:solidFill>
                <a:latin typeface="Avenir Next"/>
                <a:ea typeface="Avenir Next"/>
                <a:cs typeface="Avenir Next"/>
                <a:sym typeface="Avenir Next"/>
              </a:defRPr>
            </a:pPr>
            <a:r>
              <a:rPr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solutions that solely </a:t>
            </a:r>
            <a:r>
              <a:rPr sz="2000" u="sng" dirty="0">
                <a:solidFill>
                  <a:schemeClr val="tx1">
                    <a:lumMod val="95000"/>
                    <a:lumOff val="5000"/>
                  </a:schemeClr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rPr>
              <a:t>focus on textual “cues” are</a:t>
            </a:r>
          </a:p>
          <a:p>
            <a:pPr algn="ctr">
              <a:defRPr>
                <a:solidFill>
                  <a:srgbClr val="FFFFFF"/>
                </a:solidFill>
                <a:latin typeface="Avenir Next"/>
                <a:ea typeface="Avenir Next"/>
                <a:cs typeface="Avenir Next"/>
                <a:sym typeface="Avenir Next"/>
              </a:defRPr>
            </a:pPr>
            <a:r>
              <a:rPr sz="2000" u="sng" dirty="0">
                <a:solidFill>
                  <a:schemeClr val="tx1">
                    <a:lumMod val="95000"/>
                    <a:lumOff val="5000"/>
                  </a:schemeClr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rPr>
              <a:t>only partially applicable</a:t>
            </a:r>
            <a:r>
              <a:rPr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for mapping such data sources</a:t>
            </a:r>
          </a:p>
        </p:txBody>
      </p:sp>
      <p:sp>
        <p:nvSpPr>
          <p:cNvPr id="221" name="Shape 221"/>
          <p:cNvSpPr/>
          <p:nvPr/>
        </p:nvSpPr>
        <p:spPr>
          <a:xfrm>
            <a:off x="7516311" y="2796100"/>
            <a:ext cx="1071770" cy="315976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1"/>
            </a:solidFill>
            <a:bevel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9" rIns="45719" anchor="ctr"/>
          <a:lstStyle>
            <a:lvl1pPr>
              <a:defRPr>
                <a:latin typeface="Avenir Next"/>
                <a:ea typeface="Avenir Next"/>
                <a:cs typeface="Avenir Next"/>
                <a:sym typeface="Avenir Next"/>
              </a:defRPr>
            </a:lvl1pPr>
          </a:lstStyle>
          <a:p>
            <a:pPr algn="ctr"/>
            <a:r>
              <a:rPr sz="1600" dirty="0" smtClean="0"/>
              <a:t>Babe</a:t>
            </a:r>
            <a:r>
              <a:rPr lang="de-DE" sz="1600" dirty="0" smtClean="0"/>
              <a:t>l</a:t>
            </a:r>
            <a:r>
              <a:rPr sz="1600" dirty="0" smtClean="0"/>
              <a:t>Net</a:t>
            </a:r>
            <a:endParaRPr sz="1600" dirty="0"/>
          </a:p>
        </p:txBody>
      </p:sp>
      <p:sp>
        <p:nvSpPr>
          <p:cNvPr id="222" name="Shape 222"/>
          <p:cNvSpPr/>
          <p:nvPr/>
        </p:nvSpPr>
        <p:spPr>
          <a:xfrm>
            <a:off x="8052196" y="3133476"/>
            <a:ext cx="1" cy="489448"/>
          </a:xfrm>
          <a:prstGeom prst="line">
            <a:avLst/>
          </a:prstGeom>
          <a:ln w="25400">
            <a:solidFill>
              <a:schemeClr val="accent1"/>
            </a:solidFill>
            <a:bevel/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 defTabSz="457200"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Open Data (OD) tables</a:t>
            </a:r>
            <a:endParaRPr lang="en-US" dirty="0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B03EE-0F65-4FB3-87AD-3AF455168DB9}" type="slidenum">
              <a:rPr lang="en-US" smtClean="0"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5724229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Lessons Learned from OD tables</a:t>
            </a:r>
            <a:endParaRPr lang="en-US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Missing domain knowledge</a:t>
            </a:r>
          </a:p>
          <a:p>
            <a:pPr lvl="1"/>
            <a:r>
              <a:rPr lang="en-US" sz="2000" dirty="0"/>
              <a:t>Open Data is potentially very domain </a:t>
            </a:r>
            <a:r>
              <a:rPr lang="en-US" sz="2000" dirty="0" smtClean="0"/>
              <a:t>specific</a:t>
            </a:r>
          </a:p>
          <a:p>
            <a:pPr lvl="1"/>
            <a:r>
              <a:rPr lang="en-US" sz="2000" dirty="0"/>
              <a:t>M</a:t>
            </a:r>
            <a:r>
              <a:rPr lang="en-US" sz="2000" dirty="0" smtClean="0"/>
              <a:t>ismatch between knowledge bases like </a:t>
            </a:r>
            <a:r>
              <a:rPr lang="en-US" sz="2000" dirty="0" err="1" smtClean="0"/>
              <a:t>DBpedia</a:t>
            </a:r>
            <a:r>
              <a:rPr lang="en-US" sz="2000" dirty="0" smtClean="0"/>
              <a:t> and Open Data</a:t>
            </a:r>
          </a:p>
          <a:p>
            <a:pPr lvl="1">
              <a:buFont typeface="Calibri" panose="020F0502020204030204" pitchFamily="34" charset="0"/>
              <a:buChar char="→"/>
            </a:pPr>
            <a:r>
              <a:rPr lang="en-US" sz="2000" dirty="0"/>
              <a:t> </a:t>
            </a:r>
            <a:r>
              <a:rPr lang="en-US" sz="2000" dirty="0" smtClean="0"/>
              <a:t>Enrich knowledge graph with domain knowledge (e.g., extracted from Open Data tables)</a:t>
            </a:r>
            <a:endParaRPr lang="en-US" sz="2400" dirty="0" smtClean="0"/>
          </a:p>
          <a:p>
            <a:r>
              <a:rPr lang="en-US" sz="2400" dirty="0" smtClean="0"/>
              <a:t>Timeline data</a:t>
            </a:r>
          </a:p>
          <a:p>
            <a:pPr lvl="1"/>
            <a:r>
              <a:rPr lang="en-US" sz="2000" dirty="0" smtClean="0"/>
              <a:t>values for different time points not in </a:t>
            </a:r>
            <a:r>
              <a:rPr lang="en-US" sz="2000" dirty="0" err="1" smtClean="0"/>
              <a:t>DBpedia</a:t>
            </a:r>
            <a:endParaRPr lang="en-US" sz="2000" dirty="0"/>
          </a:p>
          <a:p>
            <a:pPr lvl="1">
              <a:buFont typeface="Calibri" panose="020F0502020204030204" pitchFamily="34" charset="0"/>
              <a:buChar char="→"/>
            </a:pPr>
            <a:r>
              <a:rPr lang="en-US" sz="2000" dirty="0" smtClean="0">
                <a:solidFill>
                  <a:prstClr val="black"/>
                </a:solidFill>
              </a:rPr>
              <a:t> Detect time dependency and regroup/transform tables</a:t>
            </a:r>
            <a:endParaRPr lang="en-US" sz="2400" dirty="0" smtClean="0"/>
          </a:p>
          <a:p>
            <a:r>
              <a:rPr lang="en-US" sz="2400" dirty="0" smtClean="0"/>
              <a:t>Include complementary approaches</a:t>
            </a:r>
          </a:p>
          <a:p>
            <a:pPr lvl="1"/>
            <a:r>
              <a:rPr lang="en-US" sz="2000" dirty="0" smtClean="0">
                <a:solidFill>
                  <a:prstClr val="black"/>
                </a:solidFill>
              </a:rPr>
              <a:t>Deliberately excluded in this paper</a:t>
            </a:r>
          </a:p>
          <a:p>
            <a:pPr lvl="1">
              <a:buFont typeface="Calibri" panose="020F0502020204030204" pitchFamily="34" charset="0"/>
              <a:buChar char="→"/>
            </a:pPr>
            <a:r>
              <a:rPr lang="en-US" sz="2000" dirty="0" smtClean="0">
                <a:solidFill>
                  <a:prstClr val="black"/>
                </a:solidFill>
              </a:rPr>
              <a:t> Linguistic clues and string similarity measures </a:t>
            </a:r>
            <a:r>
              <a:rPr lang="en-US" sz="2000" dirty="0">
                <a:solidFill>
                  <a:prstClr val="black"/>
                </a:solidFill>
              </a:rPr>
              <a:t>(cf. </a:t>
            </a:r>
            <a:r>
              <a:rPr lang="en-US" sz="2000" dirty="0" smtClean="0">
                <a:solidFill>
                  <a:prstClr val="black"/>
                </a:solidFill>
              </a:rPr>
              <a:t>approach by Pham et al.) </a:t>
            </a:r>
            <a:endParaRPr lang="en-US" sz="2000" dirty="0">
              <a:solidFill>
                <a:prstClr val="black"/>
              </a:solidFill>
            </a:endParaRP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B03EE-0F65-4FB3-87AD-3AF455168DB9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84949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Larissa-Design">
  <a:themeElements>
    <a:clrScheme name="Larissa-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Larissa-Design">
      <a:majorFont>
        <a:latin typeface="Verdana"/>
        <a:ea typeface="DejaVu Sans"/>
        <a:cs typeface="DejaVu Sans"/>
      </a:majorFont>
      <a:minorFont>
        <a:latin typeface="Verdana"/>
        <a:ea typeface="DejaVu Sans"/>
        <a:cs typeface="DejaVu Sans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charset="0"/>
            <a:cs typeface="Arial" charset="0"/>
          </a:defRPr>
        </a:defPPr>
      </a:lstStyle>
    </a:lnDef>
  </a:objectDefaults>
  <a:extraClrSchemeLst>
    <a:extraClrScheme>
      <a:clrScheme name="Larissa-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rissa-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arissa-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rissa-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rissa-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rissa-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rissa-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Default">
  <a:themeElements>
    <a:clrScheme name="Defaul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96D3"/>
      </a:accent1>
      <a:accent2>
        <a:srgbClr val="002E60"/>
      </a:accent2>
      <a:accent3>
        <a:srgbClr val="532481"/>
      </a:accent3>
      <a:accent4>
        <a:srgbClr val="457AA0"/>
      </a:accent4>
      <a:accent5>
        <a:srgbClr val="A991C0"/>
      </a:accent5>
      <a:accent6>
        <a:srgbClr val="7FCAE9"/>
      </a:accent6>
      <a:hlink>
        <a:srgbClr val="0000FF"/>
      </a:hlink>
      <a:folHlink>
        <a:srgbClr val="FF00FF"/>
      </a:folHlink>
    </a:clrScheme>
    <a:fontScheme name="Default">
      <a:majorFont>
        <a:latin typeface="Helvetica Neue"/>
        <a:ea typeface="Helvetica Neue"/>
        <a:cs typeface="Helvetica Neue"/>
      </a:majorFont>
      <a:minorFont>
        <a:latin typeface="Helvetica"/>
        <a:ea typeface="Helvetica"/>
        <a:cs typeface="Helvetica"/>
      </a:minorFont>
    </a:fontScheme>
    <a:fmtScheme name="Defaul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bevel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Avenir Next"/>
            <a:ea typeface="Avenir Next"/>
            <a:cs typeface="Avenir Next"/>
            <a:sym typeface="Avenir Nex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bevel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Palatino Linotype"/>
            <a:ea typeface="Palatino Linotype"/>
            <a:cs typeface="Palatino Linotype"/>
            <a:sym typeface="Palatino Linotyp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1071</Words>
  <Application>Microsoft Office PowerPoint</Application>
  <PresentationFormat>Bildschirmpräsentation (4:3)</PresentationFormat>
  <Paragraphs>324</Paragraphs>
  <Slides>28</Slides>
  <Notes>10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14</vt:i4>
      </vt:variant>
      <vt:variant>
        <vt:lpstr>Design</vt:lpstr>
      </vt:variant>
      <vt:variant>
        <vt:i4>3</vt:i4>
      </vt:variant>
      <vt:variant>
        <vt:lpstr>Folientitel</vt:lpstr>
      </vt:variant>
      <vt:variant>
        <vt:i4>28</vt:i4>
      </vt:variant>
    </vt:vector>
  </HeadingPairs>
  <TitlesOfParts>
    <vt:vector size="45" baseType="lpstr">
      <vt:lpstr>Arial</vt:lpstr>
      <vt:lpstr>Avenir Next</vt:lpstr>
      <vt:lpstr>Avenir Next Demi Bold</vt:lpstr>
      <vt:lpstr>Calibri</vt:lpstr>
      <vt:lpstr>Calibri Light</vt:lpstr>
      <vt:lpstr>Consolas</vt:lpstr>
      <vt:lpstr>DejaVu Sans</vt:lpstr>
      <vt:lpstr>Goudy Old Style</vt:lpstr>
      <vt:lpstr>Helvetica</vt:lpstr>
      <vt:lpstr>Helvetica Neue</vt:lpstr>
      <vt:lpstr>Palatino Linotype</vt:lpstr>
      <vt:lpstr>Times New Roman</vt:lpstr>
      <vt:lpstr>Verdana</vt:lpstr>
      <vt:lpstr>Wingdings</vt:lpstr>
      <vt:lpstr>Office Theme</vt:lpstr>
      <vt:lpstr>1_Larissa-Design</vt:lpstr>
      <vt:lpstr>Default</vt:lpstr>
      <vt:lpstr>PowerPoint-Präsentation</vt:lpstr>
      <vt:lpstr>Multi-level semantic labelling of numerical values</vt:lpstr>
      <vt:lpstr>Motivation: Open Data</vt:lpstr>
      <vt:lpstr>Example</vt:lpstr>
      <vt:lpstr>But:</vt:lpstr>
      <vt:lpstr>Example (Cont’d)</vt:lpstr>
      <vt:lpstr>Example (Cont’d)</vt:lpstr>
      <vt:lpstr>Why not use numeric values?</vt:lpstr>
      <vt:lpstr>Why not use numeric values?</vt:lpstr>
      <vt:lpstr>Why not use numeric values?</vt:lpstr>
      <vt:lpstr>Why not use numeric values?</vt:lpstr>
      <vt:lpstr>Our Approach</vt:lpstr>
      <vt:lpstr>1. Background Knowledge Graph</vt:lpstr>
      <vt:lpstr>2. k-Nearest neighbor search</vt:lpstr>
      <vt:lpstr>2. k-Nearest neighbor search (cont’d)</vt:lpstr>
      <vt:lpstr>3. Result Aggregation</vt:lpstr>
      <vt:lpstr>Evaluation: Setup</vt:lpstr>
      <vt:lpstr>Evaluation             33657 Test Nodes</vt:lpstr>
      <vt:lpstr>Experimental OD Column labelling</vt:lpstr>
      <vt:lpstr>PowerPoint-Präsentation</vt:lpstr>
      <vt:lpstr>Backup Slides</vt:lpstr>
      <vt:lpstr>BKG: Type hierarchy</vt:lpstr>
      <vt:lpstr>BKG: p-o hierarchy</vt:lpstr>
      <vt:lpstr>Evaluation: Setup</vt:lpstr>
      <vt:lpstr>Evaluation: Test/train data</vt:lpstr>
      <vt:lpstr>Evaluation: Distance Function             1787 Test Nodes</vt:lpstr>
      <vt:lpstr>Open Data (OD) tables</vt:lpstr>
      <vt:lpstr>Lessons Learned from OD tables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Multi-level semantic labelling of numerical values</dc:title>
  <dc:creator>Sebastian Neumaier</dc:creator>
  <cp:lastModifiedBy>Sebastian Neumaier</cp:lastModifiedBy>
  <cp:revision>105</cp:revision>
  <dcterms:created xsi:type="dcterms:W3CDTF">2016-09-26T07:48:28Z</dcterms:created>
  <dcterms:modified xsi:type="dcterms:W3CDTF">2016-10-21T01:35:00Z</dcterms:modified>
</cp:coreProperties>
</file>