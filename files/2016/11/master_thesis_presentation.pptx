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  <p:sldMasterId id="2147483893" r:id="rId2"/>
  </p:sldMasterIdLst>
  <p:notesMasterIdLst>
    <p:notesMasterId r:id="rId39"/>
  </p:notesMasterIdLst>
  <p:sldIdLst>
    <p:sldId id="257" r:id="rId3"/>
    <p:sldId id="272" r:id="rId4"/>
    <p:sldId id="258" r:id="rId5"/>
    <p:sldId id="259" r:id="rId6"/>
    <p:sldId id="260" r:id="rId7"/>
    <p:sldId id="269" r:id="rId8"/>
    <p:sldId id="266" r:id="rId9"/>
    <p:sldId id="270" r:id="rId10"/>
    <p:sldId id="271" r:id="rId11"/>
    <p:sldId id="261" r:id="rId12"/>
    <p:sldId id="268" r:id="rId13"/>
    <p:sldId id="273" r:id="rId14"/>
    <p:sldId id="274" r:id="rId15"/>
    <p:sldId id="262" r:id="rId16"/>
    <p:sldId id="265" r:id="rId17"/>
    <p:sldId id="264" r:id="rId18"/>
    <p:sldId id="263" r:id="rId19"/>
    <p:sldId id="281" r:id="rId20"/>
    <p:sldId id="283" r:id="rId21"/>
    <p:sldId id="284" r:id="rId22"/>
    <p:sldId id="286" r:id="rId23"/>
    <p:sldId id="287" r:id="rId24"/>
    <p:sldId id="290" r:id="rId25"/>
    <p:sldId id="292" r:id="rId26"/>
    <p:sldId id="267" r:id="rId27"/>
    <p:sldId id="291" r:id="rId28"/>
    <p:sldId id="275" r:id="rId29"/>
    <p:sldId id="293" r:id="rId30"/>
    <p:sldId id="285" r:id="rId31"/>
    <p:sldId id="289" r:id="rId32"/>
    <p:sldId id="277" r:id="rId33"/>
    <p:sldId id="278" r:id="rId34"/>
    <p:sldId id="279" r:id="rId35"/>
    <p:sldId id="280" r:id="rId36"/>
    <p:sldId id="282" r:id="rId37"/>
    <p:sldId id="288" r:id="rId38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9DD1"/>
    <a:srgbClr val="EEEDED"/>
    <a:srgbClr val="5090B7"/>
    <a:srgbClr val="758D5E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4" autoAdjust="0"/>
    <p:restoredTop sz="80183" autoAdjust="0"/>
  </p:normalViewPr>
  <p:slideViewPr>
    <p:cSldViewPr snapToGrid="0">
      <p:cViewPr varScale="1">
        <p:scale>
          <a:sx n="101" d="100"/>
          <a:sy n="101" d="100"/>
        </p:scale>
        <p:origin x="152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/>
          <a:lstStyle/>
          <a:p>
            <a:pPr lvl="0"/>
            <a:endParaRPr lang="de-AT"/>
          </a:p>
        </c:rich>
      </c:tx>
      <c:overlay val="1"/>
    </c:title>
    <c:autoTitleDeleted val="0"/>
    <c:plotArea>
      <c:layout>
        <c:manualLayout>
          <c:layoutTarget val="inner"/>
          <c:xMode val="edge"/>
          <c:yMode val="edge"/>
          <c:x val="0.103966"/>
          <c:y val="7.4454099999999995E-2"/>
          <c:w val="0.896034"/>
          <c:h val="0.7021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datasets (745K)</c:v>
                </c:pt>
              </c:strCache>
            </c:strRef>
          </c:tx>
          <c:spPr>
            <a:solidFill>
              <a:srgbClr val="5090B7"/>
            </a:solidFill>
            <a:ln w="9525" cap="flat">
              <a:solidFill>
                <a:srgbClr val="F9F9F9"/>
              </a:solidFill>
              <a:prstDash val="solid"/>
              <a:bevel/>
            </a:ln>
            <a:effectLst/>
          </c:spPr>
          <c:invertIfNegative val="0"/>
          <c:dLbls>
            <c:numFmt formatCode="#,##0_);\(#,##0\)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 lvl="0">
                  <a:defRPr sz="1619" b="0" i="0" u="none" strike="noStrike">
                    <a:solidFill>
                      <a:srgbClr val="000000"/>
                    </a:solidFill>
                    <a:effectLst/>
                    <a:latin typeface="Avenir Next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Sheet1!$B$1:$E$1</c:f>
              <c:strCache>
                <c:ptCount val="4"/>
                <c:pt idx="0">
                  <c:v>2xx</c:v>
                </c:pt>
                <c:pt idx="1">
                  <c:v>4xx</c:v>
                </c:pt>
                <c:pt idx="2">
                  <c:v>5xx</c:v>
                </c:pt>
                <c:pt idx="3">
                  <c:v>others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99.7</c:v>
                </c:pt>
                <c:pt idx="1">
                  <c:v>0.17</c:v>
                </c:pt>
                <c:pt idx="2">
                  <c:v>0.01</c:v>
                </c:pt>
                <c:pt idx="3">
                  <c:v>0.03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resources (1.64M)</c:v>
                </c:pt>
              </c:strCache>
            </c:strRef>
          </c:tx>
          <c:spPr>
            <a:solidFill>
              <a:srgbClr val="758D5E"/>
            </a:solidFill>
            <a:ln w="9525" cap="flat">
              <a:solidFill>
                <a:srgbClr val="F9F9F9"/>
              </a:solidFill>
              <a:prstDash val="solid"/>
              <a:bevel/>
            </a:ln>
            <a:effectLst/>
          </c:spPr>
          <c:invertIfNegative val="0"/>
          <c:dLbls>
            <c:numFmt formatCode="#,##0_);\(#,##0\)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 lvl="0">
                  <a:defRPr sz="1619" b="0" i="0" u="none" strike="noStrike">
                    <a:solidFill>
                      <a:srgbClr val="000000"/>
                    </a:solidFill>
                    <a:effectLst/>
                    <a:latin typeface="Avenir Next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Sheet1!$B$1:$E$1</c:f>
              <c:strCache>
                <c:ptCount val="4"/>
                <c:pt idx="0">
                  <c:v>2xx</c:v>
                </c:pt>
                <c:pt idx="1">
                  <c:v>4xx</c:v>
                </c:pt>
                <c:pt idx="2">
                  <c:v>5xx</c:v>
                </c:pt>
                <c:pt idx="3">
                  <c:v>others</c:v>
                </c:pt>
              </c:strCache>
            </c:strRef>
          </c:cat>
          <c:val>
            <c:numRef>
              <c:f>Sheet1!$B$3:$E$3</c:f>
              <c:numCache>
                <c:formatCode>General</c:formatCode>
                <c:ptCount val="4"/>
                <c:pt idx="0">
                  <c:v>79.55</c:v>
                </c:pt>
                <c:pt idx="1">
                  <c:v>13.98</c:v>
                </c:pt>
                <c:pt idx="2">
                  <c:v>1.25</c:v>
                </c:pt>
                <c:pt idx="3">
                  <c:v>5.2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40"/>
        <c:axId val="163350488"/>
        <c:axId val="421942032"/>
      </c:barChart>
      <c:catAx>
        <c:axId val="163350488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 lvl="0">
                  <a:defRPr sz="1619" b="0" i="0" u="none" strike="noStrike">
                    <a:solidFill>
                      <a:srgbClr val="000000"/>
                    </a:solidFill>
                    <a:effectLst/>
                    <a:latin typeface="Avenir Next"/>
                  </a:defRPr>
                </a:pPr>
                <a:r>
                  <a:rPr lang="de-AT" sz="1619" b="0" i="0" u="none" strike="noStrike">
                    <a:solidFill>
                      <a:srgbClr val="000000"/>
                    </a:solidFill>
                    <a:effectLst/>
                    <a:latin typeface="Avenir Next"/>
                  </a:rPr>
                  <a:t>HTTP Response codes</a:t>
                </a:r>
              </a:p>
            </c:rich>
          </c:tx>
          <c:overlay val="1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miter lim="400000"/>
          </a:ln>
        </c:spPr>
        <c:txPr>
          <a:bodyPr rot="0"/>
          <a:lstStyle/>
          <a:p>
            <a:pPr lvl="0">
              <a:defRPr sz="1619" b="0" i="0" u="none" strike="noStrike">
                <a:solidFill>
                  <a:srgbClr val="000000"/>
                </a:solidFill>
                <a:effectLst/>
                <a:latin typeface="Avenir Next"/>
              </a:defRPr>
            </a:pPr>
            <a:endParaRPr lang="de-DE"/>
          </a:p>
        </c:txPr>
        <c:crossAx val="421942032"/>
        <c:crosses val="autoZero"/>
        <c:auto val="1"/>
        <c:lblAlgn val="ctr"/>
        <c:lblOffset val="100"/>
        <c:noMultiLvlLbl val="1"/>
      </c:catAx>
      <c:valAx>
        <c:axId val="42194203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bevel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miter lim="400000"/>
          </a:ln>
        </c:spPr>
        <c:txPr>
          <a:bodyPr rot="0"/>
          <a:lstStyle/>
          <a:p>
            <a:pPr lvl="0">
              <a:defRPr sz="1619" b="0" i="0" u="none" strike="noStrike">
                <a:solidFill>
                  <a:srgbClr val="000000"/>
                </a:solidFill>
                <a:effectLst/>
                <a:latin typeface="Avenir Next"/>
              </a:defRPr>
            </a:pPr>
            <a:endParaRPr lang="de-DE"/>
          </a:p>
        </c:txPr>
        <c:crossAx val="163350488"/>
        <c:crosses val="autoZero"/>
        <c:crossBetween val="between"/>
        <c:majorUnit val="20"/>
        <c:minorUnit val="10"/>
      </c:valAx>
      <c:spPr>
        <a:noFill/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72086063696167491"/>
          <c:y val="5.6715318617804838E-4"/>
          <c:w val="0.2768927538771348"/>
          <c:h val="0.16975403215226786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/>
        <a:lstStyle/>
        <a:p>
          <a:pPr lvl="0">
            <a:defRPr sz="1619" b="0" i="0" u="none" strike="noStrike">
              <a:solidFill>
                <a:srgbClr val="000000"/>
              </a:solidFill>
              <a:effectLst/>
              <a:latin typeface="Avenir Next"/>
            </a:defRPr>
          </a:pPr>
          <a:endParaRPr lang="de-DE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6F3B67-3AEB-47C0-AFCD-91F016547199}" type="datetimeFigureOut">
              <a:rPr lang="de-AT" smtClean="0"/>
              <a:t>28.11.2016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B9E396-604D-4F81-86A7-02D7C961E2C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93515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8EDB2-EC66-48F2-A09D-8CEB8FEC22AD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98358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smtClean="0"/>
              <a:t>Open Knowledge </a:t>
            </a:r>
            <a:r>
              <a:rPr lang="de-AT" dirty="0" err="1" smtClean="0"/>
              <a:t>Foundation</a:t>
            </a:r>
            <a:r>
              <a:rPr lang="de-AT" dirty="0" smtClean="0"/>
              <a:t>:</a:t>
            </a:r>
            <a:r>
              <a:rPr lang="de-AT" baseline="0" dirty="0" smtClean="0"/>
              <a:t> </a:t>
            </a:r>
            <a:r>
              <a:rPr lang="de-AT" baseline="0" dirty="0" err="1" smtClean="0"/>
              <a:t>founded</a:t>
            </a:r>
            <a:r>
              <a:rPr lang="de-AT" baseline="0" dirty="0" smtClean="0"/>
              <a:t> in </a:t>
            </a:r>
            <a:r>
              <a:rPr lang="de-AT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2004 in</a:t>
            </a:r>
            <a:r>
              <a:rPr lang="de-AT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Goals: also </a:t>
            </a:r>
            <a:r>
              <a:rPr lang="de-AT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</a:t>
            </a:r>
            <a:r>
              <a:rPr lang="de-AT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Science</a:t>
            </a:r>
            <a:endParaRPr lang="de-AT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8EDB2-EC66-48F2-A09D-8CEB8FEC22AD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89778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baseline="0" dirty="0" smtClean="0"/>
              <a:t>GB </a:t>
            </a:r>
            <a:r>
              <a:rPr lang="de-AT" baseline="0" dirty="0" err="1" smtClean="0"/>
              <a:t>leading</a:t>
            </a:r>
            <a:r>
              <a:rPr lang="de-AT" baseline="0" dirty="0" smtClean="0"/>
              <a:t> in </a:t>
            </a:r>
            <a:r>
              <a:rPr lang="de-AT" baseline="0" dirty="0" err="1" smtClean="0"/>
              <a:t>europe</a:t>
            </a:r>
            <a:r>
              <a:rPr lang="de-AT" baseline="0" dirty="0" smtClean="0"/>
              <a:t>, but also multiple Austrian </a:t>
            </a:r>
            <a:r>
              <a:rPr lang="de-AT" baseline="0" dirty="0" err="1" smtClean="0"/>
              <a:t>data</a:t>
            </a:r>
            <a:r>
              <a:rPr lang="de-AT" baseline="0" dirty="0" smtClean="0"/>
              <a:t> </a:t>
            </a:r>
            <a:r>
              <a:rPr lang="de-AT" baseline="0" dirty="0" err="1" smtClean="0"/>
              <a:t>portals</a:t>
            </a:r>
            <a:r>
              <a:rPr lang="de-AT" baseline="0" dirty="0" smtClean="0"/>
              <a:t> </a:t>
            </a:r>
          </a:p>
          <a:p>
            <a:endParaRPr lang="de-AT" baseline="0" dirty="0" smtClean="0"/>
          </a:p>
          <a:p>
            <a:r>
              <a:rPr lang="de-AT" baseline="0" dirty="0" smtClean="0"/>
              <a:t>TODO </a:t>
            </a:r>
            <a:r>
              <a:rPr lang="de-AT" baseline="0" dirty="0" err="1" smtClean="0"/>
              <a:t>group</a:t>
            </a:r>
            <a:r>
              <a:rPr lang="de-AT" baseline="0" dirty="0" smtClean="0"/>
              <a:t> </a:t>
            </a:r>
            <a:r>
              <a:rPr lang="de-AT" baseline="0" dirty="0" err="1" smtClean="0"/>
              <a:t>by</a:t>
            </a:r>
            <a:r>
              <a:rPr lang="de-AT" baseline="0" dirty="0" smtClean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8EDB2-EC66-48F2-A09D-8CEB8FEC22AD}" type="slidenum">
              <a:rPr lang="de-AT" smtClean="0"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33728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smtClean="0"/>
              <a:t>CKAN:</a:t>
            </a:r>
            <a:r>
              <a:rPr lang="de-AT" baseline="0" dirty="0" smtClean="0"/>
              <a:t> </a:t>
            </a:r>
            <a:r>
              <a:rPr lang="de-AT" baseline="0" dirty="0" err="1" smtClean="0"/>
              <a:t>OpenSource</a:t>
            </a:r>
            <a:r>
              <a:rPr lang="de-AT" baseline="0" dirty="0" smtClean="0"/>
              <a:t> </a:t>
            </a:r>
            <a:r>
              <a:rPr lang="de-AT" baseline="0" dirty="0" err="1" smtClean="0"/>
              <a:t>portal</a:t>
            </a:r>
            <a:r>
              <a:rPr lang="de-AT" baseline="0" dirty="0" smtClean="0"/>
              <a:t> </a:t>
            </a:r>
            <a:r>
              <a:rPr lang="de-AT" baseline="0" dirty="0" err="1" smtClean="0"/>
              <a:t>by</a:t>
            </a:r>
            <a:r>
              <a:rPr lang="de-AT" baseline="0" dirty="0" smtClean="0"/>
              <a:t> OKF</a:t>
            </a:r>
          </a:p>
          <a:p>
            <a:r>
              <a:rPr lang="de-AT" baseline="0" dirty="0" err="1" smtClean="0"/>
              <a:t>Socrata</a:t>
            </a:r>
            <a:r>
              <a:rPr lang="de-AT" baseline="0" dirty="0" smtClean="0"/>
              <a:t>: A </a:t>
            </a:r>
            <a:r>
              <a:rPr lang="de-AT" baseline="0" dirty="0" err="1" smtClean="0"/>
              <a:t>company</a:t>
            </a:r>
            <a:r>
              <a:rPr lang="de-AT" baseline="0" dirty="0" smtClean="0"/>
              <a:t> </a:t>
            </a:r>
            <a:r>
              <a:rPr lang="de-AT" baseline="0" dirty="0" err="1" smtClean="0"/>
              <a:t>offering</a:t>
            </a:r>
            <a:r>
              <a:rPr lang="de-AT" baseline="0" dirty="0" smtClean="0"/>
              <a:t> </a:t>
            </a:r>
            <a:r>
              <a:rPr lang="de-AT" baseline="0" dirty="0" err="1" smtClean="0"/>
              <a:t>portal</a:t>
            </a:r>
            <a:r>
              <a:rPr lang="de-AT" baseline="0" dirty="0" smtClean="0"/>
              <a:t> </a:t>
            </a:r>
            <a:r>
              <a:rPr lang="de-AT" baseline="0" dirty="0" err="1" smtClean="0"/>
              <a:t>software</a:t>
            </a:r>
            <a:r>
              <a:rPr lang="de-AT" baseline="0" dirty="0" smtClean="0"/>
              <a:t> </a:t>
            </a:r>
            <a:r>
              <a:rPr lang="de-AT" baseline="0" dirty="0" err="1" smtClean="0"/>
              <a:t>and</a:t>
            </a:r>
            <a:r>
              <a:rPr lang="de-AT" baseline="0" dirty="0" smtClean="0"/>
              <a:t> </a:t>
            </a:r>
            <a:r>
              <a:rPr lang="de-AT" baseline="0" dirty="0" err="1" smtClean="0"/>
              <a:t>hosting</a:t>
            </a:r>
            <a:r>
              <a:rPr lang="de-AT" baseline="0" dirty="0" smtClean="0"/>
              <a:t> </a:t>
            </a:r>
            <a:r>
              <a:rPr lang="de-AT" baseline="0" dirty="0" err="1" smtClean="0"/>
              <a:t>of</a:t>
            </a:r>
            <a:r>
              <a:rPr lang="de-AT" baseline="0" dirty="0" smtClean="0"/>
              <a:t> </a:t>
            </a:r>
            <a:r>
              <a:rPr lang="de-AT" baseline="0" dirty="0" err="1" smtClean="0"/>
              <a:t>data</a:t>
            </a:r>
            <a:r>
              <a:rPr lang="de-AT" baseline="0" dirty="0" smtClean="0"/>
              <a:t>, </a:t>
            </a:r>
            <a:r>
              <a:rPr lang="de-AT" baseline="0" dirty="0" err="1" smtClean="0"/>
              <a:t>mainly</a:t>
            </a:r>
            <a:r>
              <a:rPr lang="de-AT" baseline="0" dirty="0" smtClean="0"/>
              <a:t> in US</a:t>
            </a:r>
          </a:p>
          <a:p>
            <a:r>
              <a:rPr lang="de-AT" baseline="0" dirty="0" err="1" smtClean="0"/>
              <a:t>OpenDataSoft</a:t>
            </a:r>
            <a:r>
              <a:rPr lang="de-AT" baseline="0" dirty="0" smtClean="0"/>
              <a:t>: </a:t>
            </a:r>
            <a:r>
              <a:rPr lang="de-AT" baseline="0" dirty="0" err="1" smtClean="0"/>
              <a:t>small</a:t>
            </a:r>
            <a:r>
              <a:rPr lang="de-AT" baseline="0" dirty="0" smtClean="0"/>
              <a:t> France-</a:t>
            </a:r>
            <a:r>
              <a:rPr lang="de-AT" baseline="0" dirty="0" err="1" smtClean="0"/>
              <a:t>based</a:t>
            </a:r>
            <a:r>
              <a:rPr lang="de-AT" baseline="0" dirty="0" smtClean="0"/>
              <a:t> </a:t>
            </a:r>
            <a:r>
              <a:rPr lang="de-AT" baseline="0" dirty="0" err="1" smtClean="0"/>
              <a:t>company</a:t>
            </a:r>
            <a:r>
              <a:rPr lang="de-AT" baseline="0" dirty="0" smtClean="0"/>
              <a:t>, </a:t>
            </a:r>
            <a:r>
              <a:rPr lang="de-AT" baseline="0" dirty="0" err="1" smtClean="0"/>
              <a:t>very</a:t>
            </a:r>
            <a:r>
              <a:rPr lang="de-AT" baseline="0" dirty="0" smtClean="0"/>
              <a:t> </a:t>
            </a:r>
            <a:r>
              <a:rPr lang="de-AT" baseline="0" dirty="0" err="1" smtClean="0"/>
              <a:t>similar</a:t>
            </a:r>
            <a:r>
              <a:rPr lang="de-AT" baseline="0" dirty="0" smtClean="0"/>
              <a:t> </a:t>
            </a:r>
            <a:r>
              <a:rPr lang="de-AT" baseline="0" dirty="0" err="1" smtClean="0"/>
              <a:t>to</a:t>
            </a:r>
            <a:r>
              <a:rPr lang="de-AT" baseline="0" dirty="0" smtClean="0"/>
              <a:t> </a:t>
            </a:r>
            <a:r>
              <a:rPr lang="de-AT" baseline="0" dirty="0" err="1" smtClean="0"/>
              <a:t>Socrata</a:t>
            </a:r>
            <a:endParaRPr lang="de-AT" baseline="0" dirty="0" smtClean="0"/>
          </a:p>
          <a:p>
            <a:endParaRPr lang="de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8EDB2-EC66-48F2-A09D-8CEB8FEC22AD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250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smtClean="0"/>
              <a:t>TODO 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9E396-604D-4F81-86A7-02D7C961E2C1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49453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9E396-604D-4F81-86A7-02D7C961E2C1}" type="slidenum">
              <a:rPr lang="de-AT" smtClean="0"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07347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smtClean="0"/>
              <a:t>Approach: </a:t>
            </a:r>
          </a:p>
          <a:p>
            <a:pPr marL="228600" indent="-228600">
              <a:buAutoNum type="arabicParenR"/>
            </a:pPr>
            <a:r>
              <a:rPr lang="de-AT" dirty="0" smtClean="0"/>
              <a:t>Find a </a:t>
            </a:r>
            <a:r>
              <a:rPr lang="de-AT" dirty="0" err="1" smtClean="0"/>
              <a:t>set</a:t>
            </a:r>
            <a:r>
              <a:rPr lang="de-AT" dirty="0" smtClean="0"/>
              <a:t>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suitable</a:t>
            </a:r>
            <a:r>
              <a:rPr lang="de-AT" dirty="0" smtClean="0"/>
              <a:t> </a:t>
            </a:r>
            <a:r>
              <a:rPr lang="de-AT" dirty="0" err="1" smtClean="0"/>
              <a:t>quality</a:t>
            </a:r>
            <a:r>
              <a:rPr lang="de-AT" dirty="0" smtClean="0"/>
              <a:t> </a:t>
            </a:r>
            <a:r>
              <a:rPr lang="de-AT" dirty="0" err="1" smtClean="0"/>
              <a:t>metrics</a:t>
            </a:r>
            <a:endParaRPr lang="de-AT" dirty="0" smtClean="0"/>
          </a:p>
          <a:p>
            <a:pPr marL="228600" indent="-228600">
              <a:buAutoNum type="arabicParenR"/>
            </a:pPr>
            <a:r>
              <a:rPr lang="de-AT" dirty="0" smtClean="0"/>
              <a:t>Monitor </a:t>
            </a:r>
            <a:r>
              <a:rPr lang="de-AT" dirty="0" err="1" smtClean="0"/>
              <a:t>the</a:t>
            </a:r>
            <a:r>
              <a:rPr lang="de-AT" dirty="0" smtClean="0"/>
              <a:t> </a:t>
            </a:r>
            <a:r>
              <a:rPr lang="de-AT" dirty="0" err="1" smtClean="0"/>
              <a:t>quality</a:t>
            </a:r>
            <a:r>
              <a:rPr lang="de-AT" dirty="0" smtClean="0"/>
              <a:t>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data</a:t>
            </a:r>
            <a:r>
              <a:rPr lang="de-AT" baseline="0" dirty="0" smtClean="0"/>
              <a:t> </a:t>
            </a:r>
            <a:r>
              <a:rPr lang="de-AT" baseline="0" dirty="0" err="1" smtClean="0"/>
              <a:t>portals</a:t>
            </a:r>
            <a:r>
              <a:rPr lang="de-AT" baseline="0" dirty="0" smtClean="0"/>
              <a:t> </a:t>
            </a:r>
            <a:r>
              <a:rPr lang="de-AT" baseline="0" dirty="0" err="1" smtClean="0"/>
              <a:t>over</a:t>
            </a:r>
            <a:r>
              <a:rPr lang="de-AT" baseline="0" dirty="0" smtClean="0"/>
              <a:t> time</a:t>
            </a:r>
          </a:p>
          <a:p>
            <a:pPr marL="228600" indent="-228600">
              <a:buAutoNum type="arabicParenR"/>
            </a:pPr>
            <a:endParaRPr lang="de-AT" baseline="0" dirty="0" smtClean="0"/>
          </a:p>
          <a:p>
            <a:pPr marL="0" indent="0">
              <a:buNone/>
            </a:pPr>
            <a:r>
              <a:rPr lang="de-AT" baseline="0" dirty="0" smtClean="0"/>
              <a:t>Outcome:</a:t>
            </a:r>
          </a:p>
          <a:p>
            <a:pPr marL="228600" indent="-228600">
              <a:buAutoNum type="arabicParenR"/>
            </a:pPr>
            <a:r>
              <a:rPr lang="de-AT" baseline="0" dirty="0" err="1" smtClean="0"/>
              <a:t>Current</a:t>
            </a:r>
            <a:r>
              <a:rPr lang="de-AT" baseline="0" dirty="0" smtClean="0"/>
              <a:t> </a:t>
            </a:r>
            <a:r>
              <a:rPr lang="de-AT" baseline="0" dirty="0" err="1" smtClean="0"/>
              <a:t>quality</a:t>
            </a:r>
            <a:r>
              <a:rPr lang="de-AT" baseline="0" dirty="0" smtClean="0"/>
              <a:t> </a:t>
            </a:r>
            <a:r>
              <a:rPr lang="de-AT" baseline="0" dirty="0" err="1" smtClean="0"/>
              <a:t>of</a:t>
            </a:r>
            <a:r>
              <a:rPr lang="de-AT" baseline="0" dirty="0" smtClean="0"/>
              <a:t> open </a:t>
            </a:r>
            <a:r>
              <a:rPr lang="de-AT" baseline="0" dirty="0" err="1" smtClean="0"/>
              <a:t>data</a:t>
            </a:r>
            <a:endParaRPr lang="de-AT" baseline="0" dirty="0" smtClean="0"/>
          </a:p>
          <a:p>
            <a:pPr marL="228600" indent="-228600">
              <a:buAutoNum type="arabicParenR"/>
            </a:pPr>
            <a:r>
              <a:rPr lang="de-AT" baseline="0" dirty="0" smtClean="0"/>
              <a:t>Find out </a:t>
            </a:r>
            <a:r>
              <a:rPr lang="de-AT" baseline="0" dirty="0" err="1" smtClean="0"/>
              <a:t>development</a:t>
            </a:r>
            <a:r>
              <a:rPr lang="de-AT" baseline="0" dirty="0" smtClean="0"/>
              <a:t> </a:t>
            </a:r>
            <a:r>
              <a:rPr lang="de-AT" baseline="0" dirty="0" err="1" smtClean="0"/>
              <a:t>and</a:t>
            </a:r>
            <a:r>
              <a:rPr lang="de-AT" baseline="0" dirty="0" smtClean="0"/>
              <a:t> </a:t>
            </a:r>
            <a:r>
              <a:rPr lang="de-AT" baseline="0" dirty="0" err="1" smtClean="0"/>
              <a:t>growth</a:t>
            </a:r>
            <a:r>
              <a:rPr lang="de-AT" baseline="0" dirty="0" smtClean="0"/>
              <a:t> rate </a:t>
            </a:r>
            <a:r>
              <a:rPr lang="de-AT" baseline="0" dirty="0" err="1" smtClean="0"/>
              <a:t>of</a:t>
            </a:r>
            <a:r>
              <a:rPr lang="de-AT" baseline="0" dirty="0" smtClean="0"/>
              <a:t> open </a:t>
            </a:r>
            <a:r>
              <a:rPr lang="de-AT" baseline="0" dirty="0" err="1" smtClean="0"/>
              <a:t>data</a:t>
            </a:r>
            <a:endParaRPr lang="de-AT" baseline="0" dirty="0" smtClean="0"/>
          </a:p>
          <a:p>
            <a:pPr marL="228600" indent="-228600">
              <a:buAutoNum type="arabicParenR"/>
            </a:pPr>
            <a:r>
              <a:rPr lang="de-AT" baseline="0" dirty="0" smtClean="0"/>
              <a:t>Find out </a:t>
            </a:r>
            <a:r>
              <a:rPr lang="de-AT" baseline="0" dirty="0" err="1" smtClean="0"/>
              <a:t>impact</a:t>
            </a:r>
            <a:r>
              <a:rPr lang="de-AT" baseline="0" dirty="0" smtClean="0"/>
              <a:t> </a:t>
            </a:r>
            <a:r>
              <a:rPr lang="de-AT" baseline="0" dirty="0" err="1" smtClean="0"/>
              <a:t>of</a:t>
            </a:r>
            <a:r>
              <a:rPr lang="de-AT" baseline="0" dirty="0" smtClean="0"/>
              <a:t> </a:t>
            </a:r>
            <a:r>
              <a:rPr lang="de-AT" baseline="0" dirty="0" err="1" smtClean="0"/>
              <a:t>improvement</a:t>
            </a:r>
            <a:r>
              <a:rPr lang="de-AT" baseline="0" dirty="0" smtClean="0"/>
              <a:t> initiatives</a:t>
            </a:r>
            <a:endParaRPr lang="de-AT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9E396-604D-4F81-86A7-02D7C961E2C1}" type="slidenum">
              <a:rPr lang="de-AT" smtClean="0"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301909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8EDB2-EC66-48F2-A09D-8CEB8FEC22AD}" type="slidenum">
              <a:rPr lang="de-AT" smtClean="0"/>
              <a:t>11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18436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de-AT" dirty="0" err="1" smtClean="0"/>
              <a:t>Harvester</a:t>
            </a:r>
            <a:r>
              <a:rPr lang="de-AT" dirty="0" smtClean="0"/>
              <a:t> </a:t>
            </a:r>
            <a:r>
              <a:rPr lang="de-AT" dirty="0" err="1" smtClean="0"/>
              <a:t>stores</a:t>
            </a:r>
            <a:r>
              <a:rPr lang="de-AT" dirty="0" smtClean="0"/>
              <a:t> </a:t>
            </a:r>
            <a:r>
              <a:rPr lang="de-AT" dirty="0" err="1" smtClean="0"/>
              <a:t>raw</a:t>
            </a:r>
            <a:r>
              <a:rPr lang="de-AT" dirty="0" smtClean="0"/>
              <a:t> </a:t>
            </a:r>
            <a:r>
              <a:rPr lang="de-AT" dirty="0" err="1" smtClean="0"/>
              <a:t>metadata</a:t>
            </a:r>
            <a:r>
              <a:rPr lang="de-AT" baseline="0" dirty="0" smtClean="0"/>
              <a:t> in </a:t>
            </a:r>
            <a:r>
              <a:rPr lang="de-AT" baseline="0" dirty="0" err="1" smtClean="0"/>
              <a:t>mongodb</a:t>
            </a:r>
            <a:endParaRPr lang="de-AT" baseline="0" dirty="0" smtClean="0"/>
          </a:p>
          <a:p>
            <a:pPr marL="228600" indent="-228600">
              <a:buAutoNum type="arabicParenR"/>
            </a:pPr>
            <a:r>
              <a:rPr lang="de-AT" baseline="0" dirty="0" err="1" smtClean="0"/>
              <a:t>Resource-harvester</a:t>
            </a:r>
            <a:r>
              <a:rPr lang="de-AT" baseline="0" dirty="0" smtClean="0"/>
              <a:t> </a:t>
            </a:r>
            <a:r>
              <a:rPr lang="de-AT" baseline="0" dirty="0" err="1" smtClean="0"/>
              <a:t>performs</a:t>
            </a:r>
            <a:r>
              <a:rPr lang="de-AT" baseline="0" dirty="0" smtClean="0"/>
              <a:t> HTTP </a:t>
            </a:r>
            <a:r>
              <a:rPr lang="de-AT" baseline="0" dirty="0" err="1" smtClean="0"/>
              <a:t>header</a:t>
            </a:r>
            <a:r>
              <a:rPr lang="de-AT" baseline="0" dirty="0" smtClean="0"/>
              <a:t> </a:t>
            </a:r>
            <a:r>
              <a:rPr lang="de-AT" baseline="0" dirty="0" err="1" smtClean="0"/>
              <a:t>lookups</a:t>
            </a:r>
            <a:r>
              <a:rPr lang="de-AT" baseline="0" dirty="0" smtClean="0"/>
              <a:t> on </a:t>
            </a:r>
            <a:r>
              <a:rPr lang="de-AT" baseline="0" dirty="0" err="1" smtClean="0"/>
              <a:t>resource</a:t>
            </a:r>
            <a:r>
              <a:rPr lang="de-AT" baseline="0" dirty="0" smtClean="0"/>
              <a:t> URLs</a:t>
            </a:r>
          </a:p>
          <a:p>
            <a:pPr marL="228600" indent="-228600">
              <a:buAutoNum type="arabicParenR"/>
            </a:pPr>
            <a:r>
              <a:rPr lang="de-AT" baseline="0" dirty="0" smtClean="0"/>
              <a:t>QA </a:t>
            </a:r>
            <a:r>
              <a:rPr lang="de-AT" baseline="0" dirty="0" err="1" smtClean="0"/>
              <a:t>component</a:t>
            </a:r>
            <a:r>
              <a:rPr lang="de-AT" baseline="0" dirty="0" smtClean="0"/>
              <a:t> </a:t>
            </a:r>
            <a:r>
              <a:rPr lang="de-AT" baseline="0" dirty="0" err="1" smtClean="0"/>
              <a:t>calculates</a:t>
            </a:r>
            <a:r>
              <a:rPr lang="de-AT" baseline="0" dirty="0" smtClean="0"/>
              <a:t> </a:t>
            </a:r>
            <a:r>
              <a:rPr lang="de-AT" baseline="0" dirty="0" err="1" smtClean="0"/>
              <a:t>quality</a:t>
            </a:r>
            <a:r>
              <a:rPr lang="de-AT" baseline="0" dirty="0" smtClean="0"/>
              <a:t> </a:t>
            </a:r>
            <a:r>
              <a:rPr lang="de-AT" baseline="0" dirty="0" err="1" smtClean="0"/>
              <a:t>metrics</a:t>
            </a:r>
            <a:endParaRPr lang="de-AT" baseline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9E396-604D-4F81-86A7-02D7C961E2C1}" type="slidenum">
              <a:rPr lang="de-AT" smtClean="0"/>
              <a:t>15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7577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smtClean="0"/>
              <a:t>Future</a:t>
            </a:r>
            <a:r>
              <a:rPr lang="de-AT" baseline="0" dirty="0" smtClean="0"/>
              <a:t> Work: </a:t>
            </a:r>
            <a:r>
              <a:rPr lang="de-AT" baseline="0" dirty="0" err="1" smtClean="0"/>
              <a:t>distinction</a:t>
            </a:r>
            <a:r>
              <a:rPr lang="de-AT" baseline="0" dirty="0" smtClean="0"/>
              <a:t> </a:t>
            </a:r>
            <a:r>
              <a:rPr lang="de-AT" baseline="0" dirty="0" err="1" smtClean="0"/>
              <a:t>between</a:t>
            </a:r>
            <a:r>
              <a:rPr lang="de-AT" baseline="0" dirty="0" smtClean="0"/>
              <a:t> Open </a:t>
            </a:r>
            <a:r>
              <a:rPr lang="de-AT" baseline="0" dirty="0" err="1" smtClean="0"/>
              <a:t>and</a:t>
            </a:r>
            <a:r>
              <a:rPr lang="de-AT" baseline="0" dirty="0" smtClean="0"/>
              <a:t> </a:t>
            </a:r>
            <a:r>
              <a:rPr lang="de-AT" baseline="0" dirty="0" err="1" smtClean="0"/>
              <a:t>Machine-Readable</a:t>
            </a:r>
            <a:r>
              <a:rPr lang="de-AT" baseline="0" dirty="0" smtClean="0"/>
              <a:t> </a:t>
            </a:r>
            <a:r>
              <a:rPr lang="de-AT" baseline="0" dirty="0" err="1" smtClean="0"/>
              <a:t>formats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9E396-604D-4F81-86A7-02D7C961E2C1}" type="slidenum">
              <a:rPr lang="de-AT" smtClean="0"/>
              <a:t>21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217327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err="1" smtClean="0"/>
              <a:t>Adequate</a:t>
            </a:r>
            <a:r>
              <a:rPr lang="de-AT" dirty="0" smtClean="0"/>
              <a:t>: FFG </a:t>
            </a:r>
            <a:r>
              <a:rPr lang="de-AT" dirty="0" err="1" smtClean="0"/>
              <a:t>project</a:t>
            </a:r>
            <a:r>
              <a:rPr lang="de-AT" dirty="0" smtClean="0"/>
              <a:t> </a:t>
            </a:r>
            <a:r>
              <a:rPr lang="de-AT" dirty="0" err="1" smtClean="0"/>
              <a:t>to</a:t>
            </a:r>
            <a:r>
              <a:rPr lang="de-AT" dirty="0" smtClean="0"/>
              <a:t> </a:t>
            </a:r>
            <a:r>
              <a:rPr lang="en-US" dirty="0" smtClean="0"/>
              <a:t>develop and evaluate mechanisms to measure, monitor and improve data</a:t>
            </a:r>
            <a:r>
              <a:rPr lang="en-US" baseline="0" dirty="0" smtClean="0"/>
              <a:t> </a:t>
            </a:r>
            <a:r>
              <a:rPr lang="en-US" dirty="0" smtClean="0"/>
              <a:t>quality in Open Data.</a:t>
            </a:r>
          </a:p>
          <a:p>
            <a:r>
              <a:rPr lang="de-AT" dirty="0" smtClean="0"/>
              <a:t>Paper in </a:t>
            </a:r>
            <a:r>
              <a:rPr lang="de-AT" dirty="0" err="1" smtClean="0"/>
              <a:t>progress</a:t>
            </a:r>
            <a:r>
              <a:rPr lang="de-AT" baseline="0" dirty="0" smtClean="0"/>
              <a:t>: </a:t>
            </a:r>
            <a:r>
              <a:rPr lang="de-AT" baseline="0" dirty="0" err="1" smtClean="0"/>
              <a:t>generalized</a:t>
            </a:r>
            <a:r>
              <a:rPr lang="de-AT" baseline="0" dirty="0" smtClean="0"/>
              <a:t> </a:t>
            </a:r>
            <a:r>
              <a:rPr lang="de-AT" baseline="0" dirty="0" err="1" smtClean="0"/>
              <a:t>qa</a:t>
            </a:r>
            <a:r>
              <a:rPr lang="de-AT" baseline="0" dirty="0" smtClean="0"/>
              <a:t> </a:t>
            </a:r>
            <a:r>
              <a:rPr lang="de-AT" baseline="0" dirty="0" err="1" smtClean="0"/>
              <a:t>framework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9E396-604D-4F81-86A7-02D7C961E2C1}" type="slidenum">
              <a:rPr lang="de-AT" smtClean="0"/>
              <a:t>25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523391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9E396-604D-4F81-86A7-02D7C961E2C1}" type="slidenum">
              <a:rPr lang="de-AT" smtClean="0"/>
              <a:t>29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97641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9E396-604D-4F81-86A7-02D7C961E2C1}" type="slidenum">
              <a:rPr lang="de-AT" smtClean="0"/>
              <a:t>36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87548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2" indent="0" algn="ctr">
              <a:buNone/>
              <a:defRPr sz="2100"/>
            </a:lvl2pPr>
            <a:lvl3pPr marL="685783" indent="0" algn="ctr">
              <a:buNone/>
              <a:defRPr sz="1800"/>
            </a:lvl3pPr>
            <a:lvl4pPr marL="1028675" indent="0" algn="ctr">
              <a:buNone/>
              <a:defRPr sz="1500"/>
            </a:lvl4pPr>
            <a:lvl5pPr marL="1371566" indent="0" algn="ctr">
              <a:buNone/>
              <a:defRPr sz="1500"/>
            </a:lvl5pPr>
            <a:lvl6pPr marL="1714457" indent="0" algn="ctr">
              <a:buNone/>
              <a:defRPr sz="1500"/>
            </a:lvl6pPr>
            <a:lvl7pPr marL="2057348" indent="0" algn="ctr">
              <a:buNone/>
              <a:defRPr sz="1500"/>
            </a:lvl7pPr>
            <a:lvl8pPr marL="2400240" indent="0" algn="ctr">
              <a:buNone/>
              <a:defRPr sz="1500"/>
            </a:lvl8pPr>
            <a:lvl9pPr marL="2743132" indent="0" algn="ctr">
              <a:buNone/>
              <a:defRPr sz="15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590C-15D4-4724-BAD9-CE0FA90E9C57}" type="datetime1">
              <a:rPr lang="de-AT" smtClean="0"/>
              <a:t>28.11.2016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9009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F3E18-8B90-4A5E-8415-8EAB3FBEF206}" type="datetime1">
              <a:rPr lang="de-AT" smtClean="0"/>
              <a:t>28.11.2016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70390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6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2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50F21-4A60-4811-B052-C0E6C4F48166}" type="datetime1">
              <a:rPr lang="de-AT" smtClean="0"/>
              <a:t>28.11.2016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95433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3"/>
            <a:ext cx="3886200" cy="4351337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3"/>
            <a:ext cx="3886200" cy="4351337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4531A-75E1-4B2F-8CF0-64BB621E460C}" type="datetime1">
              <a:rPr lang="de-AT" smtClean="0"/>
              <a:t>28.11.2016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11371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2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3"/>
            <a:ext cx="3867150" cy="3680525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7553"/>
            <a:ext cx="3886201" cy="3680525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0CB34-D56E-4E62-B6EC-8C00AEC6DB54}" type="datetime1">
              <a:rPr lang="de-AT" smtClean="0"/>
              <a:t>28.11.2016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‹Nr.›</a:t>
            </a:fld>
            <a:endParaRPr lang="de-AT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44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81ED-5DD8-49E8-8ADF-29448DC1DDD5}" type="datetime1">
              <a:rPr lang="de-AT" smtClean="0"/>
              <a:t>28.11.2016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‹Nr.›</a:t>
            </a:fld>
            <a:endParaRPr lang="de-AT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277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97006-CD8B-4332-ADE5-F09680839885}" type="datetime1">
              <a:rPr lang="de-AT" smtClean="0"/>
              <a:t>28.11.2016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60175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3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C7C7-F0A6-46C8-B5D3-4E3E38556ADA}" type="datetime1">
              <a:rPr lang="de-AT" smtClean="0"/>
              <a:t>28.11.2016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3511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C43E-F410-409D-8B59-68494562E922}" type="datetime1">
              <a:rPr lang="de-AT" smtClean="0"/>
              <a:t>28.11.2016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56965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1026-876E-4C0A-AEBF-FB83CF30D1B8}" type="datetime1">
              <a:rPr lang="de-AT" smtClean="0"/>
              <a:t>28.11.2016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76823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0362"/>
            <a:ext cx="1971675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0365"/>
            <a:ext cx="5800725" cy="5811837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D2F-A4C1-40FD-BE8C-DAE6E415A0DA}" type="datetime1">
              <a:rPr lang="de-AT" smtClean="0"/>
              <a:t>28.11.2016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879000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74E93-FD92-4E38-B431-549F375A876F}" type="datetime1">
              <a:rPr lang="de-AT" smtClean="0"/>
              <a:t>28.11.2016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‹Nr.›</a:t>
            </a:fld>
            <a:endParaRPr lang="de-AT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732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0C669-B8F0-43C4-A687-4E3FFAB4D3C4}" type="datetime1">
              <a:rPr lang="de-AT" smtClean="0"/>
              <a:t>28.11.2016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091835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EEE78-5F06-493A-B359-53DCB055E89A}" type="datetime1">
              <a:rPr lang="de-AT" smtClean="0"/>
              <a:t>28.11.2016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‹Nr.›</a:t>
            </a:fld>
            <a:endParaRPr lang="de-AT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5466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DC268-F859-4205-8058-9E1CEAA24322}" type="datetime1">
              <a:rPr lang="de-AT" smtClean="0"/>
              <a:t>28.11.2016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04429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1AFDD-DFCB-4343-8C16-9D135A8C3D9E}" type="datetime1">
              <a:rPr lang="de-AT" smtClean="0"/>
              <a:t>28.11.2016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032449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7727D-AA6C-4276-A772-6A5BBF573EC5}" type="datetime1">
              <a:rPr lang="de-AT" smtClean="0"/>
              <a:t>28.11.2016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13246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CDF76-8720-4B5A-9957-AA5BA20E400B}" type="datetime1">
              <a:rPr lang="de-AT" smtClean="0"/>
              <a:t>28.11.2016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36733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E9ABBA59-6C4F-4D57-8323-19F7B9D988B3}" type="datetime1">
              <a:rPr lang="de-AT" smtClean="0"/>
              <a:t>28.11.2016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76B2437-CE3F-4355-B609-7C3E71AAFC0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632391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03246-C35A-464F-AADA-EF711F410678}" type="datetime1">
              <a:rPr lang="de-AT" smtClean="0"/>
              <a:t>28.11.2016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588510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987D7-87C3-4747-B4DA-116BD555206E}" type="datetime1">
              <a:rPr lang="de-AT" smtClean="0"/>
              <a:t>28.11.2016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76049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36BD1-D4C6-451B-8144-45EE86923F57}" type="datetime1">
              <a:rPr lang="de-AT" smtClean="0"/>
              <a:t>28.11.2016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5750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828803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DE319FA-8AB5-44EE-83BC-40F93C276C3D}" type="datetime1">
              <a:rPr lang="de-AT" smtClean="0"/>
              <a:t>28.11.2016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B2437-CE3F-4355-B609-7C3E71AAFC0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3636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hf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4CB7A98-9763-4C74-B5EE-8DA647AEE222}" type="datetime1">
              <a:rPr lang="de-AT" smtClean="0"/>
              <a:t>28.11.2016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76B2437-CE3F-4355-B609-7C3E71AAFC0F}" type="slidenum">
              <a:rPr lang="de-AT" smtClean="0"/>
              <a:t>‹Nr.›</a:t>
            </a:fld>
            <a:endParaRPr lang="de-AT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78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notesSlide" Target="../notesSlides/notesSlide13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2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1" y="1426464"/>
            <a:ext cx="7464479" cy="2674620"/>
          </a:xfrm>
        </p:spPr>
        <p:txBody>
          <a:bodyPr>
            <a:normAutofit fontScale="90000"/>
          </a:bodyPr>
          <a:lstStyle/>
          <a:p>
            <a:pPr algn="l"/>
            <a:r>
              <a:rPr lang="de-AT" dirty="0" smtClean="0"/>
              <a:t>Open Data Quality</a:t>
            </a:r>
            <a:r>
              <a:rPr lang="de-AT" sz="3000" dirty="0"/>
              <a:t/>
            </a:r>
            <a:br>
              <a:rPr lang="de-AT" sz="3000" dirty="0"/>
            </a:br>
            <a:r>
              <a:rPr lang="de-AT" sz="3000" dirty="0"/>
              <a:t/>
            </a:r>
            <a:br>
              <a:rPr lang="de-AT" sz="3000" dirty="0"/>
            </a:br>
            <a:r>
              <a:rPr lang="de-AT" sz="2850" dirty="0"/>
              <a:t>Assessment </a:t>
            </a:r>
            <a:r>
              <a:rPr lang="de-AT" sz="2850" dirty="0" err="1"/>
              <a:t>and</a:t>
            </a:r>
            <a:r>
              <a:rPr lang="de-AT" sz="2850" dirty="0"/>
              <a:t> Evolution </a:t>
            </a:r>
            <a:r>
              <a:rPr lang="de-AT" sz="2850" dirty="0" err="1"/>
              <a:t>of</a:t>
            </a:r>
            <a:r>
              <a:rPr lang="de-AT" sz="2850" dirty="0"/>
              <a:t> (Meta-)Data Quality</a:t>
            </a:r>
            <a:br>
              <a:rPr lang="de-AT" sz="2850" dirty="0"/>
            </a:br>
            <a:r>
              <a:rPr lang="de-AT" sz="2850" dirty="0"/>
              <a:t>in </a:t>
            </a:r>
            <a:r>
              <a:rPr lang="de-AT" sz="2850" dirty="0" err="1"/>
              <a:t>the</a:t>
            </a:r>
            <a:r>
              <a:rPr lang="de-AT" sz="2850" dirty="0"/>
              <a:t> Open Data </a:t>
            </a:r>
            <a:r>
              <a:rPr lang="de-AT" sz="2850" dirty="0" err="1"/>
              <a:t>Landscape</a:t>
            </a:r>
            <a:endParaRPr lang="de-AT" sz="2850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1</a:t>
            </a:fld>
            <a:endParaRPr lang="de-AT"/>
          </a:p>
        </p:txBody>
      </p:sp>
      <p:pic>
        <p:nvPicPr>
          <p:cNvPr id="1026" name="Picture 2" descr="http://upload.wikimedia.org/wikipedia/commons/c/cc/Open_Data_sticker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1" y="4989134"/>
            <a:ext cx="1261301" cy="9055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12" name="image11.png"/>
          <p:cNvPicPr/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60467" y="4976975"/>
            <a:ext cx="1244409" cy="9177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846503"/>
              </p:ext>
            </p:extLst>
          </p:nvPr>
        </p:nvGraphicFramePr>
        <p:xfrm>
          <a:off x="5192462" y="4490495"/>
          <a:ext cx="3094978" cy="1432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7139"/>
                <a:gridCol w="2047839"/>
              </a:tblGrid>
              <a:tr h="331087">
                <a:tc>
                  <a:txBody>
                    <a:bodyPr/>
                    <a:lstStyle/>
                    <a:p>
                      <a:endParaRPr lang="de-AT" sz="1200" dirty="0">
                        <a:latin typeface="+mj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800" dirty="0" smtClean="0">
                          <a:latin typeface="+mj-lt"/>
                        </a:rPr>
                        <a:t>Sebastian Neumaier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3859">
                <a:tc>
                  <a:txBody>
                    <a:bodyPr/>
                    <a:lstStyle/>
                    <a:p>
                      <a:endParaRPr lang="de-AT" sz="1200">
                        <a:latin typeface="+mj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200" dirty="0" smtClean="0">
                          <a:latin typeface="+mj-lt"/>
                        </a:rPr>
                        <a:t>seb.neumaier@gmail.com</a:t>
                      </a:r>
                    </a:p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AT" sz="1200" dirty="0" smtClean="0">
                        <a:latin typeface="+mj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590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400" dirty="0" err="1" smtClean="0">
                          <a:latin typeface="+mj-lt"/>
                        </a:rPr>
                        <a:t>Advisor</a:t>
                      </a:r>
                      <a:r>
                        <a:rPr lang="de-AT" sz="1400" dirty="0" smtClean="0">
                          <a:latin typeface="+mj-lt"/>
                        </a:rPr>
                        <a:t>: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400" dirty="0" err="1" smtClean="0">
                          <a:latin typeface="+mj-lt"/>
                        </a:rPr>
                        <a:t>Univ.Prof</a:t>
                      </a:r>
                      <a:r>
                        <a:rPr lang="de-AT" sz="1400" dirty="0" smtClean="0">
                          <a:latin typeface="+mj-lt"/>
                        </a:rPr>
                        <a:t>. Dr. Axel </a:t>
                      </a:r>
                      <a:r>
                        <a:rPr lang="de-AT" sz="1400" dirty="0" err="1" smtClean="0">
                          <a:latin typeface="+mj-lt"/>
                        </a:rPr>
                        <a:t>Polleres</a:t>
                      </a:r>
                      <a:endParaRPr lang="de-AT" sz="1400" dirty="0" smtClean="0">
                        <a:latin typeface="+mj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5906">
                <a:tc>
                  <a:txBody>
                    <a:bodyPr/>
                    <a:lstStyle/>
                    <a:p>
                      <a:pPr algn="l"/>
                      <a:r>
                        <a:rPr lang="de-AT" sz="1400" dirty="0" smtClean="0">
                          <a:latin typeface="+mj-lt"/>
                        </a:rPr>
                        <a:t>Co-</a:t>
                      </a:r>
                      <a:r>
                        <a:rPr lang="de-AT" sz="1400" dirty="0" err="1" smtClean="0">
                          <a:latin typeface="+mj-lt"/>
                        </a:rPr>
                        <a:t>Advisor</a:t>
                      </a:r>
                      <a:r>
                        <a:rPr lang="de-AT" sz="1400" dirty="0" smtClean="0">
                          <a:latin typeface="+mj-lt"/>
                        </a:rPr>
                        <a:t>: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400" dirty="0" smtClean="0">
                          <a:latin typeface="+mj-lt"/>
                        </a:rPr>
                        <a:t>Dr. Jürgen Umbrich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471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Contents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de-AT" sz="2200" b="1" dirty="0" smtClean="0"/>
              <a:t> </a:t>
            </a:r>
            <a:r>
              <a:rPr lang="de-AT" sz="2200" b="1" dirty="0" err="1" smtClean="0"/>
              <a:t>Preliminaries</a:t>
            </a:r>
            <a:r>
              <a:rPr lang="de-AT" sz="2200" dirty="0" smtClean="0"/>
              <a:t>: Open Data </a:t>
            </a:r>
            <a:r>
              <a:rPr lang="de-AT" sz="2200" dirty="0" err="1" smtClean="0"/>
              <a:t>Landscape</a:t>
            </a:r>
            <a:r>
              <a:rPr lang="de-AT" sz="2200" dirty="0" smtClean="0"/>
              <a:t> </a:t>
            </a:r>
            <a:r>
              <a:rPr lang="de-AT" sz="2200" dirty="0" err="1" smtClean="0"/>
              <a:t>and</a:t>
            </a:r>
            <a:r>
              <a:rPr lang="de-AT" sz="2200" dirty="0" smtClean="0"/>
              <a:t> Portals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de-AT" sz="2200" b="1" dirty="0" smtClean="0"/>
              <a:t> Problem</a:t>
            </a:r>
            <a:r>
              <a:rPr lang="de-AT" sz="2200" dirty="0" smtClean="0"/>
              <a:t> Statement </a:t>
            </a:r>
            <a:r>
              <a:rPr lang="de-AT" sz="2200" dirty="0" err="1" smtClean="0"/>
              <a:t>and</a:t>
            </a:r>
            <a:r>
              <a:rPr lang="de-AT" sz="2200" dirty="0" smtClean="0"/>
              <a:t> </a:t>
            </a:r>
            <a:r>
              <a:rPr lang="de-AT" sz="2200" b="1" dirty="0" smtClean="0"/>
              <a:t>Motivation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de-AT" sz="2200" dirty="0" smtClean="0"/>
              <a:t> Quality </a:t>
            </a:r>
            <a:r>
              <a:rPr lang="de-AT" sz="2200" b="1" dirty="0" err="1" smtClean="0"/>
              <a:t>Metrics</a:t>
            </a:r>
            <a:endParaRPr lang="de-AT" sz="2200" b="1" dirty="0" smtClean="0"/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de-AT" sz="2200" dirty="0" smtClean="0"/>
              <a:t> </a:t>
            </a:r>
            <a:r>
              <a:rPr lang="de-AT" sz="2200" dirty="0" err="1" smtClean="0"/>
              <a:t>Automated</a:t>
            </a:r>
            <a:r>
              <a:rPr lang="de-AT" sz="2200" dirty="0" smtClean="0"/>
              <a:t> Quality </a:t>
            </a:r>
            <a:r>
              <a:rPr lang="de-AT" sz="2200" b="1" dirty="0" smtClean="0"/>
              <a:t>Assessment</a:t>
            </a:r>
            <a:r>
              <a:rPr lang="de-AT" sz="2200" dirty="0" smtClean="0"/>
              <a:t> Framework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de-AT" sz="2200" b="1" dirty="0" smtClean="0"/>
              <a:t> </a:t>
            </a:r>
            <a:r>
              <a:rPr lang="de-AT" sz="2200" b="1" dirty="0" err="1" smtClean="0"/>
              <a:t>Findings</a:t>
            </a:r>
            <a:endParaRPr lang="de-AT" sz="2200" b="1" dirty="0" smtClean="0"/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de-AT" sz="2200" dirty="0" smtClean="0"/>
              <a:t> </a:t>
            </a:r>
            <a:r>
              <a:rPr lang="de-AT" sz="2200" dirty="0" err="1" smtClean="0"/>
              <a:t>Conclusion</a:t>
            </a:r>
            <a:r>
              <a:rPr lang="de-AT" sz="2200" dirty="0" smtClean="0"/>
              <a:t> </a:t>
            </a:r>
            <a:r>
              <a:rPr lang="de-AT" sz="2200" dirty="0" err="1" smtClean="0"/>
              <a:t>and</a:t>
            </a:r>
            <a:r>
              <a:rPr lang="de-AT" sz="2200" dirty="0" smtClean="0"/>
              <a:t> Future Work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0278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 smtClean="0"/>
              <a:t>What</a:t>
            </a:r>
            <a:r>
              <a:rPr lang="de-AT" dirty="0" smtClean="0"/>
              <a:t> </a:t>
            </a:r>
            <a:r>
              <a:rPr lang="de-AT" dirty="0" err="1" smtClean="0"/>
              <a:t>is</a:t>
            </a:r>
            <a:r>
              <a:rPr lang="de-AT" dirty="0" smtClean="0"/>
              <a:t> Open Data?	</a:t>
            </a:r>
            <a:endParaRPr lang="de-AT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3</a:t>
            </a:fld>
            <a:endParaRPr lang="de-AT"/>
          </a:p>
        </p:txBody>
      </p:sp>
      <p:sp>
        <p:nvSpPr>
          <p:cNvPr id="17" name="Inhaltsplatzhalter 2"/>
          <p:cNvSpPr txBox="1">
            <a:spLocks/>
          </p:cNvSpPr>
          <p:nvPr/>
        </p:nvSpPr>
        <p:spPr>
          <a:xfrm>
            <a:off x="313060" y="6437251"/>
            <a:ext cx="6363890" cy="38766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9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chemeClr val="bg1"/>
                </a:solidFill>
              </a:rPr>
              <a:t>See more at: http://opendefinition.org/okd/ </a:t>
            </a:r>
          </a:p>
        </p:txBody>
      </p:sp>
      <p:sp>
        <p:nvSpPr>
          <p:cNvPr id="18" name="Rechteck 13"/>
          <p:cNvSpPr/>
          <p:nvPr/>
        </p:nvSpPr>
        <p:spPr>
          <a:xfrm>
            <a:off x="313060" y="1798667"/>
            <a:ext cx="775015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GB" sz="2400" b="1" dirty="0">
                <a:latin typeface="Optima"/>
                <a:cs typeface="Optima"/>
              </a:rPr>
              <a:t>Freely available data,</a:t>
            </a:r>
          </a:p>
          <a:p>
            <a:pPr algn="ctr">
              <a:lnSpc>
                <a:spcPct val="200000"/>
              </a:lnSpc>
            </a:pPr>
            <a:r>
              <a:rPr lang="en-GB" sz="2400" dirty="0">
                <a:latin typeface="Optima"/>
                <a:cs typeface="Optima"/>
              </a:rPr>
              <a:t>published in an </a:t>
            </a:r>
            <a:r>
              <a:rPr lang="en-GB" sz="2400" b="1" dirty="0">
                <a:latin typeface="Optima"/>
                <a:cs typeface="Optima"/>
              </a:rPr>
              <a:t>open</a:t>
            </a:r>
            <a:r>
              <a:rPr lang="en-GB" sz="2400" dirty="0">
                <a:latin typeface="Optima"/>
                <a:cs typeface="Optima"/>
              </a:rPr>
              <a:t> and </a:t>
            </a:r>
            <a:r>
              <a:rPr lang="en-GB" sz="2400" b="1" dirty="0">
                <a:latin typeface="Optima"/>
                <a:cs typeface="Optima"/>
              </a:rPr>
              <a:t>machine readable format</a:t>
            </a:r>
          </a:p>
          <a:p>
            <a:pPr algn="ctr">
              <a:lnSpc>
                <a:spcPct val="200000"/>
              </a:lnSpc>
            </a:pPr>
            <a:r>
              <a:rPr lang="en-GB" sz="2400" dirty="0">
                <a:latin typeface="Optima"/>
                <a:cs typeface="Optima"/>
              </a:rPr>
              <a:t>which allows </a:t>
            </a:r>
            <a:r>
              <a:rPr lang="en-GB" sz="2400" b="1" dirty="0">
                <a:latin typeface="Optima"/>
                <a:cs typeface="Optima"/>
              </a:rPr>
              <a:t>everybody</a:t>
            </a:r>
            <a:r>
              <a:rPr lang="en-GB" sz="2400" dirty="0">
                <a:latin typeface="Optima"/>
                <a:cs typeface="Optima"/>
              </a:rPr>
              <a:t> </a:t>
            </a:r>
          </a:p>
          <a:p>
            <a:pPr algn="ctr">
              <a:lnSpc>
                <a:spcPct val="200000"/>
              </a:lnSpc>
            </a:pPr>
            <a:r>
              <a:rPr lang="en-GB" sz="2400" dirty="0">
                <a:latin typeface="Optima"/>
                <a:cs typeface="Optima"/>
              </a:rPr>
              <a:t>to do </a:t>
            </a:r>
            <a:r>
              <a:rPr lang="en-GB" sz="2400" b="1" dirty="0">
                <a:latin typeface="Optima"/>
                <a:cs typeface="Optima"/>
              </a:rPr>
              <a:t>everything without restrictions </a:t>
            </a:r>
          </a:p>
          <a:p>
            <a:pPr algn="ctr">
              <a:lnSpc>
                <a:spcPct val="200000"/>
              </a:lnSpc>
            </a:pPr>
            <a:r>
              <a:rPr lang="en-GB" sz="2400" dirty="0">
                <a:latin typeface="Optima"/>
                <a:cs typeface="Optima"/>
              </a:rPr>
              <a:t>at </a:t>
            </a:r>
            <a:r>
              <a:rPr lang="en-GB" sz="2400" b="1" dirty="0">
                <a:latin typeface="Optima"/>
                <a:cs typeface="Optima"/>
              </a:rPr>
              <a:t>anytime</a:t>
            </a:r>
          </a:p>
        </p:txBody>
      </p:sp>
      <p:sp>
        <p:nvSpPr>
          <p:cNvPr id="19" name="Textfeld 15"/>
          <p:cNvSpPr txBox="1"/>
          <p:nvPr/>
        </p:nvSpPr>
        <p:spPr>
          <a:xfrm>
            <a:off x="4091008" y="3145852"/>
            <a:ext cx="1938479" cy="3000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sz="13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tima"/>
                <a:cs typeface="Optima"/>
              </a:rPr>
              <a:t>e.g., CSV, JSON, RDF</a:t>
            </a:r>
          </a:p>
        </p:txBody>
      </p:sp>
      <p:sp>
        <p:nvSpPr>
          <p:cNvPr id="20" name="Textfeld 17"/>
          <p:cNvSpPr txBox="1"/>
          <p:nvPr/>
        </p:nvSpPr>
        <p:spPr>
          <a:xfrm>
            <a:off x="3284761" y="4561711"/>
            <a:ext cx="3550972" cy="3000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sz="13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tima"/>
                <a:cs typeface="Optima"/>
              </a:rPr>
              <a:t>private, non-commercial and commercial</a:t>
            </a:r>
          </a:p>
        </p:txBody>
      </p:sp>
      <p:sp>
        <p:nvSpPr>
          <p:cNvPr id="21" name="Textfeld 18"/>
          <p:cNvSpPr txBox="1"/>
          <p:nvPr/>
        </p:nvSpPr>
        <p:spPr>
          <a:xfrm>
            <a:off x="1934182" y="3869526"/>
            <a:ext cx="5589992" cy="3000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sz="13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tima"/>
                <a:cs typeface="Optima"/>
              </a:rPr>
              <a:t>open license which allows use, reuse, modification, redistribution</a:t>
            </a:r>
          </a:p>
        </p:txBody>
      </p:sp>
      <p:sp>
        <p:nvSpPr>
          <p:cNvPr id="22" name="Textfeld 19"/>
          <p:cNvSpPr txBox="1"/>
          <p:nvPr/>
        </p:nvSpPr>
        <p:spPr>
          <a:xfrm>
            <a:off x="4356215" y="5285385"/>
            <a:ext cx="521297" cy="3000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sz="13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tima"/>
                <a:cs typeface="Optima"/>
              </a:rPr>
              <a:t>24/7</a:t>
            </a:r>
          </a:p>
        </p:txBody>
      </p:sp>
      <p:sp>
        <p:nvSpPr>
          <p:cNvPr id="23" name="Textfeld 20"/>
          <p:cNvSpPr txBox="1"/>
          <p:nvPr/>
        </p:nvSpPr>
        <p:spPr>
          <a:xfrm>
            <a:off x="3429032" y="2386853"/>
            <a:ext cx="3262432" cy="3000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sz="13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tima"/>
                <a:cs typeface="Optima"/>
              </a:rPr>
              <a:t>open access, preferable on the WWW</a:t>
            </a:r>
          </a:p>
        </p:txBody>
      </p:sp>
    </p:spTree>
    <p:extLst>
      <p:ext uri="{BB962C8B-B14F-4D97-AF65-F5344CB8AC3E}">
        <p14:creationId xmlns:p14="http://schemas.microsoft.com/office/powerpoint/2010/main" val="30814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The Open Data </a:t>
            </a:r>
            <a:r>
              <a:rPr lang="de-AT" dirty="0" err="1" smtClean="0"/>
              <a:t>Landscape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146250"/>
            <a:ext cx="6744379" cy="372535"/>
          </a:xfrm>
        </p:spPr>
        <p:txBody>
          <a:bodyPr>
            <a:normAutofit/>
          </a:bodyPr>
          <a:lstStyle/>
          <a:p>
            <a:pPr marL="144062" lvl="2" indent="0">
              <a:buNone/>
            </a:pPr>
            <a:r>
              <a:rPr lang="en-GB" sz="1800" dirty="0"/>
              <a:t>Cities, International Organizations, National and European Portals</a:t>
            </a:r>
            <a:r>
              <a:rPr lang="en-GB" sz="1600" dirty="0">
                <a:latin typeface="Arial" charset="0"/>
              </a:rPr>
              <a:t>:</a:t>
            </a:r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4</a:t>
            </a:fld>
            <a:endParaRPr lang="de-AT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61023" y="4321478"/>
            <a:ext cx="594066" cy="349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588"/>
          <a:stretch>
            <a:fillRect/>
          </a:stretch>
        </p:blipFill>
        <p:spPr bwMode="auto">
          <a:xfrm>
            <a:off x="6389840" y="3633996"/>
            <a:ext cx="887016" cy="30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27218" y="4373110"/>
            <a:ext cx="827484" cy="302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8" descr="Wien_at_Veranstaltungen_Ausstellungen_Vernissagen_R2_107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99712" y="3602792"/>
            <a:ext cx="594067" cy="540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18340" y="2844195"/>
            <a:ext cx="1143000" cy="298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97024" y="4377873"/>
            <a:ext cx="972741" cy="292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Bild 3" descr="Screen Shot 2015-05-19 at 13.06.06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8833" y="4348526"/>
            <a:ext cx="2862318" cy="411617"/>
          </a:xfrm>
          <a:prstGeom prst="rect">
            <a:avLst/>
          </a:prstGeom>
        </p:spPr>
      </p:pic>
      <p:pic>
        <p:nvPicPr>
          <p:cNvPr id="13" name="Bild 5" descr="Screen Shot 2015-05-19 at 13.09.21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3454" y="3763775"/>
            <a:ext cx="1600200" cy="352425"/>
          </a:xfrm>
          <a:prstGeom prst="rect">
            <a:avLst/>
          </a:prstGeom>
        </p:spPr>
      </p:pic>
      <p:pic>
        <p:nvPicPr>
          <p:cNvPr id="14" name="Bild 6" descr="Screen Shot 2015-05-19 at 13.09.45.pn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15143" y="2780892"/>
            <a:ext cx="1246566" cy="618831"/>
          </a:xfrm>
          <a:prstGeom prst="rect">
            <a:avLst/>
          </a:prstGeom>
        </p:spPr>
      </p:pic>
      <p:pic>
        <p:nvPicPr>
          <p:cNvPr id="15" name="Bild 7" descr="Screen Shot 2015-05-19 at 13.10.10.pn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6470" y="2695962"/>
            <a:ext cx="1657787" cy="806140"/>
          </a:xfrm>
          <a:prstGeom prst="rect">
            <a:avLst/>
          </a:prstGeom>
        </p:spPr>
      </p:pic>
      <p:pic>
        <p:nvPicPr>
          <p:cNvPr id="17" name="Bild 7" descr="Screen Shot 2015-03-26 at 10.32.57.p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10683" y="3691838"/>
            <a:ext cx="2190750" cy="457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6" name="Shape 202"/>
          <p:cNvSpPr/>
          <p:nvPr/>
        </p:nvSpPr>
        <p:spPr>
          <a:xfrm>
            <a:off x="978832" y="2616451"/>
            <a:ext cx="4224821" cy="2343012"/>
          </a:xfrm>
          <a:prstGeom prst="roundRect">
            <a:avLst>
              <a:gd name="adj" fmla="val 6399"/>
            </a:avLst>
          </a:prstGeom>
          <a:ln w="25400">
            <a:solidFill>
              <a:srgbClr val="629DD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pPr>
            <a:r>
              <a:rPr lang="de-AT" dirty="0" smtClean="0"/>
              <a:t> </a:t>
            </a:r>
            <a:endParaRPr dirty="0"/>
          </a:p>
        </p:txBody>
      </p:sp>
      <p:sp>
        <p:nvSpPr>
          <p:cNvPr id="18" name="Shape 202"/>
          <p:cNvSpPr/>
          <p:nvPr/>
        </p:nvSpPr>
        <p:spPr>
          <a:xfrm>
            <a:off x="5359525" y="2616451"/>
            <a:ext cx="2065819" cy="783272"/>
          </a:xfrm>
          <a:prstGeom prst="roundRect">
            <a:avLst>
              <a:gd name="adj" fmla="val 6399"/>
            </a:avLst>
          </a:prstGeom>
          <a:ln w="25400">
            <a:solidFill>
              <a:srgbClr val="629DD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pPr>
            <a:r>
              <a:rPr lang="de-AT" dirty="0" smtClean="0"/>
              <a:t> </a:t>
            </a:r>
            <a:endParaRPr dirty="0"/>
          </a:p>
        </p:txBody>
      </p:sp>
      <p:sp>
        <p:nvSpPr>
          <p:cNvPr id="19" name="Shape 202"/>
          <p:cNvSpPr/>
          <p:nvPr/>
        </p:nvSpPr>
        <p:spPr>
          <a:xfrm>
            <a:off x="5359525" y="3553065"/>
            <a:ext cx="2065819" cy="1406397"/>
          </a:xfrm>
          <a:prstGeom prst="roundRect">
            <a:avLst>
              <a:gd name="adj" fmla="val 6399"/>
            </a:avLst>
          </a:prstGeom>
          <a:ln w="25400">
            <a:solidFill>
              <a:srgbClr val="629DD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pPr>
            <a:r>
              <a:rPr lang="de-AT" dirty="0" smtClean="0"/>
              <a:t> </a:t>
            </a:r>
            <a:endParaRPr dirty="0"/>
          </a:p>
        </p:txBody>
      </p:sp>
      <p:sp>
        <p:nvSpPr>
          <p:cNvPr id="4" name="Textfeld 3"/>
          <p:cNvSpPr txBox="1"/>
          <p:nvPr/>
        </p:nvSpPr>
        <p:spPr>
          <a:xfrm>
            <a:off x="822960" y="4789638"/>
            <a:ext cx="951519" cy="400110"/>
          </a:xfrm>
          <a:prstGeom prst="rect">
            <a:avLst/>
          </a:prstGeom>
          <a:solidFill>
            <a:srgbClr val="629DD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AT" sz="2000" dirty="0" smtClean="0">
                <a:solidFill>
                  <a:schemeClr val="bg1"/>
                </a:solidFill>
              </a:rPr>
              <a:t>CKAN</a:t>
            </a:r>
            <a:endParaRPr lang="de-AT" dirty="0">
              <a:solidFill>
                <a:schemeClr val="bg1"/>
              </a:solidFill>
            </a:endParaRPr>
          </a:p>
        </p:txBody>
      </p:sp>
      <p:sp>
        <p:nvSpPr>
          <p:cNvPr id="21" name="Textfeld 20"/>
          <p:cNvSpPr txBox="1"/>
          <p:nvPr/>
        </p:nvSpPr>
        <p:spPr>
          <a:xfrm>
            <a:off x="6744678" y="3152148"/>
            <a:ext cx="958032" cy="338554"/>
          </a:xfrm>
          <a:prstGeom prst="rect">
            <a:avLst/>
          </a:prstGeom>
          <a:solidFill>
            <a:srgbClr val="629DD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AT" sz="1600" dirty="0" err="1" smtClean="0">
                <a:solidFill>
                  <a:schemeClr val="bg1"/>
                </a:solidFill>
              </a:rPr>
              <a:t>Socrata</a:t>
            </a:r>
            <a:endParaRPr lang="de-AT" dirty="0">
              <a:solidFill>
                <a:schemeClr val="bg1"/>
              </a:solidFill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5567644" y="4835805"/>
            <a:ext cx="2349709" cy="276999"/>
          </a:xfrm>
          <a:prstGeom prst="rect">
            <a:avLst/>
          </a:prstGeom>
          <a:solidFill>
            <a:srgbClr val="629DD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AT" sz="1200" dirty="0" err="1" smtClean="0">
                <a:solidFill>
                  <a:schemeClr val="bg1"/>
                </a:solidFill>
              </a:rPr>
              <a:t>other</a:t>
            </a:r>
            <a:r>
              <a:rPr lang="de-AT" sz="1200" dirty="0" smtClean="0">
                <a:solidFill>
                  <a:schemeClr val="bg1"/>
                </a:solidFill>
              </a:rPr>
              <a:t> </a:t>
            </a:r>
            <a:r>
              <a:rPr lang="de-AT" sz="1200" dirty="0" err="1">
                <a:solidFill>
                  <a:schemeClr val="bg1"/>
                </a:solidFill>
              </a:rPr>
              <a:t>data</a:t>
            </a:r>
            <a:r>
              <a:rPr lang="de-AT" sz="1200" dirty="0">
                <a:solidFill>
                  <a:schemeClr val="bg1"/>
                </a:solidFill>
              </a:rPr>
              <a:t> </a:t>
            </a:r>
            <a:r>
              <a:rPr lang="de-AT" sz="1200" dirty="0" err="1">
                <a:solidFill>
                  <a:schemeClr val="bg1"/>
                </a:solidFill>
              </a:rPr>
              <a:t>management</a:t>
            </a:r>
            <a:r>
              <a:rPr lang="de-AT" sz="1200" dirty="0">
                <a:solidFill>
                  <a:schemeClr val="bg1"/>
                </a:solidFill>
              </a:rPr>
              <a:t> </a:t>
            </a:r>
            <a:r>
              <a:rPr lang="de-AT" sz="1200" dirty="0" err="1" smtClean="0">
                <a:solidFill>
                  <a:schemeClr val="bg1"/>
                </a:solidFill>
              </a:rPr>
              <a:t>systems</a:t>
            </a:r>
            <a:endParaRPr lang="de-AT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37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19" grpId="0" animBg="1"/>
      <p:bldP spid="4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57"/>
          <p:cNvSpPr/>
          <p:nvPr/>
        </p:nvSpPr>
        <p:spPr>
          <a:xfrm>
            <a:off x="4823017" y="1876786"/>
            <a:ext cx="3727526" cy="1696974"/>
          </a:xfrm>
          <a:prstGeom prst="rect">
            <a:avLst/>
          </a:prstGeom>
          <a:solidFill>
            <a:srgbClr val="FFFFFF"/>
          </a:solidFill>
          <a:ln w="25400">
            <a:solidFill>
              <a:srgbClr val="5090B7"/>
            </a:solidFill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pPr lvl="0"/>
            <a:r>
              <a:rPr lang="de-AT" dirty="0"/>
              <a:t> </a:t>
            </a:r>
            <a:r>
              <a:rPr dirty="0"/>
              <a:t>Open Data Portal</a:t>
            </a:r>
          </a:p>
        </p:txBody>
      </p:sp>
      <p:sp>
        <p:nvSpPr>
          <p:cNvPr id="27" name="Shape 76"/>
          <p:cNvSpPr/>
          <p:nvPr/>
        </p:nvSpPr>
        <p:spPr>
          <a:xfrm>
            <a:off x="5682084" y="3952317"/>
            <a:ext cx="288033" cy="432049"/>
          </a:xfrm>
          <a:prstGeom prst="rect">
            <a:avLst/>
          </a:prstGeom>
          <a:solidFill>
            <a:srgbClr val="D9D9D9"/>
          </a:solidFill>
          <a:ln>
            <a:solidFill>
              <a:srgbClr val="414D35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Open Data Portals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AT" sz="2800" dirty="0" smtClean="0"/>
              <a:t>Single </a:t>
            </a:r>
            <a:r>
              <a:rPr lang="de-AT" sz="2800" dirty="0" err="1" smtClean="0"/>
              <a:t>point</a:t>
            </a:r>
            <a:r>
              <a:rPr lang="de-AT" sz="2800" dirty="0" smtClean="0"/>
              <a:t> </a:t>
            </a:r>
            <a:r>
              <a:rPr lang="de-AT" sz="2800" dirty="0" err="1" smtClean="0"/>
              <a:t>of</a:t>
            </a:r>
            <a:r>
              <a:rPr lang="de-AT" sz="2800" dirty="0" smtClean="0"/>
              <a:t> </a:t>
            </a:r>
            <a:r>
              <a:rPr lang="de-AT" sz="2800" dirty="0" err="1" smtClean="0"/>
              <a:t>access</a:t>
            </a:r>
            <a:endParaRPr lang="de-AT" sz="2800" dirty="0" smtClean="0"/>
          </a:p>
          <a:p>
            <a:r>
              <a:rPr lang="de-AT" sz="2800" dirty="0" err="1" smtClean="0"/>
              <a:t>Meta</a:t>
            </a:r>
            <a:r>
              <a:rPr lang="de-AT" sz="2800" dirty="0" smtClean="0"/>
              <a:t> </a:t>
            </a:r>
            <a:r>
              <a:rPr lang="de-AT" sz="2800" dirty="0" err="1" smtClean="0"/>
              <a:t>data</a:t>
            </a:r>
            <a:endParaRPr lang="de-AT" sz="2800" dirty="0" smtClean="0"/>
          </a:p>
          <a:p>
            <a:pPr lvl="1"/>
            <a:r>
              <a:rPr lang="de-AT" sz="2000" dirty="0" err="1" smtClean="0"/>
              <a:t>Licenses</a:t>
            </a:r>
            <a:endParaRPr lang="de-AT" sz="2000" dirty="0" smtClean="0"/>
          </a:p>
          <a:p>
            <a:pPr lvl="1"/>
            <a:r>
              <a:rPr lang="de-AT" sz="2000" dirty="0" err="1" smtClean="0"/>
              <a:t>Provenance</a:t>
            </a:r>
            <a:endParaRPr lang="de-AT" sz="2000" dirty="0" smtClean="0"/>
          </a:p>
          <a:p>
            <a:pPr lvl="1"/>
            <a:r>
              <a:rPr lang="de-AT" sz="2000" dirty="0" smtClean="0"/>
              <a:t>Formats</a:t>
            </a:r>
          </a:p>
          <a:p>
            <a:pPr lvl="1"/>
            <a:r>
              <a:rPr lang="de-AT" sz="2000" dirty="0" smtClean="0"/>
              <a:t>…</a:t>
            </a:r>
            <a:endParaRPr lang="de-AT" sz="2800" dirty="0" smtClean="0"/>
          </a:p>
          <a:p>
            <a:r>
              <a:rPr lang="de-AT" sz="2800" dirty="0" err="1" smtClean="0"/>
              <a:t>Typical</a:t>
            </a:r>
            <a:r>
              <a:rPr lang="de-AT" sz="2800" dirty="0" smtClean="0"/>
              <a:t> </a:t>
            </a:r>
            <a:r>
              <a:rPr lang="de-AT" sz="2800" dirty="0" err="1" smtClean="0"/>
              <a:t>software</a:t>
            </a:r>
            <a:endParaRPr lang="de-AT" sz="280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5</a:t>
            </a:fld>
            <a:endParaRPr lang="de-AT"/>
          </a:p>
        </p:txBody>
      </p:sp>
      <p:pic>
        <p:nvPicPr>
          <p:cNvPr id="7" name="image8.png" descr="Screen Shot 2015-08-24 at 09.28.22.png"/>
          <p:cNvPicPr/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928391" y="4907260"/>
            <a:ext cx="1778001" cy="558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image9.png" descr="Screen Shot 2015-08-24 at 09.27.44.png"/>
          <p:cNvPicPr/>
          <p:nvPr/>
        </p:nvPicPr>
        <p:blipFill>
          <a:blip r:embed="rId4">
            <a:extLst/>
          </a:blip>
          <a:srcRect r="62325"/>
          <a:stretch>
            <a:fillRect/>
          </a:stretch>
        </p:blipFill>
        <p:spPr>
          <a:xfrm>
            <a:off x="984176" y="4932660"/>
            <a:ext cx="1800201" cy="576065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10.png" descr="Screen Shot 2015-08-24 at 09.27.21.png"/>
          <p:cNvPicPr/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704255" y="5585047"/>
            <a:ext cx="2267745" cy="647928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Shape 65"/>
          <p:cNvSpPr/>
          <p:nvPr/>
        </p:nvSpPr>
        <p:spPr>
          <a:xfrm>
            <a:off x="6330156" y="3952317"/>
            <a:ext cx="288033" cy="432049"/>
          </a:xfrm>
          <a:prstGeom prst="rect">
            <a:avLst/>
          </a:prstGeom>
          <a:solidFill>
            <a:srgbClr val="D9D9D9"/>
          </a:solidFill>
          <a:ln>
            <a:solidFill>
              <a:srgbClr val="414D35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pPr>
            <a:endParaRPr/>
          </a:p>
        </p:txBody>
      </p:sp>
      <p:sp>
        <p:nvSpPr>
          <p:cNvPr id="17" name="Shape 66"/>
          <p:cNvSpPr/>
          <p:nvPr/>
        </p:nvSpPr>
        <p:spPr>
          <a:xfrm>
            <a:off x="5034012" y="3952317"/>
            <a:ext cx="288033" cy="432049"/>
          </a:xfrm>
          <a:prstGeom prst="rect">
            <a:avLst/>
          </a:prstGeom>
          <a:solidFill>
            <a:srgbClr val="D9D9D9"/>
          </a:solidFill>
          <a:ln>
            <a:solidFill>
              <a:srgbClr val="414D35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pPr>
            <a:endParaRPr/>
          </a:p>
        </p:txBody>
      </p:sp>
      <p:sp>
        <p:nvSpPr>
          <p:cNvPr id="18" name="Shape 67"/>
          <p:cNvSpPr/>
          <p:nvPr/>
        </p:nvSpPr>
        <p:spPr>
          <a:xfrm>
            <a:off x="7654880" y="2817328"/>
            <a:ext cx="288033" cy="432049"/>
          </a:xfrm>
          <a:prstGeom prst="rect">
            <a:avLst/>
          </a:prstGeom>
          <a:solidFill>
            <a:srgbClr val="D9D9D9"/>
          </a:solidFill>
          <a:ln>
            <a:solidFill>
              <a:srgbClr val="414D35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pPr>
            <a:endParaRPr/>
          </a:p>
        </p:txBody>
      </p:sp>
      <p:sp>
        <p:nvSpPr>
          <p:cNvPr id="19" name="Shape 68"/>
          <p:cNvSpPr/>
          <p:nvPr/>
        </p:nvSpPr>
        <p:spPr>
          <a:xfrm>
            <a:off x="8086927" y="2457289"/>
            <a:ext cx="288033" cy="432049"/>
          </a:xfrm>
          <a:prstGeom prst="rect">
            <a:avLst/>
          </a:prstGeom>
          <a:solidFill>
            <a:srgbClr val="D9D9D9"/>
          </a:solidFill>
          <a:ln>
            <a:solidFill>
              <a:srgbClr val="414D35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pPr>
            <a:endParaRPr/>
          </a:p>
        </p:txBody>
      </p:sp>
      <p:cxnSp>
        <p:nvCxnSpPr>
          <p:cNvPr id="20" name="Connector 69"/>
          <p:cNvCxnSpPr>
            <a:endCxn id="18" idx="0"/>
          </p:cNvCxnSpPr>
          <p:nvPr/>
        </p:nvCxnSpPr>
        <p:spPr>
          <a:xfrm>
            <a:off x="6646768" y="2961344"/>
            <a:ext cx="1152129" cy="72009"/>
          </a:xfrm>
          <a:prstGeom prst="straightConnector1">
            <a:avLst/>
          </a:prstGeom>
          <a:ln w="25400">
            <a:solidFill>
              <a:srgbClr val="404040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1" name="Connector 70"/>
          <p:cNvCxnSpPr/>
          <p:nvPr/>
        </p:nvCxnSpPr>
        <p:spPr>
          <a:xfrm>
            <a:off x="5599980" y="2901557"/>
            <a:ext cx="890046" cy="1140345"/>
          </a:xfrm>
          <a:prstGeom prst="straightConnector1">
            <a:avLst/>
          </a:prstGeom>
          <a:ln w="25400">
            <a:solidFill>
              <a:srgbClr val="404040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22" name="Shape 71"/>
          <p:cNvSpPr/>
          <p:nvPr/>
        </p:nvSpPr>
        <p:spPr>
          <a:xfrm>
            <a:off x="7582872" y="2169257"/>
            <a:ext cx="288033" cy="432049"/>
          </a:xfrm>
          <a:prstGeom prst="rect">
            <a:avLst/>
          </a:prstGeom>
          <a:solidFill>
            <a:srgbClr val="D9D9D9"/>
          </a:solidFill>
          <a:ln>
            <a:solidFill>
              <a:srgbClr val="414D35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pPr>
            <a:endParaRPr/>
          </a:p>
        </p:txBody>
      </p:sp>
      <p:cxnSp>
        <p:nvCxnSpPr>
          <p:cNvPr id="24" name="Connector 73"/>
          <p:cNvCxnSpPr/>
          <p:nvPr/>
        </p:nvCxnSpPr>
        <p:spPr>
          <a:xfrm flipH="1">
            <a:off x="5182237" y="2609689"/>
            <a:ext cx="139808" cy="1444116"/>
          </a:xfrm>
          <a:prstGeom prst="straightConnector1">
            <a:avLst/>
          </a:prstGeom>
          <a:ln w="25400">
            <a:solidFill>
              <a:srgbClr val="404040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6" name="Connector 75"/>
          <p:cNvCxnSpPr/>
          <p:nvPr/>
        </p:nvCxnSpPr>
        <p:spPr>
          <a:xfrm>
            <a:off x="5466061" y="2784185"/>
            <a:ext cx="362643" cy="1269620"/>
          </a:xfrm>
          <a:prstGeom prst="straightConnector1">
            <a:avLst/>
          </a:prstGeom>
          <a:ln w="25400">
            <a:solidFill>
              <a:srgbClr val="404040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cxnSp>
      <p:grpSp>
        <p:nvGrpSpPr>
          <p:cNvPr id="29" name="Group 80"/>
          <p:cNvGrpSpPr/>
          <p:nvPr/>
        </p:nvGrpSpPr>
        <p:grpSpPr>
          <a:xfrm>
            <a:off x="7372864" y="4169740"/>
            <a:ext cx="1158676" cy="288034"/>
            <a:chOff x="0" y="41404"/>
            <a:chExt cx="1158675" cy="288033"/>
          </a:xfrm>
        </p:grpSpPr>
        <p:sp>
          <p:nvSpPr>
            <p:cNvPr id="30" name="Shape 78"/>
            <p:cNvSpPr/>
            <p:nvPr/>
          </p:nvSpPr>
          <p:spPr>
            <a:xfrm>
              <a:off x="0" y="41404"/>
              <a:ext cx="1158675" cy="288033"/>
            </a:xfrm>
            <a:prstGeom prst="rect">
              <a:avLst/>
            </a:prstGeom>
            <a:solidFill>
              <a:srgbClr val="D9D9D9"/>
            </a:solidFill>
            <a:ln w="9525" cap="flat">
              <a:solidFill>
                <a:srgbClr val="414D35"/>
              </a:solidFill>
              <a:prstDash val="solid"/>
              <a:bevel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solidFill>
                    <a:srgbClr val="595959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pPr>
              <a:r>
                <a:rPr lang="de-AT" sz="1400" dirty="0" err="1" smtClean="0"/>
                <a:t>Resource</a:t>
              </a:r>
              <a:endParaRPr dirty="0"/>
            </a:p>
          </p:txBody>
        </p:sp>
        <p:sp>
          <p:nvSpPr>
            <p:cNvPr id="31" name="Shape 79"/>
            <p:cNvSpPr/>
            <p:nvPr/>
          </p:nvSpPr>
          <p:spPr>
            <a:xfrm>
              <a:off x="0" y="62309"/>
              <a:ext cx="1158675" cy="2462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600">
                  <a:solidFill>
                    <a:srgbClr val="595959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endParaRPr sz="1600" dirty="0">
                <a:solidFill>
                  <a:srgbClr val="595959"/>
                </a:solidFill>
              </a:endParaRPr>
            </a:p>
          </p:txBody>
        </p:sp>
      </p:grpSp>
      <p:sp>
        <p:nvSpPr>
          <p:cNvPr id="34" name="Shape 83"/>
          <p:cNvSpPr/>
          <p:nvPr/>
        </p:nvSpPr>
        <p:spPr>
          <a:xfrm>
            <a:off x="6345503" y="4135260"/>
            <a:ext cx="3092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pPr lvl="0"/>
            <a:r>
              <a:rPr sz="800" dirty="0" smtClean="0"/>
              <a:t>C</a:t>
            </a:r>
            <a:r>
              <a:rPr lang="de-AT" sz="800" dirty="0" smtClean="0"/>
              <a:t>SV</a:t>
            </a:r>
            <a:endParaRPr sz="800" dirty="0"/>
          </a:p>
        </p:txBody>
      </p:sp>
      <p:sp>
        <p:nvSpPr>
          <p:cNvPr id="35" name="Shape 87"/>
          <p:cNvSpPr/>
          <p:nvPr/>
        </p:nvSpPr>
        <p:spPr>
          <a:xfrm>
            <a:off x="7374352" y="3753343"/>
            <a:ext cx="1149150" cy="329434"/>
          </a:xfrm>
          <a:prstGeom prst="rect">
            <a:avLst/>
          </a:prstGeom>
          <a:solidFill>
            <a:srgbClr val="5684A3"/>
          </a:solidFill>
          <a:ln>
            <a:solidFill>
              <a:srgbClr val="0093CE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600"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de-AT" sz="1400" dirty="0" smtClean="0">
                <a:solidFill>
                  <a:srgbClr val="FFFFFF"/>
                </a:solidFill>
              </a:rPr>
              <a:t>Dataset</a:t>
            </a:r>
            <a:endParaRPr sz="1600" dirty="0">
              <a:solidFill>
                <a:srgbClr val="FFFFFF"/>
              </a:solidFill>
            </a:endParaRPr>
          </a:p>
        </p:txBody>
      </p:sp>
      <p:cxnSp>
        <p:nvCxnSpPr>
          <p:cNvPr id="11" name="Connector 58"/>
          <p:cNvCxnSpPr>
            <a:endCxn id="19" idx="0"/>
          </p:cNvCxnSpPr>
          <p:nvPr/>
        </p:nvCxnSpPr>
        <p:spPr>
          <a:xfrm flipV="1">
            <a:off x="6502752" y="2673313"/>
            <a:ext cx="1728192" cy="144017"/>
          </a:xfrm>
          <a:prstGeom prst="straightConnector1">
            <a:avLst/>
          </a:prstGeom>
          <a:ln w="25400">
            <a:solidFill>
              <a:srgbClr val="404040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" name="Connector 59"/>
          <p:cNvCxnSpPr/>
          <p:nvPr/>
        </p:nvCxnSpPr>
        <p:spPr>
          <a:xfrm flipV="1">
            <a:off x="6509444" y="2337214"/>
            <a:ext cx="1148230" cy="525407"/>
          </a:xfrm>
          <a:prstGeom prst="straightConnector1">
            <a:avLst/>
          </a:prstGeom>
          <a:ln w="25400">
            <a:solidFill>
              <a:srgbClr val="404040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28" name="Shape 77"/>
          <p:cNvSpPr/>
          <p:nvPr/>
        </p:nvSpPr>
        <p:spPr>
          <a:xfrm>
            <a:off x="5128734" y="2303471"/>
            <a:ext cx="576063" cy="697629"/>
          </a:xfrm>
          <a:prstGeom prst="rect">
            <a:avLst/>
          </a:prstGeom>
          <a:solidFill>
            <a:srgbClr val="5684A3"/>
          </a:solidFill>
          <a:ln w="12700">
            <a:solidFill>
              <a:srgbClr val="F7F7F7"/>
            </a:solidFill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pPr>
            <a:endParaRPr sz="1100" dirty="0"/>
          </a:p>
        </p:txBody>
      </p:sp>
      <p:sp>
        <p:nvSpPr>
          <p:cNvPr id="36" name="Shape 77"/>
          <p:cNvSpPr/>
          <p:nvPr/>
        </p:nvSpPr>
        <p:spPr>
          <a:xfrm>
            <a:off x="5253234" y="2450239"/>
            <a:ext cx="576063" cy="697629"/>
          </a:xfrm>
          <a:prstGeom prst="rect">
            <a:avLst/>
          </a:prstGeom>
          <a:solidFill>
            <a:srgbClr val="5684A3"/>
          </a:solidFill>
          <a:ln w="12700">
            <a:solidFill>
              <a:srgbClr val="F7F7F7"/>
            </a:solidFill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pPr>
            <a:endParaRPr sz="1100" dirty="0"/>
          </a:p>
        </p:txBody>
      </p:sp>
      <p:sp>
        <p:nvSpPr>
          <p:cNvPr id="37" name="Shape 77"/>
          <p:cNvSpPr/>
          <p:nvPr/>
        </p:nvSpPr>
        <p:spPr>
          <a:xfrm>
            <a:off x="5433254" y="2619479"/>
            <a:ext cx="576063" cy="697629"/>
          </a:xfrm>
          <a:prstGeom prst="rect">
            <a:avLst/>
          </a:prstGeom>
          <a:solidFill>
            <a:srgbClr val="5684A3"/>
          </a:solidFill>
          <a:ln w="12700">
            <a:solidFill>
              <a:srgbClr val="F7F7F7"/>
            </a:solidFill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pPr>
            <a:r>
              <a:rPr lang="de-AT" sz="1100" dirty="0"/>
              <a:t>t</a:t>
            </a:r>
            <a:r>
              <a:rPr lang="de-AT" sz="1100" dirty="0" smtClean="0"/>
              <a:t>itle</a:t>
            </a:r>
          </a:p>
          <a:p>
            <a:pPr lvl="0" algn="ctr">
              <a:defRPr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pPr>
            <a:r>
              <a:rPr lang="de-AT" sz="1100" dirty="0" err="1" smtClean="0"/>
              <a:t>license</a:t>
            </a:r>
            <a:endParaRPr lang="de-AT" sz="1100" dirty="0" smtClean="0"/>
          </a:p>
          <a:p>
            <a:pPr lvl="0" algn="ctr">
              <a:defRPr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pPr>
            <a:r>
              <a:rPr lang="de-AT" sz="1100" dirty="0" smtClean="0"/>
              <a:t>...</a:t>
            </a:r>
            <a:endParaRPr sz="1100" dirty="0"/>
          </a:p>
        </p:txBody>
      </p:sp>
      <p:sp>
        <p:nvSpPr>
          <p:cNvPr id="38" name="Shape 77"/>
          <p:cNvSpPr/>
          <p:nvPr/>
        </p:nvSpPr>
        <p:spPr>
          <a:xfrm>
            <a:off x="6254250" y="2441332"/>
            <a:ext cx="576063" cy="697629"/>
          </a:xfrm>
          <a:prstGeom prst="rect">
            <a:avLst/>
          </a:prstGeom>
          <a:solidFill>
            <a:srgbClr val="5684A3"/>
          </a:solidFill>
          <a:ln w="12700">
            <a:solidFill>
              <a:srgbClr val="F7F7F7"/>
            </a:solidFill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pPr>
            <a:endParaRPr sz="1100" dirty="0"/>
          </a:p>
        </p:txBody>
      </p:sp>
      <p:sp>
        <p:nvSpPr>
          <p:cNvPr id="47" name="Shape 83"/>
          <p:cNvSpPr/>
          <p:nvPr/>
        </p:nvSpPr>
        <p:spPr>
          <a:xfrm>
            <a:off x="5670931" y="4139033"/>
            <a:ext cx="3092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pPr lvl="0"/>
            <a:r>
              <a:rPr sz="800" dirty="0" smtClean="0"/>
              <a:t>C</a:t>
            </a:r>
            <a:r>
              <a:rPr lang="de-AT" sz="800" dirty="0" smtClean="0"/>
              <a:t>SV</a:t>
            </a:r>
            <a:endParaRPr sz="800" dirty="0"/>
          </a:p>
        </p:txBody>
      </p:sp>
      <p:sp>
        <p:nvSpPr>
          <p:cNvPr id="48" name="Shape 83"/>
          <p:cNvSpPr/>
          <p:nvPr/>
        </p:nvSpPr>
        <p:spPr>
          <a:xfrm>
            <a:off x="5016905" y="4161196"/>
            <a:ext cx="3092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pPr lvl="0"/>
            <a:r>
              <a:rPr sz="800" dirty="0" smtClean="0"/>
              <a:t>C</a:t>
            </a:r>
            <a:r>
              <a:rPr lang="de-AT" sz="800" dirty="0" smtClean="0"/>
              <a:t>SV</a:t>
            </a:r>
            <a:endParaRPr sz="800" dirty="0"/>
          </a:p>
        </p:txBody>
      </p:sp>
      <p:sp>
        <p:nvSpPr>
          <p:cNvPr id="49" name="Shape 83"/>
          <p:cNvSpPr/>
          <p:nvPr/>
        </p:nvSpPr>
        <p:spPr>
          <a:xfrm>
            <a:off x="7648377" y="3031239"/>
            <a:ext cx="3092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pPr lvl="0"/>
            <a:r>
              <a:rPr lang="de-AT" sz="800" dirty="0" smtClean="0"/>
              <a:t>XML</a:t>
            </a:r>
            <a:endParaRPr sz="800" dirty="0"/>
          </a:p>
        </p:txBody>
      </p:sp>
      <p:sp>
        <p:nvSpPr>
          <p:cNvPr id="50" name="Shape 83"/>
          <p:cNvSpPr/>
          <p:nvPr/>
        </p:nvSpPr>
        <p:spPr>
          <a:xfrm>
            <a:off x="8053009" y="2709609"/>
            <a:ext cx="366501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pPr lvl="0"/>
            <a:r>
              <a:rPr lang="de-AT" sz="800" dirty="0" smtClean="0"/>
              <a:t>JSON</a:t>
            </a:r>
            <a:endParaRPr sz="800" dirty="0"/>
          </a:p>
        </p:txBody>
      </p:sp>
      <p:sp>
        <p:nvSpPr>
          <p:cNvPr id="51" name="Shape 83"/>
          <p:cNvSpPr/>
          <p:nvPr/>
        </p:nvSpPr>
        <p:spPr>
          <a:xfrm>
            <a:off x="7572268" y="2383100"/>
            <a:ext cx="3092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pPr lvl="0"/>
            <a:r>
              <a:rPr sz="800" dirty="0" smtClean="0"/>
              <a:t>C</a:t>
            </a:r>
            <a:r>
              <a:rPr lang="de-AT" sz="800" dirty="0" smtClean="0"/>
              <a:t>SV</a:t>
            </a:r>
            <a:endParaRPr sz="800" dirty="0"/>
          </a:p>
        </p:txBody>
      </p:sp>
    </p:spTree>
    <p:extLst>
      <p:ext uri="{BB962C8B-B14F-4D97-AF65-F5344CB8AC3E}">
        <p14:creationId xmlns:p14="http://schemas.microsoft.com/office/powerpoint/2010/main" val="2934917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/>
        </p:nvPicPr>
        <p:blipFill rotWithShape="1">
          <a:blip r:embed="rId2"/>
          <a:srcRect r="18398"/>
          <a:stretch/>
        </p:blipFill>
        <p:spPr>
          <a:xfrm>
            <a:off x="5327826" y="454419"/>
            <a:ext cx="3530040" cy="32393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E.g.: data.gv.at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6</a:t>
            </a:fld>
            <a:endParaRPr lang="de-AT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15" y="2893432"/>
            <a:ext cx="6912531" cy="32678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22959" y="1845734"/>
            <a:ext cx="3360421" cy="4023360"/>
          </a:xfrm>
        </p:spPr>
        <p:txBody>
          <a:bodyPr/>
          <a:lstStyle/>
          <a:p>
            <a:pPr marL="0" indent="0">
              <a:buNone/>
            </a:pPr>
            <a:r>
              <a:rPr lang="de-AT" dirty="0" smtClean="0">
                <a:solidFill>
                  <a:schemeClr val="accent6"/>
                </a:solidFill>
              </a:rPr>
              <a:t>Open Data Portal </a:t>
            </a:r>
            <a:r>
              <a:rPr lang="de-AT" dirty="0" err="1" smtClean="0">
                <a:solidFill>
                  <a:schemeClr val="accent6"/>
                </a:solidFill>
              </a:rPr>
              <a:t>by</a:t>
            </a:r>
            <a:r>
              <a:rPr lang="de-AT" dirty="0" smtClean="0">
                <a:solidFill>
                  <a:schemeClr val="accent6"/>
                </a:solidFill>
              </a:rPr>
              <a:t> </a:t>
            </a:r>
            <a:r>
              <a:rPr lang="de-AT" dirty="0" err="1" smtClean="0">
                <a:solidFill>
                  <a:schemeClr val="accent6"/>
                </a:solidFill>
              </a:rPr>
              <a:t>the</a:t>
            </a:r>
            <a:r>
              <a:rPr lang="de-AT" dirty="0" smtClean="0">
                <a:solidFill>
                  <a:schemeClr val="accent6"/>
                </a:solidFill>
              </a:rPr>
              <a:t>  Austrian </a:t>
            </a:r>
            <a:r>
              <a:rPr lang="de-AT" dirty="0" err="1" smtClean="0">
                <a:solidFill>
                  <a:schemeClr val="accent6"/>
                </a:solidFill>
              </a:rPr>
              <a:t>Government</a:t>
            </a:r>
            <a:endParaRPr lang="de-AT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3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CKAN </a:t>
            </a:r>
            <a:r>
              <a:rPr lang="de-AT" dirty="0" err="1" smtClean="0"/>
              <a:t>Metadata</a:t>
            </a:r>
            <a:r>
              <a:rPr lang="de-AT" dirty="0" smtClean="0"/>
              <a:t> (JSON)</a:t>
            </a:r>
            <a:endParaRPr lang="de-AT" dirty="0"/>
          </a:p>
        </p:txBody>
      </p:sp>
      <p:sp>
        <p:nvSpPr>
          <p:cNvPr id="147" name="Shape 147"/>
          <p:cNvSpPr>
            <a:spLocks noGrp="1"/>
          </p:cNvSpPr>
          <p:nvPr>
            <p:ph idx="1"/>
          </p:nvPr>
        </p:nvSpPr>
        <p:spPr>
          <a:xfrm>
            <a:off x="917410" y="1956794"/>
            <a:ext cx="5805447" cy="3111444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d: {</a:t>
            </a:r>
          </a:p>
          <a:p>
            <a:pPr marL="0" lvl="1" indent="13716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"</a:t>
            </a:r>
            <a:r>
              <a:rPr sz="800" dirty="0" err="1">
                <a:latin typeface="Source Code Pro"/>
                <a:ea typeface="Source Code Pro"/>
                <a:cs typeface="Source Code Pro"/>
                <a:sym typeface="Source Code Pro"/>
              </a:rPr>
              <a:t>license_title</a:t>
            </a: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": </a:t>
            </a:r>
            <a:r>
              <a:rPr sz="800" dirty="0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"Creative Commons </a:t>
            </a:r>
            <a:r>
              <a:rPr sz="800" dirty="0" err="1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Namensnennung</a:t>
            </a:r>
            <a:r>
              <a:rPr sz="800" dirty="0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</a:t>
            </a: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, "maintainer": </a:t>
            </a:r>
            <a:r>
              <a:rPr sz="800" dirty="0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</a:t>
            </a:r>
            <a:r>
              <a:rPr sz="800" dirty="0" err="1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Stadtvermessung</a:t>
            </a:r>
            <a:r>
              <a:rPr sz="800" dirty="0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Graz"</a:t>
            </a: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,</a:t>
            </a:r>
          </a:p>
          <a:p>
            <a:pPr marL="0" lvl="1" indent="13716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"author": </a:t>
            </a:r>
            <a:r>
              <a:rPr sz="800" dirty="0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""</a:t>
            </a: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,</a:t>
            </a:r>
          </a:p>
          <a:p>
            <a:pPr marL="0" lvl="1" indent="13716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"</a:t>
            </a:r>
            <a:r>
              <a:rPr sz="800" dirty="0" err="1">
                <a:latin typeface="Source Code Pro"/>
                <a:ea typeface="Source Code Pro"/>
                <a:cs typeface="Source Code Pro"/>
                <a:sym typeface="Source Code Pro"/>
              </a:rPr>
              <a:t>author_email</a:t>
            </a: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": </a:t>
            </a:r>
            <a:r>
              <a:rPr sz="800" dirty="0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"stadtvermessung@stadt.graz.at"</a:t>
            </a: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,</a:t>
            </a:r>
          </a:p>
          <a:p>
            <a:pPr marL="0" lvl="1" indent="13716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"resources": [</a:t>
            </a:r>
          </a:p>
          <a:p>
            <a:pPr marL="0" lvl="2" indent="27432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</a:p>
          <a:p>
            <a:pPr marL="0" lvl="2" indent="27432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"size": </a:t>
            </a:r>
            <a:r>
              <a:rPr sz="800" dirty="0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"6698"</a:t>
            </a: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,</a:t>
            </a:r>
          </a:p>
          <a:p>
            <a:pPr marL="0" lvl="2" indent="27432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    "format": </a:t>
            </a:r>
            <a:r>
              <a:rPr sz="800" dirty="0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"CSV"</a:t>
            </a: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,</a:t>
            </a:r>
          </a:p>
          <a:p>
            <a:pPr marL="0" lvl="2" indent="27432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    "</a:t>
            </a:r>
            <a:r>
              <a:rPr sz="800" dirty="0" err="1">
                <a:latin typeface="Source Code Pro"/>
                <a:ea typeface="Source Code Pro"/>
                <a:cs typeface="Source Code Pro"/>
                <a:sym typeface="Source Code Pro"/>
              </a:rPr>
              <a:t>mimetype</a:t>
            </a: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": </a:t>
            </a:r>
            <a:r>
              <a:rPr sz="800" dirty="0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""</a:t>
            </a: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,</a:t>
            </a:r>
          </a:p>
          <a:p>
            <a:pPr marL="0" lvl="2" indent="27432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    "</a:t>
            </a:r>
            <a:r>
              <a:rPr sz="800" dirty="0" err="1">
                <a:latin typeface="Source Code Pro"/>
                <a:ea typeface="Source Code Pro"/>
                <a:cs typeface="Source Code Pro"/>
                <a:sym typeface="Source Code Pro"/>
              </a:rPr>
              <a:t>url</a:t>
            </a: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": </a:t>
            </a:r>
            <a:r>
              <a:rPr sz="800" dirty="0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"http://data.graz.gv.at/.../Bibliothek.csv"</a:t>
            </a:r>
          </a:p>
          <a:p>
            <a:pPr marL="0" lvl="2" indent="27432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</a:p>
          <a:p>
            <a:pPr marL="0" lvl="1" indent="13716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], "tags": [</a:t>
            </a:r>
          </a:p>
          <a:p>
            <a:pPr marL="0" lvl="1" indent="13716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    "</a:t>
            </a:r>
            <a:r>
              <a:rPr sz="800" dirty="0" err="1">
                <a:latin typeface="Source Code Pro"/>
                <a:ea typeface="Source Code Pro"/>
                <a:cs typeface="Source Code Pro"/>
                <a:sym typeface="Source Code Pro"/>
              </a:rPr>
              <a:t>bibliothek</a:t>
            </a: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",</a:t>
            </a:r>
          </a:p>
          <a:p>
            <a:pPr marL="0" lvl="1" indent="13716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    "</a:t>
            </a:r>
            <a:r>
              <a:rPr sz="800" dirty="0" err="1">
                <a:latin typeface="Source Code Pro"/>
                <a:ea typeface="Source Code Pro"/>
                <a:cs typeface="Source Code Pro"/>
                <a:sym typeface="Source Code Pro"/>
              </a:rPr>
              <a:t>geodaten</a:t>
            </a: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",</a:t>
            </a:r>
          </a:p>
          <a:p>
            <a:pPr marL="0" lvl="1" indent="13716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    "</a:t>
            </a:r>
            <a:r>
              <a:rPr sz="800" dirty="0" err="1">
                <a:latin typeface="Source Code Pro"/>
                <a:ea typeface="Source Code Pro"/>
                <a:cs typeface="Source Code Pro"/>
                <a:sym typeface="Source Code Pro"/>
              </a:rPr>
              <a:t>graz</a:t>
            </a: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",</a:t>
            </a:r>
          </a:p>
          <a:p>
            <a:pPr marL="0" lvl="2" indent="27432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 "</a:t>
            </a:r>
            <a:r>
              <a:rPr sz="800" dirty="0" err="1">
                <a:latin typeface="Source Code Pro"/>
                <a:ea typeface="Source Code Pro"/>
                <a:cs typeface="Source Code Pro"/>
                <a:sym typeface="Source Code Pro"/>
              </a:rPr>
              <a:t>kultur</a:t>
            </a: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",</a:t>
            </a:r>
          </a:p>
          <a:p>
            <a:pPr marL="0" lvl="2" indent="27432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 "poi" ],</a:t>
            </a:r>
          </a:p>
          <a:p>
            <a:pPr marL="0" lvl="1" indent="13716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"</a:t>
            </a:r>
            <a:r>
              <a:rPr sz="800" dirty="0" err="1">
                <a:latin typeface="Source Code Pro"/>
                <a:ea typeface="Source Code Pro"/>
                <a:cs typeface="Source Code Pro"/>
                <a:sym typeface="Source Code Pro"/>
              </a:rPr>
              <a:t>license_id</a:t>
            </a: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": </a:t>
            </a:r>
            <a:r>
              <a:rPr sz="800" dirty="0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"CC-BY-3.0"</a:t>
            </a: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,</a:t>
            </a:r>
          </a:p>
          <a:p>
            <a:pPr marL="0" lvl="1" indent="13716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"organization": </a:t>
            </a:r>
            <a:r>
              <a:rPr sz="800" dirty="0">
                <a:solidFill>
                  <a:srgbClr val="0433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null</a:t>
            </a: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,</a:t>
            </a:r>
          </a:p>
          <a:p>
            <a:pPr marL="0" lvl="1" indent="13716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"name": </a:t>
            </a:r>
            <a:r>
              <a:rPr sz="800" dirty="0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</a:t>
            </a:r>
            <a:r>
              <a:rPr sz="800" dirty="0" err="1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bibliotheken</a:t>
            </a:r>
            <a:r>
              <a:rPr sz="800" dirty="0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</a:t>
            </a: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,</a:t>
            </a:r>
          </a:p>
          <a:p>
            <a:pPr marL="0" lvl="1" indent="13716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"notes": </a:t>
            </a:r>
            <a:r>
              <a:rPr sz="800" dirty="0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</a:t>
            </a:r>
            <a:r>
              <a:rPr sz="800" dirty="0" err="1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Standorte</a:t>
            </a:r>
            <a:r>
              <a:rPr sz="800" dirty="0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der </a:t>
            </a:r>
            <a:r>
              <a:rPr sz="800" dirty="0" err="1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städtischen</a:t>
            </a:r>
            <a:r>
              <a:rPr sz="800" dirty="0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sz="800" dirty="0" err="1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Bibliotheken</a:t>
            </a:r>
            <a:r>
              <a:rPr sz="800" dirty="0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..."</a:t>
            </a: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,</a:t>
            </a:r>
            <a:endParaRPr sz="800" dirty="0">
              <a:solidFill>
                <a:srgbClr val="1369B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1" indent="13716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"extras": {</a:t>
            </a:r>
          </a:p>
          <a:p>
            <a:pPr marL="0" lvl="1" indent="13716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    "</a:t>
            </a:r>
            <a:r>
              <a:rPr sz="800" dirty="0" err="1">
                <a:latin typeface="Source Code Pro"/>
                <a:ea typeface="Source Code Pro"/>
                <a:cs typeface="Source Code Pro"/>
                <a:sym typeface="Source Code Pro"/>
              </a:rPr>
              <a:t>Sprache</a:t>
            </a: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 des </a:t>
            </a:r>
            <a:r>
              <a:rPr sz="800" dirty="0" err="1">
                <a:latin typeface="Source Code Pro"/>
                <a:ea typeface="Source Code Pro"/>
                <a:cs typeface="Source Code Pro"/>
                <a:sym typeface="Source Code Pro"/>
              </a:rPr>
              <a:t>Metadatensatzes</a:t>
            </a: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": </a:t>
            </a:r>
            <a:r>
              <a:rPr sz="800" dirty="0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</a:t>
            </a:r>
            <a:r>
              <a:rPr sz="800" dirty="0" err="1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ger</a:t>
            </a:r>
            <a:r>
              <a:rPr sz="800" dirty="0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</a:t>
            </a:r>
            <a:r>
              <a:rPr sz="800" dirty="0" err="1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deu</a:t>
            </a:r>
            <a:r>
              <a:rPr sz="800" dirty="0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Deutsch"</a:t>
            </a:r>
            <a:endParaRPr sz="8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1" indent="13716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},</a:t>
            </a:r>
          </a:p>
          <a:p>
            <a:pPr marL="0" indent="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    "</a:t>
            </a:r>
            <a:r>
              <a:rPr sz="800" dirty="0" err="1">
                <a:latin typeface="Source Code Pro"/>
                <a:ea typeface="Source Code Pro"/>
                <a:cs typeface="Source Code Pro"/>
                <a:sym typeface="Source Code Pro"/>
              </a:rPr>
              <a:t>license_url</a:t>
            </a: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": </a:t>
            </a:r>
            <a:r>
              <a:rPr sz="800" dirty="0">
                <a:solidFill>
                  <a:srgbClr val="1369B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"http://creativecommons.org/.../by/3.0/at/"</a:t>
            </a: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,</a:t>
            </a:r>
            <a:endParaRPr sz="800" dirty="0">
              <a:solidFill>
                <a:srgbClr val="1369B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defTabSz="274320">
              <a:spcBef>
                <a:spcPts val="0"/>
              </a:spcBef>
              <a:buNone/>
              <a:tabLst>
                <a:tab pos="209550" algn="l"/>
                <a:tab pos="419100" algn="l"/>
                <a:tab pos="638175" algn="l"/>
                <a:tab pos="847725" algn="l"/>
                <a:tab pos="1066800" algn="l"/>
                <a:tab pos="1276350" algn="l"/>
                <a:tab pos="1485900" algn="l"/>
                <a:tab pos="1704975" algn="l"/>
                <a:tab pos="1914525" algn="l"/>
                <a:tab pos="2133600" algn="l"/>
                <a:tab pos="2343150" algn="l"/>
                <a:tab pos="2552700" algn="l"/>
              </a:tabLst>
              <a:defRPr sz="1800"/>
            </a:pPr>
            <a:r>
              <a:rPr sz="800" dirty="0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7</a:t>
            </a:fld>
            <a:endParaRPr lang="de-AT"/>
          </a:p>
        </p:txBody>
      </p:sp>
      <p:sp>
        <p:nvSpPr>
          <p:cNvPr id="148" name="Shape 148"/>
          <p:cNvSpPr/>
          <p:nvPr/>
        </p:nvSpPr>
        <p:spPr>
          <a:xfrm>
            <a:off x="815979" y="3732313"/>
            <a:ext cx="4961389" cy="1569526"/>
          </a:xfrm>
          <a:prstGeom prst="rect">
            <a:avLst/>
          </a:prstGeom>
          <a:ln w="25400">
            <a:solidFill>
              <a:srgbClr val="9E9E9E"/>
            </a:solidFill>
          </a:ln>
        </p:spPr>
        <p:txBody>
          <a:bodyPr lIns="0" tIns="0" rIns="0" bIns="0" anchor="ctr"/>
          <a:lstStyle/>
          <a:p>
            <a:pPr lvl="0"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 sz="1350"/>
          </a:p>
        </p:txBody>
      </p:sp>
      <p:sp>
        <p:nvSpPr>
          <p:cNvPr id="151" name="Shape 151"/>
          <p:cNvSpPr/>
          <p:nvPr/>
        </p:nvSpPr>
        <p:spPr>
          <a:xfrm>
            <a:off x="816767" y="3741971"/>
            <a:ext cx="45719" cy="1559867"/>
          </a:xfrm>
          <a:prstGeom prst="rect">
            <a:avLst/>
          </a:prstGeom>
          <a:solidFill>
            <a:srgbClr val="9E9E9E"/>
          </a:solidFill>
          <a:ln w="25400">
            <a:solidFill>
              <a:srgbClr val="9E9E9E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 sz="1350"/>
          </a:p>
        </p:txBody>
      </p:sp>
      <p:sp>
        <p:nvSpPr>
          <p:cNvPr id="152" name="Shape 152"/>
          <p:cNvSpPr/>
          <p:nvPr/>
        </p:nvSpPr>
        <p:spPr>
          <a:xfrm>
            <a:off x="815980" y="1970962"/>
            <a:ext cx="45719" cy="616704"/>
          </a:xfrm>
          <a:prstGeom prst="rect">
            <a:avLst/>
          </a:prstGeom>
          <a:solidFill>
            <a:srgbClr val="9E9E9E"/>
          </a:solidFill>
          <a:ln w="25400">
            <a:solidFill>
              <a:srgbClr val="9E9E9E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 sz="1350"/>
          </a:p>
        </p:txBody>
      </p:sp>
      <p:sp>
        <p:nvSpPr>
          <p:cNvPr id="153" name="Shape 153"/>
          <p:cNvSpPr/>
          <p:nvPr/>
        </p:nvSpPr>
        <p:spPr>
          <a:xfrm>
            <a:off x="815980" y="2616589"/>
            <a:ext cx="45719" cy="1091810"/>
          </a:xfrm>
          <a:prstGeom prst="rect">
            <a:avLst/>
          </a:prstGeom>
          <a:solidFill>
            <a:srgbClr val="EEE276"/>
          </a:solidFill>
          <a:ln w="25400">
            <a:solidFill>
              <a:srgbClr val="EEE27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 sz="1350"/>
          </a:p>
        </p:txBody>
      </p:sp>
      <p:sp>
        <p:nvSpPr>
          <p:cNvPr id="154" name="Shape 154"/>
          <p:cNvSpPr/>
          <p:nvPr/>
        </p:nvSpPr>
        <p:spPr>
          <a:xfrm>
            <a:off x="815980" y="5799784"/>
            <a:ext cx="53201" cy="323214"/>
          </a:xfrm>
          <a:prstGeom prst="rect">
            <a:avLst/>
          </a:prstGeom>
          <a:solidFill>
            <a:srgbClr val="9E9E9E"/>
          </a:solidFill>
          <a:ln w="25400">
            <a:solidFill>
              <a:srgbClr val="9E9E9E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 sz="1350"/>
          </a:p>
        </p:txBody>
      </p:sp>
      <p:sp>
        <p:nvSpPr>
          <p:cNvPr id="155" name="Shape 155"/>
          <p:cNvSpPr/>
          <p:nvPr/>
        </p:nvSpPr>
        <p:spPr>
          <a:xfrm>
            <a:off x="815980" y="5319948"/>
            <a:ext cx="53201" cy="461727"/>
          </a:xfrm>
          <a:prstGeom prst="rect">
            <a:avLst/>
          </a:prstGeom>
          <a:solidFill>
            <a:srgbClr val="AB5A52"/>
          </a:solidFill>
          <a:ln w="25400">
            <a:solidFill>
              <a:srgbClr val="AB5A52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 sz="1350"/>
          </a:p>
        </p:txBody>
      </p:sp>
      <p:sp>
        <p:nvSpPr>
          <p:cNvPr id="156" name="Shape 156"/>
          <p:cNvSpPr/>
          <p:nvPr/>
        </p:nvSpPr>
        <p:spPr>
          <a:xfrm>
            <a:off x="6488948" y="3838434"/>
            <a:ext cx="53201" cy="278131"/>
          </a:xfrm>
          <a:prstGeom prst="rect">
            <a:avLst/>
          </a:prstGeom>
          <a:solidFill>
            <a:srgbClr val="9E9E9E"/>
          </a:solidFill>
          <a:ln w="25400">
            <a:solidFill>
              <a:srgbClr val="9E9E9E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 sz="1350"/>
          </a:p>
        </p:txBody>
      </p:sp>
      <p:sp>
        <p:nvSpPr>
          <p:cNvPr id="157" name="Shape 157"/>
          <p:cNvSpPr/>
          <p:nvPr/>
        </p:nvSpPr>
        <p:spPr>
          <a:xfrm>
            <a:off x="6563967" y="3835033"/>
            <a:ext cx="719297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4289" rIns="34289">
            <a:spAutoFit/>
          </a:bodyPr>
          <a:lstStyle/>
          <a:p>
            <a:pPr lvl="0"/>
            <a:r>
              <a:rPr sz="1350"/>
              <a:t>core keys</a:t>
            </a:r>
          </a:p>
        </p:txBody>
      </p:sp>
      <p:sp>
        <p:nvSpPr>
          <p:cNvPr id="158" name="Shape 158"/>
          <p:cNvSpPr/>
          <p:nvPr/>
        </p:nvSpPr>
        <p:spPr>
          <a:xfrm>
            <a:off x="6493120" y="4171809"/>
            <a:ext cx="53201" cy="278131"/>
          </a:xfrm>
          <a:prstGeom prst="rect">
            <a:avLst/>
          </a:prstGeom>
          <a:solidFill>
            <a:srgbClr val="EEE276"/>
          </a:solidFill>
          <a:ln w="25400">
            <a:solidFill>
              <a:srgbClr val="EEE27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 sz="1350"/>
          </a:p>
        </p:txBody>
      </p:sp>
      <p:sp>
        <p:nvSpPr>
          <p:cNvPr id="159" name="Shape 159"/>
          <p:cNvSpPr/>
          <p:nvPr/>
        </p:nvSpPr>
        <p:spPr>
          <a:xfrm>
            <a:off x="6577662" y="4168409"/>
            <a:ext cx="955070" cy="207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lvl="0"/>
            <a:r>
              <a:rPr sz="1350"/>
              <a:t>resource keys</a:t>
            </a:r>
          </a:p>
        </p:txBody>
      </p:sp>
      <p:sp>
        <p:nvSpPr>
          <p:cNvPr id="160" name="Shape 160"/>
          <p:cNvSpPr/>
          <p:nvPr/>
        </p:nvSpPr>
        <p:spPr>
          <a:xfrm>
            <a:off x="6502645" y="4511309"/>
            <a:ext cx="53201" cy="278131"/>
          </a:xfrm>
          <a:prstGeom prst="rect">
            <a:avLst/>
          </a:prstGeom>
          <a:solidFill>
            <a:srgbClr val="AB5A52"/>
          </a:solidFill>
          <a:ln w="25400">
            <a:solidFill>
              <a:srgbClr val="AB5A52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 sz="1350"/>
          </a:p>
        </p:txBody>
      </p:sp>
      <p:sp>
        <p:nvSpPr>
          <p:cNvPr id="161" name="Shape 161"/>
          <p:cNvSpPr/>
          <p:nvPr/>
        </p:nvSpPr>
        <p:spPr>
          <a:xfrm>
            <a:off x="6577662" y="4507908"/>
            <a:ext cx="699422" cy="207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lvl="0"/>
            <a:r>
              <a:rPr sz="1350"/>
              <a:t>extra keys</a:t>
            </a:r>
          </a:p>
        </p:txBody>
      </p:sp>
      <p:sp>
        <p:nvSpPr>
          <p:cNvPr id="162" name="Shape 162"/>
          <p:cNvSpPr/>
          <p:nvPr/>
        </p:nvSpPr>
        <p:spPr>
          <a:xfrm>
            <a:off x="815980" y="5322160"/>
            <a:ext cx="4960979" cy="459515"/>
          </a:xfrm>
          <a:prstGeom prst="rect">
            <a:avLst/>
          </a:prstGeom>
          <a:ln w="25400">
            <a:solidFill>
              <a:srgbClr val="AB5A52"/>
            </a:solidFill>
          </a:ln>
        </p:spPr>
        <p:txBody>
          <a:bodyPr lIns="0" tIns="0" rIns="0" bIns="0" anchor="ctr"/>
          <a:lstStyle/>
          <a:p>
            <a:pPr lvl="0"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 sz="1350"/>
          </a:p>
        </p:txBody>
      </p:sp>
      <p:sp>
        <p:nvSpPr>
          <p:cNvPr id="163" name="Shape 163"/>
          <p:cNvSpPr/>
          <p:nvPr/>
        </p:nvSpPr>
        <p:spPr>
          <a:xfrm>
            <a:off x="825506" y="2611580"/>
            <a:ext cx="4951453" cy="1096819"/>
          </a:xfrm>
          <a:prstGeom prst="rect">
            <a:avLst/>
          </a:prstGeom>
          <a:ln w="25400">
            <a:solidFill>
              <a:srgbClr val="EEE276"/>
            </a:solidFill>
          </a:ln>
        </p:spPr>
        <p:txBody>
          <a:bodyPr lIns="0" tIns="0" rIns="0" bIns="0" anchor="ctr"/>
          <a:lstStyle/>
          <a:p>
            <a:pPr lvl="0"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 sz="1350"/>
          </a:p>
        </p:txBody>
      </p:sp>
      <p:sp>
        <p:nvSpPr>
          <p:cNvPr id="20" name="Shape 148"/>
          <p:cNvSpPr/>
          <p:nvPr/>
        </p:nvSpPr>
        <p:spPr>
          <a:xfrm>
            <a:off x="825506" y="1959432"/>
            <a:ext cx="4951453" cy="628234"/>
          </a:xfrm>
          <a:prstGeom prst="rect">
            <a:avLst/>
          </a:prstGeom>
          <a:ln w="25400">
            <a:solidFill>
              <a:srgbClr val="9E9E9E"/>
            </a:solidFill>
          </a:ln>
        </p:spPr>
        <p:txBody>
          <a:bodyPr lIns="0" tIns="0" rIns="0" bIns="0" anchor="ctr"/>
          <a:lstStyle/>
          <a:p>
            <a:pPr lvl="0"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 sz="1350"/>
          </a:p>
        </p:txBody>
      </p:sp>
      <p:sp>
        <p:nvSpPr>
          <p:cNvPr id="21" name="Shape 148"/>
          <p:cNvSpPr/>
          <p:nvPr/>
        </p:nvSpPr>
        <p:spPr>
          <a:xfrm>
            <a:off x="815979" y="5799784"/>
            <a:ext cx="4961389" cy="342245"/>
          </a:xfrm>
          <a:prstGeom prst="rect">
            <a:avLst/>
          </a:prstGeom>
          <a:ln w="25400">
            <a:solidFill>
              <a:srgbClr val="9E9E9E"/>
            </a:solidFill>
          </a:ln>
        </p:spPr>
        <p:txBody>
          <a:bodyPr lIns="0" tIns="0" rIns="0" bIns="0" anchor="ctr"/>
          <a:lstStyle/>
          <a:p>
            <a:pPr lvl="0"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725282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 advAuto="0"/>
      <p:bldP spid="151" grpId="0" animBg="1" advAuto="0"/>
      <p:bldP spid="152" grpId="0" animBg="1" advAuto="0"/>
      <p:bldP spid="153" grpId="0" animBg="1" advAuto="0"/>
      <p:bldP spid="154" grpId="0" animBg="1" advAuto="0"/>
      <p:bldP spid="155" grpId="0" animBg="1" advAuto="0"/>
      <p:bldP spid="156" grpId="0" animBg="1" advAuto="0"/>
      <p:bldP spid="157" grpId="0" animBg="1" advAuto="0"/>
      <p:bldP spid="158" grpId="0" animBg="1" advAuto="0"/>
      <p:bldP spid="159" grpId="0" animBg="1" advAuto="0"/>
      <p:bldP spid="160" grpId="0" animBg="1" advAuto="0"/>
      <p:bldP spid="161" grpId="0" animBg="1" advAuto="0"/>
      <p:bldP spid="162" grpId="0" animBg="1" advAuto="0"/>
      <p:bldP spid="163" grpId="0" animBg="1" advAuto="0"/>
      <p:bldP spid="20" grpId="0" animBg="1" advAuto="0"/>
      <p:bldP spid="21" grpId="0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 smtClean="0"/>
              <a:t>What</a:t>
            </a:r>
            <a:r>
              <a:rPr lang="de-AT" dirty="0" smtClean="0"/>
              <a:t> </a:t>
            </a:r>
            <a:r>
              <a:rPr lang="de-AT" dirty="0" err="1" smtClean="0"/>
              <a:t>is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Problem?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dirty="0" smtClean="0"/>
              <a:t>There is a concern of </a:t>
            </a:r>
            <a:r>
              <a:rPr lang="en-GB" sz="1800" b="1" dirty="0" smtClean="0"/>
              <a:t>quality issues </a:t>
            </a:r>
            <a:r>
              <a:rPr lang="en-GB" sz="1800" dirty="0" smtClean="0"/>
              <a:t>on data portals [1]:</a:t>
            </a:r>
          </a:p>
          <a:p>
            <a:pPr marL="0" indent="0">
              <a:buNone/>
            </a:pPr>
            <a:r>
              <a:rPr lang="en-GB" sz="2400" dirty="0" smtClean="0"/>
              <a:t>Metadata</a:t>
            </a:r>
            <a:endParaRPr lang="en-GB" dirty="0" smtClean="0"/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GB" dirty="0" smtClean="0"/>
              <a:t>Missing values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GB" dirty="0" smtClean="0"/>
              <a:t>Incorrect values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GB" dirty="0" smtClean="0"/>
              <a:t>No contact info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GB" dirty="0" smtClean="0"/>
              <a:t>Wrong/missing file format description</a:t>
            </a:r>
          </a:p>
          <a:p>
            <a:pPr marL="0" indent="0">
              <a:buNone/>
            </a:pPr>
            <a:r>
              <a:rPr lang="en-GB" sz="2400" dirty="0" smtClean="0"/>
              <a:t>Resources</a:t>
            </a:r>
            <a:endParaRPr lang="en-GB" dirty="0" smtClean="0"/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GB" dirty="0" smtClean="0"/>
              <a:t>Changing URLs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GB" dirty="0" smtClean="0"/>
              <a:t>Formats (e.g. CSV not </a:t>
            </a:r>
            <a:r>
              <a:rPr lang="en-GB" dirty="0"/>
              <a:t>RFC 4180 </a:t>
            </a:r>
            <a:r>
              <a:rPr lang="en-GB" dirty="0" smtClean="0"/>
              <a:t>compliant </a:t>
            </a:r>
            <a:r>
              <a:rPr lang="en-GB" dirty="0"/>
              <a:t>-&gt; </a:t>
            </a:r>
            <a:r>
              <a:rPr lang="en-GB" dirty="0" smtClean="0"/>
              <a:t>[,;\</a:t>
            </a:r>
            <a:r>
              <a:rPr lang="en-GB" dirty="0"/>
              <a:t>t</a:t>
            </a:r>
            <a:r>
              <a:rPr lang="en-GB" dirty="0" smtClean="0"/>
              <a:t>#])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GB" dirty="0" smtClean="0"/>
              <a:t>Encoding (e.g., mixed)</a:t>
            </a:r>
          </a:p>
          <a:p>
            <a:endParaRPr lang="en-GB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8</a:t>
            </a:fld>
            <a:endParaRPr lang="de-AT"/>
          </a:p>
        </p:txBody>
      </p:sp>
      <p:sp>
        <p:nvSpPr>
          <p:cNvPr id="7" name="Textfeld 6"/>
          <p:cNvSpPr txBox="1"/>
          <p:nvPr/>
        </p:nvSpPr>
        <p:spPr>
          <a:xfrm>
            <a:off x="198120" y="6515390"/>
            <a:ext cx="54264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050" dirty="0">
                <a:solidFill>
                  <a:schemeClr val="bg1"/>
                </a:solidFill>
              </a:rPr>
              <a:t>[1] http://www.business2community.com/big-data/open-data-risk-poor-data-quality-01010535</a:t>
            </a:r>
          </a:p>
        </p:txBody>
      </p:sp>
    </p:spTree>
    <p:extLst>
      <p:ext uri="{BB962C8B-B14F-4D97-AF65-F5344CB8AC3E}">
        <p14:creationId xmlns:p14="http://schemas.microsoft.com/office/powerpoint/2010/main" val="1639998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Hypothesis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22960" y="1845734"/>
            <a:ext cx="5569132" cy="4023360"/>
          </a:xfrm>
        </p:spPr>
        <p:txBody>
          <a:bodyPr>
            <a:normAutofit/>
          </a:bodyPr>
          <a:lstStyle/>
          <a:p>
            <a:r>
              <a:rPr lang="de-AT" sz="2400" dirty="0" err="1" smtClean="0"/>
              <a:t>Objective</a:t>
            </a:r>
            <a:r>
              <a:rPr lang="de-AT" sz="2400" dirty="0" smtClean="0"/>
              <a:t> Quality </a:t>
            </a:r>
            <a:r>
              <a:rPr lang="de-AT" sz="2400" dirty="0" err="1" smtClean="0"/>
              <a:t>Metrics</a:t>
            </a:r>
            <a:r>
              <a:rPr lang="de-AT" sz="2400" dirty="0" smtClean="0"/>
              <a:t/>
            </a:r>
            <a:br>
              <a:rPr lang="de-AT" sz="2400" dirty="0" smtClean="0"/>
            </a:br>
            <a:endParaRPr lang="de-AT" sz="10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 smtClean="0"/>
              <a:t>discover</a:t>
            </a:r>
            <a:r>
              <a:rPr lang="en-US" sz="2000" dirty="0"/>
              <a:t>, point out </a:t>
            </a:r>
            <a:r>
              <a:rPr lang="en-US" sz="2000" dirty="0" smtClean="0"/>
              <a:t>and </a:t>
            </a:r>
            <a:r>
              <a:rPr lang="en-US" sz="2000" b="1" dirty="0" smtClean="0"/>
              <a:t>measure</a:t>
            </a:r>
            <a:r>
              <a:rPr lang="en-US" sz="2000" dirty="0" smtClean="0"/>
              <a:t> </a:t>
            </a:r>
            <a:r>
              <a:rPr lang="en-US" sz="2000" dirty="0"/>
              <a:t>quality and </a:t>
            </a:r>
            <a:r>
              <a:rPr lang="en-US" sz="2000" dirty="0" smtClean="0"/>
              <a:t>heterogeneity </a:t>
            </a:r>
            <a:r>
              <a:rPr lang="en-US" sz="2000" dirty="0"/>
              <a:t>issues in data portals</a:t>
            </a:r>
            <a:endParaRPr lang="de-AT" sz="2000" dirty="0" smtClean="0"/>
          </a:p>
          <a:p>
            <a:endParaRPr lang="de-AT" dirty="0" smtClean="0"/>
          </a:p>
          <a:p>
            <a:r>
              <a:rPr lang="de-AT" sz="2400" dirty="0" err="1" smtClean="0"/>
              <a:t>Automated</a:t>
            </a:r>
            <a:r>
              <a:rPr lang="de-AT" sz="2400" dirty="0" smtClean="0"/>
              <a:t> Quality Assessment </a:t>
            </a:r>
            <a:r>
              <a:rPr lang="de-AT" sz="2400" dirty="0"/>
              <a:t>Framework</a:t>
            </a:r>
            <a:br>
              <a:rPr lang="de-AT" sz="2400" dirty="0"/>
            </a:br>
            <a:endParaRPr lang="de-AT" sz="1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 smtClean="0"/>
              <a:t>monitor</a:t>
            </a:r>
            <a:r>
              <a:rPr lang="en-US" sz="2000" dirty="0" smtClean="0"/>
              <a:t> </a:t>
            </a:r>
            <a:r>
              <a:rPr lang="en-US" sz="2000" dirty="0"/>
              <a:t>and assess the </a:t>
            </a:r>
            <a:r>
              <a:rPr lang="en-US" sz="2000" b="1" dirty="0"/>
              <a:t>evolution</a:t>
            </a:r>
            <a:r>
              <a:rPr lang="en-US" sz="2000" dirty="0"/>
              <a:t> of quality metrics over time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4383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Quality </a:t>
            </a:r>
            <a:r>
              <a:rPr lang="de-AT" dirty="0" err="1" smtClean="0"/>
              <a:t>Metrics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10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5138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Metrics</a:t>
            </a:r>
            <a:endParaRPr lang="en-GB" dirty="0"/>
          </a:p>
        </p:txBody>
      </p:sp>
      <p:graphicFrame>
        <p:nvGraphicFramePr>
          <p:cNvPr id="7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0155614"/>
              </p:ext>
            </p:extLst>
          </p:nvPr>
        </p:nvGraphicFramePr>
        <p:xfrm>
          <a:off x="885975" y="1737362"/>
          <a:ext cx="7480785" cy="2781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354"/>
                <a:gridCol w="5878431"/>
              </a:tblGrid>
              <a:tr h="322140">
                <a:tc>
                  <a:txBody>
                    <a:bodyPr/>
                    <a:lstStyle/>
                    <a:p>
                      <a:r>
                        <a:rPr lang="en-GB" sz="1400" b="1" i="0" dirty="0" smtClean="0">
                          <a:solidFill>
                            <a:schemeClr val="tx1"/>
                          </a:solidFill>
                        </a:rPr>
                        <a:t>Dimensions</a:t>
                      </a:r>
                      <a:endParaRPr lang="en-GB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i="0" dirty="0" smtClean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GB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9926">
                <a:tc>
                  <a:txBody>
                    <a:bodyPr/>
                    <a:lstStyle/>
                    <a:p>
                      <a:r>
                        <a:rPr lang="en-GB" sz="1800" dirty="0" err="1" smtClean="0"/>
                        <a:t>Retrievability</a:t>
                      </a:r>
                      <a:endParaRPr lang="en-GB" sz="1800" dirty="0"/>
                    </a:p>
                  </a:txBody>
                  <a:tcPr marL="68580" marR="68580" marT="34290" marB="34290"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extent to which meta data and resources can be retrieved.</a:t>
                      </a:r>
                      <a:endParaRPr lang="en-GB" sz="2000" dirty="0"/>
                    </a:p>
                  </a:txBody>
                  <a:tcPr marL="68580" marR="68580" marT="34290" marB="34290" anchor="b"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409926"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Usage</a:t>
                      </a:r>
                      <a:endParaRPr lang="en-GB" sz="1800" dirty="0"/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extent to which available meta data keys are used to describe a dataset.</a:t>
                      </a:r>
                      <a:endParaRPr lang="en-GB" sz="2000" dirty="0"/>
                    </a:p>
                  </a:txBody>
                  <a:tcPr marL="68580" marR="68580" marT="34290" marB="34290" anchor="b">
                    <a:noFill/>
                  </a:tcPr>
                </a:tc>
              </a:tr>
              <a:tr h="409926"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Completeness</a:t>
                      </a:r>
                      <a:endParaRPr lang="en-GB" sz="1800" dirty="0"/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extent to which the used meta data keys are non empty.</a:t>
                      </a:r>
                      <a:endParaRPr lang="en-GB" sz="2000" dirty="0"/>
                    </a:p>
                  </a:txBody>
                  <a:tcPr marL="68580" marR="68580" marT="34290" marB="34290" anchor="b">
                    <a:noFill/>
                  </a:tcPr>
                </a:tc>
              </a:tr>
              <a:tr h="409926"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Accuracy</a:t>
                      </a:r>
                      <a:endParaRPr lang="en-GB" sz="1800" dirty="0"/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extent to which certain meta data values accurately describe the resources.</a:t>
                      </a:r>
                      <a:endParaRPr lang="en-GB" sz="2000" dirty="0"/>
                    </a:p>
                  </a:txBody>
                  <a:tcPr marL="68580" marR="68580" marT="34290" marB="34290" anchor="b">
                    <a:noFill/>
                  </a:tcPr>
                </a:tc>
              </a:tr>
              <a:tr h="409926"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Openness</a:t>
                      </a:r>
                      <a:endParaRPr lang="en-GB" sz="1800" dirty="0"/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extent to which licenses and file formats conform to the open definition.</a:t>
                      </a:r>
                      <a:endParaRPr lang="en-GB" sz="2000" dirty="0"/>
                    </a:p>
                  </a:txBody>
                  <a:tcPr marL="68580" marR="68580" marT="34290" marB="34290" anchor="b">
                    <a:noFill/>
                  </a:tcPr>
                </a:tc>
              </a:tr>
              <a:tr h="409926">
                <a:tc>
                  <a:txBody>
                    <a:bodyPr/>
                    <a:lstStyle/>
                    <a:p>
                      <a:r>
                        <a:rPr lang="en-GB" sz="1800" dirty="0" err="1" smtClean="0"/>
                        <a:t>Contactability</a:t>
                      </a:r>
                      <a:endParaRPr lang="en-GB" sz="1800" dirty="0"/>
                    </a:p>
                  </a:txBody>
                  <a:tcPr marL="68580" marR="68580" marT="34290" marB="34290"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extent to which the data publisher provide contact information.</a:t>
                      </a:r>
                      <a:endParaRPr lang="en-GB" sz="2000" dirty="0"/>
                    </a:p>
                  </a:txBody>
                  <a:tcPr marL="68580" marR="68580" marT="34290" marB="34290" anchor="b"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11</a:t>
            </a:fld>
            <a:endParaRPr lang="de-AT"/>
          </a:p>
        </p:txBody>
      </p:sp>
      <p:sp>
        <p:nvSpPr>
          <p:cNvPr id="8" name="Textfeld 5"/>
          <p:cNvSpPr txBox="1"/>
          <p:nvPr/>
        </p:nvSpPr>
        <p:spPr>
          <a:xfrm>
            <a:off x="822960" y="4767055"/>
            <a:ext cx="734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Objective</a:t>
            </a:r>
            <a:r>
              <a:rPr lang="en-GB" dirty="0"/>
              <a:t> measures which can be </a:t>
            </a:r>
            <a:r>
              <a:rPr lang="en-GB" b="1" dirty="0"/>
              <a:t>automatically computed </a:t>
            </a:r>
            <a:r>
              <a:rPr lang="en-GB" dirty="0"/>
              <a:t>in a </a:t>
            </a:r>
            <a:r>
              <a:rPr lang="en-GB" b="1" dirty="0"/>
              <a:t>scalable</a:t>
            </a:r>
            <a:r>
              <a:rPr lang="en-GB" dirty="0"/>
              <a:t> way</a:t>
            </a:r>
          </a:p>
        </p:txBody>
      </p:sp>
    </p:spTree>
    <p:extLst>
      <p:ext uri="{BB962C8B-B14F-4D97-AF65-F5344CB8AC3E}">
        <p14:creationId xmlns:p14="http://schemas.microsoft.com/office/powerpoint/2010/main" val="8904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 smtClean="0"/>
              <a:t>Concrete</a:t>
            </a:r>
            <a:r>
              <a:rPr lang="de-AT" dirty="0" smtClean="0"/>
              <a:t> </a:t>
            </a:r>
            <a:r>
              <a:rPr lang="de-AT" dirty="0" err="1" smtClean="0"/>
              <a:t>Metrics</a:t>
            </a:r>
            <a:r>
              <a:rPr lang="de-AT" dirty="0" smtClean="0"/>
              <a:t> (1/2)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sz="2400" b="1" dirty="0" err="1" smtClean="0"/>
              <a:t>Retrievability</a:t>
            </a:r>
            <a:r>
              <a:rPr lang="de-AT" sz="2400" b="1" dirty="0" smtClean="0"/>
              <a:t>:</a:t>
            </a:r>
          </a:p>
          <a:p>
            <a:pPr lvl="1"/>
            <a:r>
              <a:rPr lang="de-AT" dirty="0" smtClean="0"/>
              <a:t>HTTP GET </a:t>
            </a:r>
            <a:r>
              <a:rPr lang="de-AT" dirty="0" err="1" smtClean="0"/>
              <a:t>lookup</a:t>
            </a:r>
            <a:r>
              <a:rPr lang="de-AT" dirty="0" smtClean="0"/>
              <a:t> </a:t>
            </a:r>
            <a:r>
              <a:rPr lang="de-AT" dirty="0" err="1" smtClean="0"/>
              <a:t>for</a:t>
            </a:r>
            <a:r>
              <a:rPr lang="de-AT" dirty="0" smtClean="0"/>
              <a:t> </a:t>
            </a:r>
            <a:r>
              <a:rPr lang="de-AT" dirty="0" err="1" smtClean="0"/>
              <a:t>datasets</a:t>
            </a:r>
            <a:r>
              <a:rPr lang="de-AT" dirty="0" smtClean="0"/>
              <a:t> (API) </a:t>
            </a:r>
            <a:r>
              <a:rPr lang="de-AT" dirty="0" err="1" smtClean="0"/>
              <a:t>and</a:t>
            </a:r>
            <a:r>
              <a:rPr lang="de-AT" dirty="0" smtClean="0"/>
              <a:t> </a:t>
            </a:r>
            <a:r>
              <a:rPr lang="de-AT" dirty="0" err="1" smtClean="0"/>
              <a:t>resources</a:t>
            </a:r>
            <a:endParaRPr lang="de-AT" dirty="0" smtClean="0"/>
          </a:p>
          <a:p>
            <a:pPr lvl="1"/>
            <a:endParaRPr lang="de-AT" dirty="0" smtClean="0"/>
          </a:p>
          <a:p>
            <a:r>
              <a:rPr lang="de-AT" sz="2400" b="1" dirty="0" err="1" smtClean="0"/>
              <a:t>Usage</a:t>
            </a:r>
            <a:r>
              <a:rPr lang="de-AT" sz="2400" b="1" dirty="0" smtClean="0"/>
              <a:t>:</a:t>
            </a:r>
          </a:p>
          <a:p>
            <a:pPr lvl="1"/>
            <a:r>
              <a:rPr lang="de-AT" dirty="0" smtClean="0"/>
              <a:t>Ratio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used</a:t>
            </a:r>
            <a:r>
              <a:rPr lang="de-AT" dirty="0" smtClean="0"/>
              <a:t> </a:t>
            </a:r>
            <a:r>
              <a:rPr lang="de-AT" dirty="0" err="1" smtClean="0"/>
              <a:t>keys</a:t>
            </a:r>
            <a:r>
              <a:rPr lang="de-AT" dirty="0" smtClean="0"/>
              <a:t> </a:t>
            </a:r>
            <a:r>
              <a:rPr lang="de-AT" dirty="0" err="1" smtClean="0"/>
              <a:t>and</a:t>
            </a:r>
            <a:r>
              <a:rPr lang="de-AT" dirty="0" smtClean="0"/>
              <a:t> all </a:t>
            </a:r>
            <a:r>
              <a:rPr lang="de-AT" dirty="0" err="1" smtClean="0"/>
              <a:t>identified</a:t>
            </a:r>
            <a:r>
              <a:rPr lang="de-AT" dirty="0" smtClean="0"/>
              <a:t> </a:t>
            </a:r>
            <a:r>
              <a:rPr lang="de-AT" dirty="0" err="1" smtClean="0"/>
              <a:t>keys</a:t>
            </a:r>
            <a:r>
              <a:rPr lang="de-AT" dirty="0" smtClean="0"/>
              <a:t> (on a </a:t>
            </a:r>
            <a:r>
              <a:rPr lang="de-AT" dirty="0" err="1" smtClean="0"/>
              <a:t>data</a:t>
            </a:r>
            <a:r>
              <a:rPr lang="de-AT" dirty="0" smtClean="0"/>
              <a:t> </a:t>
            </a:r>
            <a:r>
              <a:rPr lang="de-AT" dirty="0" err="1" smtClean="0"/>
              <a:t>portal</a:t>
            </a:r>
            <a:r>
              <a:rPr lang="de-AT" dirty="0" smtClean="0"/>
              <a:t>)</a:t>
            </a:r>
          </a:p>
          <a:p>
            <a:pPr lvl="1"/>
            <a:endParaRPr lang="de-AT" dirty="0" smtClean="0"/>
          </a:p>
          <a:p>
            <a:r>
              <a:rPr lang="de-AT" sz="2400" b="1" dirty="0" err="1" smtClean="0"/>
              <a:t>Completeness</a:t>
            </a:r>
            <a:r>
              <a:rPr lang="de-AT" sz="2400" b="1" dirty="0" smtClean="0"/>
              <a:t>:</a:t>
            </a:r>
          </a:p>
          <a:p>
            <a:pPr lvl="1"/>
            <a:r>
              <a:rPr lang="de-AT" dirty="0" smtClean="0"/>
              <a:t>Ratio </a:t>
            </a:r>
            <a:r>
              <a:rPr lang="de-AT" dirty="0" err="1" smtClean="0"/>
              <a:t>of</a:t>
            </a:r>
            <a:r>
              <a:rPr lang="de-AT" dirty="0" smtClean="0"/>
              <a:t> non-</a:t>
            </a:r>
            <a:r>
              <a:rPr lang="de-AT" dirty="0" err="1" smtClean="0"/>
              <a:t>empty</a:t>
            </a:r>
            <a:r>
              <a:rPr lang="de-AT" dirty="0" smtClean="0"/>
              <a:t> </a:t>
            </a:r>
            <a:r>
              <a:rPr lang="de-AT" dirty="0" err="1" smtClean="0"/>
              <a:t>keys</a:t>
            </a:r>
            <a:r>
              <a:rPr lang="de-AT" dirty="0" smtClean="0"/>
              <a:t> in a </a:t>
            </a:r>
            <a:r>
              <a:rPr lang="de-AT" dirty="0" err="1" smtClean="0"/>
              <a:t>dataset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12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17830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Concrete</a:t>
            </a:r>
            <a:r>
              <a:rPr lang="de-AT" dirty="0" smtClean="0"/>
              <a:t> </a:t>
            </a:r>
            <a:r>
              <a:rPr lang="en-GB" dirty="0" smtClean="0"/>
              <a:t>Metrics</a:t>
            </a:r>
            <a:r>
              <a:rPr lang="de-AT" dirty="0" smtClean="0"/>
              <a:t> (2/2)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sz="2400" b="1" dirty="0" err="1" smtClean="0"/>
              <a:t>Openness</a:t>
            </a:r>
            <a:r>
              <a:rPr lang="de-AT" sz="2400" b="1" dirty="0" smtClean="0"/>
              <a:t>:</a:t>
            </a:r>
          </a:p>
          <a:p>
            <a:pPr lvl="1"/>
            <a:r>
              <a:rPr lang="de-AT" dirty="0" err="1" smtClean="0"/>
              <a:t>Licenses</a:t>
            </a:r>
            <a:r>
              <a:rPr lang="de-AT" dirty="0" smtClean="0"/>
              <a:t>: </a:t>
            </a:r>
            <a:r>
              <a:rPr lang="de-AT" dirty="0" err="1" smtClean="0"/>
              <a:t>map</a:t>
            </a:r>
            <a:r>
              <a:rPr lang="de-AT" dirty="0" smtClean="0"/>
              <a:t> </a:t>
            </a:r>
            <a:r>
              <a:rPr lang="de-AT" dirty="0" err="1" smtClean="0"/>
              <a:t>to</a:t>
            </a:r>
            <a:r>
              <a:rPr lang="de-AT" dirty="0" smtClean="0"/>
              <a:t> </a:t>
            </a:r>
            <a:r>
              <a:rPr lang="de-AT" dirty="0" err="1" smtClean="0"/>
              <a:t>list</a:t>
            </a:r>
            <a:r>
              <a:rPr lang="de-AT" dirty="0" smtClean="0"/>
              <a:t> </a:t>
            </a:r>
            <a:r>
              <a:rPr lang="de-AT" dirty="0" err="1" smtClean="0"/>
              <a:t>by</a:t>
            </a:r>
            <a:r>
              <a:rPr lang="de-AT" dirty="0" smtClean="0"/>
              <a:t> opendefinition.org</a:t>
            </a:r>
          </a:p>
          <a:p>
            <a:pPr lvl="1"/>
            <a:r>
              <a:rPr lang="de-AT" dirty="0" smtClean="0"/>
              <a:t>Formats: </a:t>
            </a:r>
            <a:r>
              <a:rPr lang="de-AT" dirty="0" err="1" smtClean="0"/>
              <a:t>pre-defined</a:t>
            </a:r>
            <a:r>
              <a:rPr lang="de-AT" dirty="0" smtClean="0"/>
              <a:t> </a:t>
            </a:r>
            <a:r>
              <a:rPr lang="de-AT" dirty="0" err="1" smtClean="0"/>
              <a:t>set</a:t>
            </a:r>
            <a:r>
              <a:rPr lang="de-AT" dirty="0" smtClean="0"/>
              <a:t>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file</a:t>
            </a:r>
            <a:r>
              <a:rPr lang="de-AT" dirty="0" smtClean="0"/>
              <a:t> </a:t>
            </a:r>
            <a:r>
              <a:rPr lang="de-AT" dirty="0" err="1" smtClean="0"/>
              <a:t>formats</a:t>
            </a:r>
            <a:r>
              <a:rPr lang="de-AT" dirty="0" smtClean="0"/>
              <a:t>, e.g. CSV, XML, …</a:t>
            </a:r>
          </a:p>
          <a:p>
            <a:pPr lvl="1"/>
            <a:endParaRPr lang="de-AT" dirty="0" smtClean="0"/>
          </a:p>
          <a:p>
            <a:r>
              <a:rPr lang="de-AT" sz="2400" b="1" dirty="0" err="1" smtClean="0"/>
              <a:t>Contactability</a:t>
            </a:r>
            <a:r>
              <a:rPr lang="de-AT" sz="2400" b="1" dirty="0" smtClean="0"/>
              <a:t>:</a:t>
            </a:r>
          </a:p>
          <a:p>
            <a:pPr lvl="1"/>
            <a:r>
              <a:rPr lang="de-AT" dirty="0" err="1" smtClean="0"/>
              <a:t>Availability</a:t>
            </a:r>
            <a:r>
              <a:rPr lang="de-AT" dirty="0" smtClean="0"/>
              <a:t>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contact</a:t>
            </a:r>
            <a:r>
              <a:rPr lang="de-AT" dirty="0" smtClean="0"/>
              <a:t> </a:t>
            </a:r>
            <a:r>
              <a:rPr lang="de-AT" dirty="0" err="1" smtClean="0"/>
              <a:t>information</a:t>
            </a:r>
            <a:r>
              <a:rPr lang="de-AT" dirty="0" smtClean="0"/>
              <a:t>: (i) </a:t>
            </a:r>
            <a:r>
              <a:rPr lang="de-AT" dirty="0" err="1" smtClean="0"/>
              <a:t>text</a:t>
            </a:r>
            <a:r>
              <a:rPr lang="de-AT" dirty="0" smtClean="0"/>
              <a:t>, (ii) </a:t>
            </a:r>
            <a:r>
              <a:rPr lang="de-AT" dirty="0" err="1" smtClean="0"/>
              <a:t>url</a:t>
            </a:r>
            <a:r>
              <a:rPr lang="de-AT" dirty="0" smtClean="0"/>
              <a:t>, (iii) email</a:t>
            </a:r>
          </a:p>
          <a:p>
            <a:pPr lvl="1"/>
            <a:endParaRPr lang="de-AT" dirty="0" smtClean="0"/>
          </a:p>
          <a:p>
            <a:r>
              <a:rPr lang="de-AT" sz="2400" b="1" dirty="0" err="1" smtClean="0"/>
              <a:t>Accuracy</a:t>
            </a:r>
            <a:r>
              <a:rPr lang="de-AT" sz="2400" b="1" dirty="0" smtClean="0"/>
              <a:t>:</a:t>
            </a:r>
          </a:p>
          <a:p>
            <a:pPr lvl="1"/>
            <a:r>
              <a:rPr lang="de-AT" dirty="0" smtClean="0"/>
              <a:t>Formats, </a:t>
            </a:r>
            <a:r>
              <a:rPr lang="de-AT" dirty="0" err="1" smtClean="0"/>
              <a:t>file</a:t>
            </a:r>
            <a:r>
              <a:rPr lang="de-AT" dirty="0" smtClean="0"/>
              <a:t> </a:t>
            </a:r>
            <a:r>
              <a:rPr lang="de-AT" dirty="0" err="1" smtClean="0"/>
              <a:t>size</a:t>
            </a:r>
            <a:r>
              <a:rPr lang="de-AT" dirty="0" smtClean="0"/>
              <a:t>, mime-type</a:t>
            </a:r>
          </a:p>
          <a:p>
            <a:pPr lvl="1"/>
            <a:r>
              <a:rPr lang="de-AT" dirty="0" err="1" smtClean="0"/>
              <a:t>Currently</a:t>
            </a:r>
            <a:r>
              <a:rPr lang="de-AT" dirty="0" smtClean="0"/>
              <a:t> </a:t>
            </a:r>
            <a:r>
              <a:rPr lang="de-AT" dirty="0" err="1" smtClean="0"/>
              <a:t>based</a:t>
            </a:r>
            <a:r>
              <a:rPr lang="de-AT" dirty="0" smtClean="0"/>
              <a:t> on </a:t>
            </a:r>
            <a:r>
              <a:rPr lang="de-AT" dirty="0" err="1" smtClean="0"/>
              <a:t>respective</a:t>
            </a:r>
            <a:r>
              <a:rPr lang="de-AT" dirty="0" smtClean="0"/>
              <a:t> HTTP </a:t>
            </a:r>
            <a:r>
              <a:rPr lang="de-AT" dirty="0" err="1" smtClean="0"/>
              <a:t>response</a:t>
            </a:r>
            <a:r>
              <a:rPr lang="de-AT" dirty="0" smtClean="0"/>
              <a:t> </a:t>
            </a:r>
            <a:r>
              <a:rPr lang="de-AT" dirty="0" err="1" smtClean="0"/>
              <a:t>header</a:t>
            </a:r>
            <a:r>
              <a:rPr lang="de-AT" dirty="0" smtClean="0"/>
              <a:t> </a:t>
            </a:r>
            <a:r>
              <a:rPr lang="de-AT" dirty="0" err="1" smtClean="0"/>
              <a:t>fields</a:t>
            </a:r>
            <a:r>
              <a:rPr lang="de-AT" dirty="0" smtClean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13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24728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 smtClean="0"/>
              <a:t>Automated</a:t>
            </a:r>
            <a:r>
              <a:rPr lang="de-AT" dirty="0" smtClean="0"/>
              <a:t> QA Framework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14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62231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141"/>
          <p:cNvSpPr/>
          <p:nvPr/>
        </p:nvSpPr>
        <p:spPr>
          <a:xfrm flipH="1">
            <a:off x="1410340" y="2848671"/>
            <a:ext cx="494745" cy="4513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 w="25400">
            <a:solidFill>
              <a:srgbClr val="5684A3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lvl="0"/>
            <a:endParaRPr sz="1350"/>
          </a:p>
        </p:txBody>
      </p:sp>
      <p:sp>
        <p:nvSpPr>
          <p:cNvPr id="62" name="Shape 141"/>
          <p:cNvSpPr/>
          <p:nvPr/>
        </p:nvSpPr>
        <p:spPr>
          <a:xfrm>
            <a:off x="2487270" y="2848671"/>
            <a:ext cx="388287" cy="4513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 w="25400">
            <a:solidFill>
              <a:srgbClr val="5684A3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lvl="0"/>
            <a:endParaRPr sz="1350"/>
          </a:p>
        </p:txBody>
      </p:sp>
      <p:grpSp>
        <p:nvGrpSpPr>
          <p:cNvPr id="104" name="Group 104"/>
          <p:cNvGrpSpPr/>
          <p:nvPr/>
        </p:nvGrpSpPr>
        <p:grpSpPr>
          <a:xfrm>
            <a:off x="901567" y="2338163"/>
            <a:ext cx="651204" cy="389135"/>
            <a:chOff x="-1" y="-1"/>
            <a:chExt cx="1008114" cy="576066"/>
          </a:xfrm>
        </p:grpSpPr>
        <p:sp>
          <p:nvSpPr>
            <p:cNvPr id="102" name="Shape 102"/>
            <p:cNvSpPr/>
            <p:nvPr/>
          </p:nvSpPr>
          <p:spPr>
            <a:xfrm>
              <a:off x="-1" y="-1"/>
              <a:ext cx="1008114" cy="576066"/>
            </a:xfrm>
            <a:prstGeom prst="rect">
              <a:avLst/>
            </a:prstGeom>
            <a:solidFill>
              <a:srgbClr val="758D5E"/>
            </a:solidFill>
            <a:ln w="12700" cap="flat">
              <a:solidFill>
                <a:srgbClr val="BAC6AF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solidFill>
                    <a:srgbClr val="FFFFFF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pPr>
              <a:endParaRPr sz="1200"/>
            </a:p>
          </p:txBody>
        </p:sp>
        <p:sp>
          <p:nvSpPr>
            <p:cNvPr id="103" name="Shape 103"/>
            <p:cNvSpPr/>
            <p:nvPr/>
          </p:nvSpPr>
          <p:spPr>
            <a:xfrm>
              <a:off x="-1" y="149533"/>
              <a:ext cx="1008114" cy="276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350"/>
                <a:t>CKAN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957441" y="2418469"/>
            <a:ext cx="651204" cy="389135"/>
            <a:chOff x="-1" y="-1"/>
            <a:chExt cx="1008114" cy="576066"/>
          </a:xfrm>
        </p:grpSpPr>
        <p:sp>
          <p:nvSpPr>
            <p:cNvPr id="105" name="Shape 105"/>
            <p:cNvSpPr/>
            <p:nvPr/>
          </p:nvSpPr>
          <p:spPr>
            <a:xfrm>
              <a:off x="-1" y="-1"/>
              <a:ext cx="1008114" cy="576066"/>
            </a:xfrm>
            <a:prstGeom prst="rect">
              <a:avLst/>
            </a:prstGeom>
            <a:solidFill>
              <a:srgbClr val="758D5E"/>
            </a:solidFill>
            <a:ln w="12700" cap="flat">
              <a:solidFill>
                <a:srgbClr val="BAC6AF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solidFill>
                    <a:srgbClr val="FFFFFF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pPr>
              <a:endParaRPr sz="1200"/>
            </a:p>
          </p:txBody>
        </p:sp>
        <p:sp>
          <p:nvSpPr>
            <p:cNvPr id="106" name="Shape 106"/>
            <p:cNvSpPr/>
            <p:nvPr/>
          </p:nvSpPr>
          <p:spPr>
            <a:xfrm>
              <a:off x="-1" y="149533"/>
              <a:ext cx="1008114" cy="276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350"/>
                <a:t>CKAN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040252" y="2519845"/>
            <a:ext cx="651205" cy="389135"/>
            <a:chOff x="-1" y="-1"/>
            <a:chExt cx="1008114" cy="576066"/>
          </a:xfrm>
        </p:grpSpPr>
        <p:sp>
          <p:nvSpPr>
            <p:cNvPr id="108" name="Shape 108"/>
            <p:cNvSpPr/>
            <p:nvPr/>
          </p:nvSpPr>
          <p:spPr>
            <a:xfrm>
              <a:off x="-1" y="-1"/>
              <a:ext cx="1008114" cy="576066"/>
            </a:xfrm>
            <a:prstGeom prst="rect">
              <a:avLst/>
            </a:prstGeom>
            <a:solidFill>
              <a:srgbClr val="758D5E"/>
            </a:solidFill>
            <a:ln w="12700" cap="flat">
              <a:solidFill>
                <a:srgbClr val="BAC6AF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solidFill>
                    <a:srgbClr val="FFFFFF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pPr>
              <a:endParaRPr sz="1200"/>
            </a:p>
          </p:txBody>
        </p:sp>
        <p:sp>
          <p:nvSpPr>
            <p:cNvPr id="109" name="Shape 109"/>
            <p:cNvSpPr/>
            <p:nvPr/>
          </p:nvSpPr>
          <p:spPr>
            <a:xfrm>
              <a:off x="-1" y="149533"/>
              <a:ext cx="1008114" cy="276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350"/>
                <a:t>CKAN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1601358" y="3310475"/>
            <a:ext cx="1080123" cy="594068"/>
            <a:chOff x="-1" y="0"/>
            <a:chExt cx="1440162" cy="792088"/>
          </a:xfrm>
        </p:grpSpPr>
        <p:sp>
          <p:nvSpPr>
            <p:cNvPr id="111" name="Shape 111"/>
            <p:cNvSpPr/>
            <p:nvPr/>
          </p:nvSpPr>
          <p:spPr>
            <a:xfrm>
              <a:off x="-1" y="0"/>
              <a:ext cx="1440162" cy="792088"/>
            </a:xfrm>
            <a:prstGeom prst="rect">
              <a:avLst/>
            </a:prstGeom>
            <a:solidFill>
              <a:srgbClr val="5684A3"/>
            </a:solidFill>
            <a:ln w="9525" cap="flat">
              <a:solidFill>
                <a:srgbClr val="0093CE"/>
              </a:solidFill>
              <a:prstDash val="solid"/>
              <a:bevel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FFFF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pPr>
              <a:endParaRPr sz="1350"/>
            </a:p>
          </p:txBody>
        </p:sp>
        <p:sp>
          <p:nvSpPr>
            <p:cNvPr id="112" name="Shape 112"/>
            <p:cNvSpPr/>
            <p:nvPr/>
          </p:nvSpPr>
          <p:spPr>
            <a:xfrm>
              <a:off x="-1" y="119046"/>
              <a:ext cx="1440162" cy="5539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lvl1pPr>
            </a:lstStyle>
            <a:p>
              <a:pPr lvl="0">
                <a:defRPr>
                  <a:solidFill>
                    <a:srgbClr val="000000"/>
                  </a:solidFill>
                </a:defRPr>
              </a:pPr>
              <a:r>
                <a:rPr sz="1350"/>
                <a:t>Meta data harvester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5497544" y="4066559"/>
            <a:ext cx="1080122" cy="594068"/>
            <a:chOff x="-1" y="0"/>
            <a:chExt cx="1440162" cy="792088"/>
          </a:xfrm>
        </p:grpSpPr>
        <p:sp>
          <p:nvSpPr>
            <p:cNvPr id="114" name="Shape 114"/>
            <p:cNvSpPr/>
            <p:nvPr/>
          </p:nvSpPr>
          <p:spPr>
            <a:xfrm>
              <a:off x="-1" y="0"/>
              <a:ext cx="1440162" cy="792088"/>
            </a:xfrm>
            <a:prstGeom prst="rect">
              <a:avLst/>
            </a:prstGeom>
            <a:solidFill>
              <a:srgbClr val="994641"/>
            </a:solidFill>
            <a:ln w="9525" cap="flat">
              <a:solidFill>
                <a:srgbClr val="CCA3A0"/>
              </a:solidFill>
              <a:prstDash val="solid"/>
              <a:bevel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FFFF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pPr>
              <a:endParaRPr sz="1350"/>
            </a:p>
          </p:txBody>
        </p:sp>
        <p:sp>
          <p:nvSpPr>
            <p:cNvPr id="115" name="Shape 115"/>
            <p:cNvSpPr/>
            <p:nvPr/>
          </p:nvSpPr>
          <p:spPr>
            <a:xfrm>
              <a:off x="-1" y="119046"/>
              <a:ext cx="1440162" cy="5539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lvl="0" algn="ctr"/>
              <a:r>
                <a:rPr sz="1350">
                  <a:solidFill>
                    <a:srgbClr val="FFFFFF"/>
                  </a:solidFill>
                  <a:latin typeface="Avenir Next"/>
                  <a:ea typeface="Avenir Next"/>
                  <a:cs typeface="Avenir Next"/>
                  <a:sym typeface="Avenir Next"/>
                </a:rPr>
                <a:t>Quality </a:t>
              </a:r>
              <a:endParaRPr sz="1350">
                <a:solidFill>
                  <a:srgbClr val="FFFFFF"/>
                </a:solidFill>
              </a:endParaRPr>
            </a:p>
            <a:p>
              <a:pPr lvl="0" algn="ctr"/>
              <a:r>
                <a:rPr sz="1350">
                  <a:solidFill>
                    <a:srgbClr val="FFFFFF"/>
                  </a:solidFill>
                  <a:latin typeface="Avenir Next"/>
                  <a:ea typeface="Avenir Next"/>
                  <a:cs typeface="Avenir Next"/>
                  <a:sym typeface="Avenir Next"/>
                </a:rPr>
                <a:t>Assessment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2419200" y="4444601"/>
            <a:ext cx="1188134" cy="540062"/>
            <a:chOff x="0" y="3179"/>
            <a:chExt cx="1584176" cy="720082"/>
          </a:xfrm>
        </p:grpSpPr>
        <p:sp>
          <p:nvSpPr>
            <p:cNvPr id="117" name="Shape 117"/>
            <p:cNvSpPr/>
            <p:nvPr/>
          </p:nvSpPr>
          <p:spPr>
            <a:xfrm>
              <a:off x="0" y="3179"/>
              <a:ext cx="1584176" cy="720082"/>
            </a:xfrm>
            <a:prstGeom prst="rect">
              <a:avLst/>
            </a:prstGeom>
            <a:solidFill>
              <a:srgbClr val="5684A3"/>
            </a:solidFill>
            <a:ln w="9525" cap="flat">
              <a:solidFill>
                <a:srgbClr val="0093CE"/>
              </a:solidFill>
              <a:prstDash val="solid"/>
              <a:bevel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FFFF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pPr>
              <a:endParaRPr sz="1350"/>
            </a:p>
          </p:txBody>
        </p:sp>
        <p:sp>
          <p:nvSpPr>
            <p:cNvPr id="118" name="Shape 118"/>
            <p:cNvSpPr/>
            <p:nvPr/>
          </p:nvSpPr>
          <p:spPr>
            <a:xfrm>
              <a:off x="0" y="86222"/>
              <a:ext cx="1584176" cy="55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lvl1pPr>
            </a:lstStyle>
            <a:p>
              <a:pPr lvl="0">
                <a:defRPr>
                  <a:solidFill>
                    <a:srgbClr val="000000"/>
                  </a:solidFill>
                </a:defRPr>
              </a:pPr>
              <a:r>
                <a:rPr sz="1350"/>
                <a:t>Resource harvester</a:t>
              </a:r>
            </a:p>
          </p:txBody>
        </p:sp>
      </p:grpSp>
      <p:sp>
        <p:nvSpPr>
          <p:cNvPr id="141" name="Shape 141"/>
          <p:cNvSpPr/>
          <p:nvPr/>
        </p:nvSpPr>
        <p:spPr>
          <a:xfrm>
            <a:off x="2143752" y="2829036"/>
            <a:ext cx="3709" cy="47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ln w="25400">
            <a:solidFill>
              <a:srgbClr val="5684A3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lvl="0"/>
            <a:endParaRPr sz="1350"/>
          </a:p>
        </p:txBody>
      </p:sp>
      <p:sp>
        <p:nvSpPr>
          <p:cNvPr id="142" name="Shape 142"/>
          <p:cNvSpPr/>
          <p:nvPr/>
        </p:nvSpPr>
        <p:spPr>
          <a:xfrm>
            <a:off x="2685126" y="3597239"/>
            <a:ext cx="1134661" cy="69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200" y="14400"/>
                  <a:pt x="14400" y="7200"/>
                  <a:pt x="21600" y="0"/>
                </a:cubicBezTo>
              </a:path>
            </a:pathLst>
          </a:custGeom>
          <a:ln w="25400">
            <a:solidFill>
              <a:srgbClr val="5684A3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lvl="0"/>
            <a:endParaRPr sz="1350"/>
          </a:p>
        </p:txBody>
      </p:sp>
      <p:sp>
        <p:nvSpPr>
          <p:cNvPr id="143" name="Shape 143"/>
          <p:cNvSpPr/>
          <p:nvPr/>
        </p:nvSpPr>
        <p:spPr>
          <a:xfrm>
            <a:off x="2140948" y="3907886"/>
            <a:ext cx="274320" cy="8058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5684A3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lvl="0"/>
            <a:endParaRPr sz="1350"/>
          </a:p>
        </p:txBody>
      </p:sp>
      <p:sp>
        <p:nvSpPr>
          <p:cNvPr id="144" name="Shape 144"/>
          <p:cNvSpPr/>
          <p:nvPr/>
        </p:nvSpPr>
        <p:spPr>
          <a:xfrm>
            <a:off x="3610655" y="3975513"/>
            <a:ext cx="671513" cy="738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5684A3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lvl="0"/>
            <a:endParaRPr sz="1350"/>
          </a:p>
        </p:txBody>
      </p:sp>
      <p:sp>
        <p:nvSpPr>
          <p:cNvPr id="124" name="Shape 124"/>
          <p:cNvSpPr/>
          <p:nvPr/>
        </p:nvSpPr>
        <p:spPr>
          <a:xfrm>
            <a:off x="3877363" y="3850536"/>
            <a:ext cx="1620181" cy="5130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8260" y="0"/>
                </a:lnTo>
                <a:lnTo>
                  <a:pt x="826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994641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 sz="1350"/>
          </a:p>
        </p:txBody>
      </p:sp>
      <p:sp>
        <p:nvSpPr>
          <p:cNvPr id="145" name="Shape 145"/>
          <p:cNvSpPr/>
          <p:nvPr/>
        </p:nvSpPr>
        <p:spPr>
          <a:xfrm>
            <a:off x="4744131" y="3593561"/>
            <a:ext cx="1292543" cy="4686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</a:path>
            </a:pathLst>
          </a:custGeom>
          <a:ln w="25400">
            <a:solidFill>
              <a:srgbClr val="994641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lvl="0"/>
            <a:endParaRPr sz="1350"/>
          </a:p>
        </p:txBody>
      </p:sp>
      <p:grpSp>
        <p:nvGrpSpPr>
          <p:cNvPr id="130" name="Group 130"/>
          <p:cNvGrpSpPr/>
          <p:nvPr/>
        </p:nvGrpSpPr>
        <p:grpSpPr>
          <a:xfrm>
            <a:off x="3823357" y="3216366"/>
            <a:ext cx="918104" cy="756086"/>
            <a:chOff x="-1" y="-1"/>
            <a:chExt cx="1224138" cy="1008114"/>
          </a:xfrm>
        </p:grpSpPr>
        <p:sp>
          <p:nvSpPr>
            <p:cNvPr id="126" name="Shape 126"/>
            <p:cNvSpPr/>
            <p:nvPr/>
          </p:nvSpPr>
          <p:spPr>
            <a:xfrm>
              <a:off x="-1" y="-1"/>
              <a:ext cx="1224138" cy="10081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700"/>
                  </a:moveTo>
                  <a:cubicBezTo>
                    <a:pt x="0" y="1209"/>
                    <a:pt x="4835" y="0"/>
                    <a:pt x="10800" y="0"/>
                  </a:cubicBezTo>
                  <a:cubicBezTo>
                    <a:pt x="16765" y="0"/>
                    <a:pt x="21600" y="1209"/>
                    <a:pt x="21600" y="2700"/>
                  </a:cubicBezTo>
                  <a:lnTo>
                    <a:pt x="21600" y="18900"/>
                  </a:lnTo>
                  <a:cubicBezTo>
                    <a:pt x="21600" y="20391"/>
                    <a:pt x="16765" y="21600"/>
                    <a:pt x="10800" y="21600"/>
                  </a:cubicBezTo>
                  <a:cubicBezTo>
                    <a:pt x="4835" y="21600"/>
                    <a:pt x="0" y="20391"/>
                    <a:pt x="0" y="1890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262626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pPr>
              <a:endParaRPr sz="1350"/>
            </a:p>
          </p:txBody>
        </p:sp>
        <p:sp>
          <p:nvSpPr>
            <p:cNvPr id="127" name="Shape 127"/>
            <p:cNvSpPr/>
            <p:nvPr/>
          </p:nvSpPr>
          <p:spPr>
            <a:xfrm>
              <a:off x="-1" y="-1"/>
              <a:ext cx="1224138" cy="2520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262626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pPr>
              <a:endParaRPr sz="1350"/>
            </a:p>
          </p:txBody>
        </p:sp>
        <p:sp>
          <p:nvSpPr>
            <p:cNvPr id="128" name="Shape 128"/>
            <p:cNvSpPr/>
            <p:nvPr/>
          </p:nvSpPr>
          <p:spPr>
            <a:xfrm>
              <a:off x="-1" y="-1"/>
              <a:ext cx="1224138" cy="10081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700"/>
                  </a:moveTo>
                  <a:cubicBezTo>
                    <a:pt x="21600" y="4191"/>
                    <a:pt x="16765" y="5400"/>
                    <a:pt x="10800" y="5400"/>
                  </a:cubicBezTo>
                  <a:cubicBezTo>
                    <a:pt x="4835" y="5400"/>
                    <a:pt x="0" y="4191"/>
                    <a:pt x="0" y="2700"/>
                  </a:cubicBezTo>
                  <a:cubicBezTo>
                    <a:pt x="0" y="1209"/>
                    <a:pt x="4835" y="0"/>
                    <a:pt x="10800" y="0"/>
                  </a:cubicBezTo>
                  <a:cubicBezTo>
                    <a:pt x="16765" y="0"/>
                    <a:pt x="21600" y="1209"/>
                    <a:pt x="21600" y="2700"/>
                  </a:cubicBezTo>
                  <a:lnTo>
                    <a:pt x="21600" y="18900"/>
                  </a:lnTo>
                  <a:cubicBezTo>
                    <a:pt x="21600" y="20391"/>
                    <a:pt x="16765" y="21600"/>
                    <a:pt x="10800" y="21600"/>
                  </a:cubicBezTo>
                  <a:cubicBezTo>
                    <a:pt x="4835" y="21600"/>
                    <a:pt x="0" y="20391"/>
                    <a:pt x="0" y="18900"/>
                  </a:cubicBezTo>
                  <a:lnTo>
                    <a:pt x="0" y="2700"/>
                  </a:lnTo>
                </a:path>
              </a:pathLst>
            </a:custGeom>
            <a:noFill/>
            <a:ln w="9525" cap="flat">
              <a:solidFill>
                <a:srgbClr val="262626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262626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pPr>
              <a:endParaRPr sz="1350"/>
            </a:p>
          </p:txBody>
        </p:sp>
        <p:sp>
          <p:nvSpPr>
            <p:cNvPr id="129" name="Shape 129"/>
            <p:cNvSpPr/>
            <p:nvPr/>
          </p:nvSpPr>
          <p:spPr>
            <a:xfrm>
              <a:off x="-1" y="428565"/>
              <a:ext cx="1224138" cy="276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>
                  <a:solidFill>
                    <a:srgbClr val="262626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lvl1pPr>
            </a:lstStyle>
            <a:p>
              <a:pPr lvl="0">
                <a:defRPr>
                  <a:solidFill>
                    <a:srgbClr val="000000"/>
                  </a:solidFill>
                </a:defRPr>
              </a:pPr>
              <a:r>
                <a:rPr sz="1350"/>
                <a:t>MongoDB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4104191" y="2294432"/>
            <a:ext cx="1080122" cy="594068"/>
            <a:chOff x="-1" y="0"/>
            <a:chExt cx="1440162" cy="792088"/>
          </a:xfrm>
        </p:grpSpPr>
        <p:sp>
          <p:nvSpPr>
            <p:cNvPr id="131" name="Shape 131"/>
            <p:cNvSpPr/>
            <p:nvPr/>
          </p:nvSpPr>
          <p:spPr>
            <a:xfrm>
              <a:off x="-1" y="0"/>
              <a:ext cx="1440162" cy="792088"/>
            </a:xfrm>
            <a:prstGeom prst="rect">
              <a:avLst/>
            </a:prstGeom>
            <a:solidFill>
              <a:srgbClr val="F2F2F2"/>
            </a:solidFill>
            <a:ln w="9525" cap="flat">
              <a:solidFill>
                <a:srgbClr val="D2D2D2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FFFF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pPr>
              <a:endParaRPr sz="1350"/>
            </a:p>
          </p:txBody>
        </p:sp>
        <p:sp>
          <p:nvSpPr>
            <p:cNvPr id="132" name="Shape 132"/>
            <p:cNvSpPr/>
            <p:nvPr/>
          </p:nvSpPr>
          <p:spPr>
            <a:xfrm>
              <a:off x="-1" y="119046"/>
              <a:ext cx="1440162" cy="5539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lvl="0" algn="ctr"/>
              <a:r>
                <a:rPr sz="1350">
                  <a:latin typeface="Avenir Next"/>
                  <a:ea typeface="Avenir Next"/>
                  <a:cs typeface="Avenir Next"/>
                  <a:sym typeface="Avenir Next"/>
                </a:rPr>
                <a:t>Dashboard</a:t>
              </a:r>
              <a:endParaRPr sz="1350">
                <a:solidFill>
                  <a:srgbClr val="FFFFFF"/>
                </a:solidFill>
              </a:endParaRPr>
            </a:p>
            <a:p>
              <a:pPr lvl="0" algn="ctr"/>
              <a:r>
                <a:rPr sz="1350" i="1">
                  <a:latin typeface="Avenir Next"/>
                  <a:ea typeface="Avenir Next"/>
                  <a:cs typeface="Avenir Next"/>
                  <a:sym typeface="Avenir Next"/>
                </a:rPr>
                <a:t>(nodejs)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5346330" y="2294432"/>
            <a:ext cx="1080122" cy="594068"/>
            <a:chOff x="-1" y="0"/>
            <a:chExt cx="1440162" cy="792088"/>
          </a:xfrm>
        </p:grpSpPr>
        <p:sp>
          <p:nvSpPr>
            <p:cNvPr id="134" name="Shape 134"/>
            <p:cNvSpPr/>
            <p:nvPr/>
          </p:nvSpPr>
          <p:spPr>
            <a:xfrm>
              <a:off x="-1" y="0"/>
              <a:ext cx="1440162" cy="792088"/>
            </a:xfrm>
            <a:prstGeom prst="rect">
              <a:avLst/>
            </a:prstGeom>
            <a:solidFill>
              <a:srgbClr val="F2F2F2"/>
            </a:solidFill>
            <a:ln w="9525" cap="flat">
              <a:solidFill>
                <a:srgbClr val="D2D2D2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FFFF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pPr>
              <a:endParaRPr sz="1350"/>
            </a:p>
          </p:txBody>
        </p:sp>
        <p:sp>
          <p:nvSpPr>
            <p:cNvPr id="135" name="Shape 135"/>
            <p:cNvSpPr/>
            <p:nvPr/>
          </p:nvSpPr>
          <p:spPr>
            <a:xfrm>
              <a:off x="-1" y="257544"/>
              <a:ext cx="1440162" cy="276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>
                  <a:latin typeface="Avenir Next"/>
                  <a:ea typeface="Avenir Next"/>
                  <a:cs typeface="Avenir Next"/>
                  <a:sym typeface="Avenir Next"/>
                </a:defRPr>
              </a:lvl1pPr>
            </a:lstStyle>
            <a:p>
              <a:pPr lvl="0"/>
              <a:r>
                <a:rPr sz="1350"/>
                <a:t>Reporting</a:t>
              </a: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6534462" y="2294432"/>
            <a:ext cx="1080122" cy="594068"/>
            <a:chOff x="-1" y="0"/>
            <a:chExt cx="1440162" cy="792088"/>
          </a:xfrm>
        </p:grpSpPr>
        <p:sp>
          <p:nvSpPr>
            <p:cNvPr id="137" name="Shape 137"/>
            <p:cNvSpPr/>
            <p:nvPr/>
          </p:nvSpPr>
          <p:spPr>
            <a:xfrm>
              <a:off x="-1" y="0"/>
              <a:ext cx="1440162" cy="792088"/>
            </a:xfrm>
            <a:prstGeom prst="rect">
              <a:avLst/>
            </a:prstGeom>
            <a:solidFill>
              <a:srgbClr val="F2F2F2"/>
            </a:solidFill>
            <a:ln w="9525" cap="flat">
              <a:solidFill>
                <a:srgbClr val="D2D2D2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FFFF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pPr>
              <a:endParaRPr sz="1350"/>
            </a:p>
          </p:txBody>
        </p:sp>
        <p:sp>
          <p:nvSpPr>
            <p:cNvPr id="138" name="Shape 138"/>
            <p:cNvSpPr/>
            <p:nvPr/>
          </p:nvSpPr>
          <p:spPr>
            <a:xfrm>
              <a:off x="-1" y="119046"/>
              <a:ext cx="1440162" cy="5539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lvl="0" algn="ctr"/>
              <a:r>
                <a:rPr sz="1350">
                  <a:latin typeface="Avenir Next"/>
                  <a:ea typeface="Avenir Next"/>
                  <a:cs typeface="Avenir Next"/>
                  <a:sym typeface="Avenir Next"/>
                </a:rPr>
                <a:t>Dumps</a:t>
              </a:r>
              <a:br>
                <a:rPr sz="1350">
                  <a:latin typeface="Avenir Next"/>
                  <a:ea typeface="Avenir Next"/>
                  <a:cs typeface="Avenir Next"/>
                  <a:sym typeface="Avenir Next"/>
                </a:rPr>
              </a:br>
              <a:r>
                <a:rPr sz="1350" i="1">
                  <a:latin typeface="Avenir Next"/>
                  <a:ea typeface="Avenir Next"/>
                  <a:cs typeface="Avenir Next"/>
                  <a:sym typeface="Avenir Next"/>
                </a:rPr>
                <a:t>(json)</a:t>
              </a:r>
            </a:p>
          </p:txBody>
        </p:sp>
      </p:grpSp>
      <p:sp>
        <p:nvSpPr>
          <p:cNvPr id="140" name="Shape 140"/>
          <p:cNvSpPr/>
          <p:nvPr/>
        </p:nvSpPr>
        <p:spPr>
          <a:xfrm>
            <a:off x="2527213" y="4984660"/>
            <a:ext cx="1047144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4289" rIns="34289">
            <a:spAutoFit/>
          </a:bodyPr>
          <a:lstStyle>
            <a:lvl1pPr>
              <a:defRPr>
                <a:latin typeface="Source Code Pro"/>
                <a:ea typeface="Source Code Pro"/>
                <a:cs typeface="Source Code Pro"/>
                <a:sym typeface="Source Code Pro"/>
              </a:defRPr>
            </a:lvl1pPr>
          </a:lstStyle>
          <a:p>
            <a:pPr lvl="0"/>
            <a:r>
              <a:rPr sz="1350" dirty="0"/>
              <a:t>HTTP </a:t>
            </a:r>
            <a:r>
              <a:rPr lang="de-AT" sz="1350" dirty="0" smtClean="0"/>
              <a:t>HEAD</a:t>
            </a:r>
            <a:endParaRPr sz="135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 smtClean="0"/>
              <a:t>Architecture</a:t>
            </a:r>
            <a:endParaRPr lang="de-AT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15</a:t>
            </a:fld>
            <a:endParaRPr lang="de-AT"/>
          </a:p>
        </p:txBody>
      </p:sp>
      <p:grpSp>
        <p:nvGrpSpPr>
          <p:cNvPr id="43" name="Group 104"/>
          <p:cNvGrpSpPr/>
          <p:nvPr/>
        </p:nvGrpSpPr>
        <p:grpSpPr>
          <a:xfrm>
            <a:off x="1726026" y="2327770"/>
            <a:ext cx="731805" cy="409849"/>
            <a:chOff x="-1" y="-1"/>
            <a:chExt cx="1008114" cy="576066"/>
          </a:xfrm>
          <a:solidFill>
            <a:srgbClr val="758D5E"/>
          </a:solidFill>
        </p:grpSpPr>
        <p:sp>
          <p:nvSpPr>
            <p:cNvPr id="44" name="Shape 102"/>
            <p:cNvSpPr/>
            <p:nvPr/>
          </p:nvSpPr>
          <p:spPr>
            <a:xfrm>
              <a:off x="-1" y="-1"/>
              <a:ext cx="1008114" cy="576066"/>
            </a:xfrm>
            <a:prstGeom prst="rect">
              <a:avLst/>
            </a:prstGeom>
            <a:grpFill/>
            <a:ln w="12700" cap="flat">
              <a:solidFill>
                <a:srgbClr val="BAC6AF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solidFill>
                    <a:srgbClr val="FFFFFF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pPr>
              <a:endParaRPr sz="1200"/>
            </a:p>
          </p:txBody>
        </p:sp>
        <p:sp>
          <p:nvSpPr>
            <p:cNvPr id="45" name="Shape 103"/>
            <p:cNvSpPr/>
            <p:nvPr/>
          </p:nvSpPr>
          <p:spPr>
            <a:xfrm>
              <a:off x="-1" y="149533"/>
              <a:ext cx="1008114" cy="276998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350"/>
                <a:t>CKAN</a:t>
              </a:r>
            </a:p>
          </p:txBody>
        </p:sp>
      </p:grpSp>
      <p:grpSp>
        <p:nvGrpSpPr>
          <p:cNvPr id="46" name="Group 107"/>
          <p:cNvGrpSpPr/>
          <p:nvPr/>
        </p:nvGrpSpPr>
        <p:grpSpPr>
          <a:xfrm>
            <a:off x="1807035" y="2406888"/>
            <a:ext cx="731805" cy="409849"/>
            <a:chOff x="-1" y="-1"/>
            <a:chExt cx="1008114" cy="576066"/>
          </a:xfrm>
          <a:solidFill>
            <a:srgbClr val="758D5E"/>
          </a:solidFill>
        </p:grpSpPr>
        <p:sp>
          <p:nvSpPr>
            <p:cNvPr id="47" name="Shape 105"/>
            <p:cNvSpPr/>
            <p:nvPr/>
          </p:nvSpPr>
          <p:spPr>
            <a:xfrm>
              <a:off x="-1" y="-1"/>
              <a:ext cx="1008114" cy="576066"/>
            </a:xfrm>
            <a:prstGeom prst="rect">
              <a:avLst/>
            </a:prstGeom>
            <a:grpFill/>
            <a:ln w="12700" cap="flat">
              <a:solidFill>
                <a:srgbClr val="BAC6AF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solidFill>
                    <a:srgbClr val="FFFFFF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pPr>
              <a:endParaRPr sz="1200"/>
            </a:p>
          </p:txBody>
        </p:sp>
        <p:sp>
          <p:nvSpPr>
            <p:cNvPr id="48" name="Shape 106"/>
            <p:cNvSpPr/>
            <p:nvPr/>
          </p:nvSpPr>
          <p:spPr>
            <a:xfrm>
              <a:off x="-1" y="149533"/>
              <a:ext cx="1008114" cy="276998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350"/>
                <a:t>CKAN</a:t>
              </a:r>
            </a:p>
          </p:txBody>
        </p:sp>
      </p:grpSp>
      <p:grpSp>
        <p:nvGrpSpPr>
          <p:cNvPr id="49" name="Group 110"/>
          <p:cNvGrpSpPr/>
          <p:nvPr/>
        </p:nvGrpSpPr>
        <p:grpSpPr>
          <a:xfrm>
            <a:off x="1889846" y="2513435"/>
            <a:ext cx="731806" cy="409849"/>
            <a:chOff x="-1" y="-1"/>
            <a:chExt cx="1008114" cy="576066"/>
          </a:xfrm>
          <a:solidFill>
            <a:srgbClr val="758D5E"/>
          </a:solidFill>
        </p:grpSpPr>
        <p:sp>
          <p:nvSpPr>
            <p:cNvPr id="50" name="Shape 108"/>
            <p:cNvSpPr/>
            <p:nvPr/>
          </p:nvSpPr>
          <p:spPr>
            <a:xfrm>
              <a:off x="-1" y="-1"/>
              <a:ext cx="1008114" cy="576066"/>
            </a:xfrm>
            <a:prstGeom prst="rect">
              <a:avLst/>
            </a:prstGeom>
            <a:grpFill/>
            <a:ln w="12700" cap="flat">
              <a:solidFill>
                <a:srgbClr val="BAC6AF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solidFill>
                    <a:srgbClr val="FFFFFF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pPr>
              <a:endParaRPr sz="1200"/>
            </a:p>
          </p:txBody>
        </p:sp>
        <p:sp>
          <p:nvSpPr>
            <p:cNvPr id="51" name="Shape 109"/>
            <p:cNvSpPr/>
            <p:nvPr/>
          </p:nvSpPr>
          <p:spPr>
            <a:xfrm>
              <a:off x="-1" y="149533"/>
              <a:ext cx="1008114" cy="276998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de-AT" sz="1350" dirty="0" err="1" smtClean="0"/>
                <a:t>Socrata</a:t>
              </a:r>
              <a:endParaRPr sz="1350" dirty="0"/>
            </a:p>
          </p:txBody>
        </p:sp>
      </p:grpSp>
      <p:sp>
        <p:nvSpPr>
          <p:cNvPr id="53" name="Shape 102"/>
          <p:cNvSpPr/>
          <p:nvPr/>
        </p:nvSpPr>
        <p:spPr>
          <a:xfrm>
            <a:off x="2684426" y="2406986"/>
            <a:ext cx="777794" cy="449300"/>
          </a:xfrm>
          <a:prstGeom prst="rect">
            <a:avLst/>
          </a:prstGeom>
          <a:solidFill>
            <a:srgbClr val="758D5E"/>
          </a:solidFill>
          <a:ln w="12700" cap="flat">
            <a:solidFill>
              <a:srgbClr val="BAC6AF"/>
            </a:solidFill>
            <a:prstDash val="solid"/>
            <a:bevel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 algn="ctr">
              <a:defRPr sz="1600"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pPr>
            <a:endParaRPr sz="1200"/>
          </a:p>
        </p:txBody>
      </p:sp>
      <p:grpSp>
        <p:nvGrpSpPr>
          <p:cNvPr id="55" name="Group 107"/>
          <p:cNvGrpSpPr/>
          <p:nvPr/>
        </p:nvGrpSpPr>
        <p:grpSpPr>
          <a:xfrm>
            <a:off x="2747200" y="2471373"/>
            <a:ext cx="777794" cy="449300"/>
            <a:chOff x="-1" y="-1"/>
            <a:chExt cx="1008114" cy="576066"/>
          </a:xfrm>
          <a:solidFill>
            <a:srgbClr val="758D5E"/>
          </a:solidFill>
        </p:grpSpPr>
        <p:sp>
          <p:nvSpPr>
            <p:cNvPr id="56" name="Shape 105"/>
            <p:cNvSpPr/>
            <p:nvPr/>
          </p:nvSpPr>
          <p:spPr>
            <a:xfrm>
              <a:off x="-1" y="-1"/>
              <a:ext cx="1008114" cy="576066"/>
            </a:xfrm>
            <a:prstGeom prst="rect">
              <a:avLst/>
            </a:prstGeom>
            <a:grpFill/>
            <a:ln w="12700" cap="flat">
              <a:solidFill>
                <a:srgbClr val="BAC6AF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600">
                  <a:solidFill>
                    <a:srgbClr val="FFFFFF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pPr>
              <a:endParaRPr sz="1200"/>
            </a:p>
          </p:txBody>
        </p:sp>
        <p:sp>
          <p:nvSpPr>
            <p:cNvPr id="57" name="Shape 106"/>
            <p:cNvSpPr/>
            <p:nvPr/>
          </p:nvSpPr>
          <p:spPr>
            <a:xfrm>
              <a:off x="-1" y="51264"/>
              <a:ext cx="1008114" cy="473536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  <a:latin typeface="Avenir Next"/>
                  <a:ea typeface="Avenir Next"/>
                  <a:cs typeface="Avenir Next"/>
                  <a:sym typeface="Avenir Next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de-AT" sz="1200" dirty="0" err="1" smtClean="0"/>
                <a:t>OpenDataSoft</a:t>
              </a:r>
              <a:endParaRPr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87681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Open Data Portal Watch</a:t>
            </a:r>
            <a:endParaRPr lang="de-AT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16</a:t>
            </a:fld>
            <a:endParaRPr lang="de-AT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81" y="2797629"/>
            <a:ext cx="5246573" cy="34518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29" y="2447664"/>
            <a:ext cx="5290457" cy="36656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feld 5"/>
          <p:cNvSpPr txBox="1"/>
          <p:nvPr/>
        </p:nvSpPr>
        <p:spPr>
          <a:xfrm>
            <a:off x="594360" y="1804703"/>
            <a:ext cx="8000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dirty="0">
                <a:ea typeface="Avenir Next"/>
                <a:cs typeface="Avenir Next"/>
                <a:sym typeface="Avenir Next"/>
              </a:rPr>
              <a:t>Scalable quality assessment &amp; monitoring framework </a:t>
            </a:r>
            <a:r>
              <a:rPr lang="en-US" sz="2000" dirty="0" smtClean="0">
                <a:ea typeface="Avenir Next"/>
                <a:cs typeface="Avenir Next"/>
                <a:sym typeface="Avenir Next"/>
              </a:rPr>
              <a:t>for </a:t>
            </a:r>
            <a:r>
              <a:rPr lang="en-US" sz="2000" dirty="0">
                <a:ea typeface="Avenir Next"/>
                <a:cs typeface="Avenir Next"/>
                <a:sym typeface="Avenir Next"/>
              </a:rPr>
              <a:t>Open Data </a:t>
            </a:r>
            <a:r>
              <a:rPr lang="en-US" sz="2000" dirty="0" smtClean="0">
                <a:ea typeface="Avenir Next"/>
                <a:cs typeface="Avenir Next"/>
                <a:sym typeface="Avenir Next"/>
              </a:rPr>
              <a:t>Portals</a:t>
            </a:r>
            <a:endParaRPr lang="en-US" sz="2000" dirty="0">
              <a:ea typeface="Avenir Next"/>
              <a:cs typeface="Avenir Next"/>
              <a:sym typeface="Avenir Next"/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139181" y="6475618"/>
            <a:ext cx="3020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600" dirty="0" smtClean="0">
                <a:solidFill>
                  <a:schemeClr val="bg1"/>
                </a:solidFill>
              </a:rPr>
              <a:t>http://data.wu.ac.at/portalwatch/</a:t>
            </a:r>
            <a:endParaRPr lang="de-AT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937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 smtClean="0"/>
              <a:t>Findings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17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444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10" y="3383721"/>
            <a:ext cx="7362247" cy="1545330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79" y="1971605"/>
            <a:ext cx="7703617" cy="110179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Portals </a:t>
            </a:r>
            <a:r>
              <a:rPr lang="de-AT" dirty="0" err="1" smtClean="0"/>
              <a:t>Overview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359123"/>
          </a:xfrm>
        </p:spPr>
        <p:txBody>
          <a:bodyPr>
            <a:normAutofit lnSpcReduction="10000"/>
          </a:bodyPr>
          <a:lstStyle/>
          <a:p>
            <a:r>
              <a:rPr lang="de-AT" dirty="0" err="1"/>
              <a:t>B</a:t>
            </a:r>
            <a:r>
              <a:rPr lang="de-AT" dirty="0" err="1" smtClean="0"/>
              <a:t>ased</a:t>
            </a:r>
            <a:r>
              <a:rPr lang="de-AT" dirty="0" smtClean="0"/>
              <a:t> on 126 CKAN </a:t>
            </a:r>
            <a:r>
              <a:rPr lang="de-AT" dirty="0" err="1" smtClean="0"/>
              <a:t>data</a:t>
            </a:r>
            <a:r>
              <a:rPr lang="de-AT" dirty="0" smtClean="0"/>
              <a:t> </a:t>
            </a:r>
            <a:r>
              <a:rPr lang="de-AT" dirty="0" err="1" smtClean="0"/>
              <a:t>portals</a:t>
            </a:r>
            <a:r>
              <a:rPr lang="de-AT" dirty="0" smtClean="0"/>
              <a:t>:</a:t>
            </a:r>
          </a:p>
          <a:p>
            <a:endParaRPr lang="de-AT" dirty="0"/>
          </a:p>
          <a:p>
            <a:pPr marL="0" indent="0">
              <a:buNone/>
            </a:pPr>
            <a:endParaRPr lang="de-AT" dirty="0" smtClean="0"/>
          </a:p>
          <a:p>
            <a:r>
              <a:rPr lang="de-AT" dirty="0" smtClean="0"/>
              <a:t>Top 5 (</a:t>
            </a:r>
            <a:r>
              <a:rPr lang="de-AT" dirty="0" err="1" smtClean="0"/>
              <a:t>wrt</a:t>
            </a:r>
            <a:r>
              <a:rPr lang="de-AT" dirty="0" smtClean="0"/>
              <a:t>. </a:t>
            </a:r>
            <a:r>
              <a:rPr lang="de-AT" dirty="0" err="1" smtClean="0"/>
              <a:t>datasets</a:t>
            </a:r>
            <a:r>
              <a:rPr lang="de-AT" dirty="0" smtClean="0"/>
              <a:t>):</a:t>
            </a:r>
          </a:p>
          <a:p>
            <a:endParaRPr lang="de-AT" dirty="0"/>
          </a:p>
          <a:p>
            <a:endParaRPr lang="de-AT" dirty="0" smtClean="0"/>
          </a:p>
          <a:p>
            <a:endParaRPr lang="de-AT" dirty="0"/>
          </a:p>
          <a:p>
            <a:endParaRPr lang="de-AT" dirty="0" smtClean="0"/>
          </a:p>
          <a:p>
            <a:r>
              <a:rPr lang="en-US" b="1" dirty="0"/>
              <a:t>3.12M</a:t>
            </a:r>
            <a:r>
              <a:rPr lang="en-US" dirty="0"/>
              <a:t> </a:t>
            </a:r>
            <a:r>
              <a:rPr lang="en-US" dirty="0" smtClean="0"/>
              <a:t>URL values, </a:t>
            </a:r>
            <a:r>
              <a:rPr lang="en-US" b="1" dirty="0" smtClean="0"/>
              <a:t>1.92M</a:t>
            </a:r>
            <a:r>
              <a:rPr lang="en-US" dirty="0" smtClean="0"/>
              <a:t> distinct, </a:t>
            </a:r>
            <a:r>
              <a:rPr lang="en-US" b="1" dirty="0" smtClean="0"/>
              <a:t>1.91M</a:t>
            </a:r>
            <a:r>
              <a:rPr lang="en-US" dirty="0" smtClean="0"/>
              <a:t> </a:t>
            </a:r>
            <a:r>
              <a:rPr lang="en-US" dirty="0"/>
              <a:t>are syntactically valid </a:t>
            </a:r>
            <a:r>
              <a:rPr lang="en-US" dirty="0" smtClean="0"/>
              <a:t>URLs</a:t>
            </a:r>
          </a:p>
          <a:p>
            <a:r>
              <a:rPr lang="en-US" b="1" dirty="0" smtClean="0"/>
              <a:t>1.1M</a:t>
            </a:r>
            <a:r>
              <a:rPr lang="en-US" dirty="0" smtClean="0"/>
              <a:t> </a:t>
            </a:r>
            <a:r>
              <a:rPr lang="en-US" dirty="0"/>
              <a:t>Content-Length </a:t>
            </a:r>
            <a:r>
              <a:rPr lang="en-US" dirty="0" smtClean="0"/>
              <a:t>HTTP header fields resulting in </a:t>
            </a:r>
            <a:r>
              <a:rPr lang="en-US" b="1" dirty="0" smtClean="0"/>
              <a:t>12.297 TB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18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3511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413" y="1100762"/>
            <a:ext cx="5764587" cy="476833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Portal </a:t>
            </a:r>
            <a:r>
              <a:rPr lang="de-AT" dirty="0" err="1" smtClean="0"/>
              <a:t>Overlap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22960" y="1933302"/>
            <a:ext cx="3150326" cy="3935791"/>
          </a:xfrm>
        </p:spPr>
        <p:txBody>
          <a:bodyPr/>
          <a:lstStyle/>
          <a:p>
            <a:r>
              <a:rPr lang="en-US" b="1" dirty="0" smtClean="0"/>
              <a:t>13</a:t>
            </a:r>
            <a:r>
              <a:rPr lang="en-US" b="1" dirty="0"/>
              <a:t>%</a:t>
            </a:r>
            <a:r>
              <a:rPr lang="en-US" dirty="0"/>
              <a:t> (260K) of the unique resources appear in </a:t>
            </a:r>
            <a:r>
              <a:rPr lang="en-US" b="1" dirty="0"/>
              <a:t>more than one dataset</a:t>
            </a:r>
          </a:p>
          <a:p>
            <a:r>
              <a:rPr lang="en-US" b="1" dirty="0"/>
              <a:t>12%</a:t>
            </a:r>
            <a:r>
              <a:rPr lang="en-US" dirty="0"/>
              <a:t> (227K) resources in </a:t>
            </a:r>
            <a:r>
              <a:rPr lang="en-US" b="1" dirty="0"/>
              <a:t>more than one portal</a:t>
            </a:r>
          </a:p>
          <a:p>
            <a:r>
              <a:rPr lang="en-US" dirty="0"/>
              <a:t>biggest </a:t>
            </a:r>
            <a:r>
              <a:rPr lang="en-US" dirty="0" smtClean="0"/>
              <a:t>portals </a:t>
            </a:r>
            <a:r>
              <a:rPr lang="en-US" dirty="0"/>
              <a:t>act as </a:t>
            </a:r>
            <a:br>
              <a:rPr lang="en-US" dirty="0"/>
            </a:br>
            <a:r>
              <a:rPr lang="en-US" dirty="0"/>
              <a:t>parent/</a:t>
            </a:r>
            <a:r>
              <a:rPr lang="en-US" b="1" dirty="0"/>
              <a:t>harvester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smtClean="0"/>
              <a:t>portals (e.g. data.gov, publicdata.eu)</a:t>
            </a:r>
            <a:endParaRPr lang="en-US" dirty="0"/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19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12529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 smtClean="0"/>
              <a:t>Retrievability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20</a:t>
            </a:fld>
            <a:endParaRPr lang="de-AT" dirty="0"/>
          </a:p>
        </p:txBody>
      </p:sp>
      <p:graphicFrame>
        <p:nvGraphicFramePr>
          <p:cNvPr id="5" name="Chart 193"/>
          <p:cNvGraphicFramePr/>
          <p:nvPr>
            <p:extLst>
              <p:ext uri="{D42A27DB-BD31-4B8C-83A1-F6EECF244321}">
                <p14:modId xmlns:p14="http://schemas.microsoft.com/office/powerpoint/2010/main" val="3644612763"/>
              </p:ext>
            </p:extLst>
          </p:nvPr>
        </p:nvGraphicFramePr>
        <p:xfrm>
          <a:off x="247127" y="1850572"/>
          <a:ext cx="7670226" cy="4268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79646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 smtClean="0"/>
              <a:t>Openness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21</a:t>
            </a:fld>
            <a:endParaRPr lang="de-AT"/>
          </a:p>
        </p:txBody>
      </p:sp>
      <p:pic>
        <p:nvPicPr>
          <p:cNvPr id="6" name="Screen Shot 2015-08-24 at 17.27.32.png"/>
          <p:cNvPicPr/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28293" y="2222492"/>
            <a:ext cx="7522250" cy="3519728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Shape 215"/>
          <p:cNvSpPr/>
          <p:nvPr/>
        </p:nvSpPr>
        <p:spPr>
          <a:xfrm>
            <a:off x="940284" y="3240527"/>
            <a:ext cx="3198020" cy="510408"/>
          </a:xfrm>
          <a:prstGeom prst="rect">
            <a:avLst/>
          </a:prstGeom>
          <a:solidFill>
            <a:srgbClr val="889D71">
              <a:alpha val="29000"/>
            </a:srgbClr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/>
          </a:p>
        </p:txBody>
      </p:sp>
      <p:sp>
        <p:nvSpPr>
          <p:cNvPr id="8" name="Shape 216"/>
          <p:cNvSpPr/>
          <p:nvPr/>
        </p:nvSpPr>
        <p:spPr>
          <a:xfrm>
            <a:off x="940284" y="4502060"/>
            <a:ext cx="3198020" cy="243841"/>
          </a:xfrm>
          <a:prstGeom prst="rect">
            <a:avLst/>
          </a:prstGeom>
          <a:solidFill>
            <a:srgbClr val="889D71">
              <a:alpha val="29000"/>
            </a:srgbClr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/>
          </a:p>
        </p:txBody>
      </p:sp>
      <p:sp>
        <p:nvSpPr>
          <p:cNvPr id="9" name="Shape 217"/>
          <p:cNvSpPr/>
          <p:nvPr/>
        </p:nvSpPr>
        <p:spPr>
          <a:xfrm>
            <a:off x="4250751" y="2978333"/>
            <a:ext cx="3844331" cy="233532"/>
          </a:xfrm>
          <a:prstGeom prst="rect">
            <a:avLst/>
          </a:prstGeom>
          <a:solidFill>
            <a:srgbClr val="889D71">
              <a:alpha val="29000"/>
            </a:srgbClr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/>
          </a:p>
        </p:txBody>
      </p:sp>
      <p:sp>
        <p:nvSpPr>
          <p:cNvPr id="10" name="Shape 218"/>
          <p:cNvSpPr/>
          <p:nvPr/>
        </p:nvSpPr>
        <p:spPr>
          <a:xfrm>
            <a:off x="4250751" y="3465507"/>
            <a:ext cx="3844331" cy="285428"/>
          </a:xfrm>
          <a:prstGeom prst="rect">
            <a:avLst/>
          </a:prstGeom>
          <a:solidFill>
            <a:srgbClr val="889D71">
              <a:alpha val="29000"/>
            </a:srgbClr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/>
          </a:p>
        </p:txBody>
      </p:sp>
      <p:sp>
        <p:nvSpPr>
          <p:cNvPr id="11" name="Shape 219"/>
          <p:cNvSpPr/>
          <p:nvPr/>
        </p:nvSpPr>
        <p:spPr>
          <a:xfrm>
            <a:off x="4250751" y="4219613"/>
            <a:ext cx="3844331" cy="255461"/>
          </a:xfrm>
          <a:prstGeom prst="rect">
            <a:avLst/>
          </a:prstGeom>
          <a:solidFill>
            <a:srgbClr val="889D71">
              <a:alpha val="29000"/>
            </a:srgbClr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/>
          </a:p>
        </p:txBody>
      </p:sp>
      <p:sp>
        <p:nvSpPr>
          <p:cNvPr id="12" name="Shape 220"/>
          <p:cNvSpPr/>
          <p:nvPr/>
        </p:nvSpPr>
        <p:spPr>
          <a:xfrm>
            <a:off x="2939264" y="5834498"/>
            <a:ext cx="2622973" cy="349740"/>
          </a:xfrm>
          <a:prstGeom prst="rect">
            <a:avLst/>
          </a:prstGeom>
          <a:solidFill>
            <a:srgbClr val="889D71">
              <a:alpha val="29000"/>
            </a:srgbClr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pPr lvl="0" algn="ctr"/>
            <a:r>
              <a:rPr dirty="0"/>
              <a:t>confirmed open</a:t>
            </a:r>
          </a:p>
        </p:txBody>
      </p:sp>
      <p:sp>
        <p:nvSpPr>
          <p:cNvPr id="13" name="Shape 221"/>
          <p:cNvSpPr/>
          <p:nvPr/>
        </p:nvSpPr>
        <p:spPr>
          <a:xfrm>
            <a:off x="940284" y="2993756"/>
            <a:ext cx="3198020" cy="243841"/>
          </a:xfrm>
          <a:prstGeom prst="rect">
            <a:avLst/>
          </a:prstGeom>
          <a:solidFill>
            <a:srgbClr val="AB5A52">
              <a:alpha val="49000"/>
            </a:srgbClr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/>
          </a:p>
        </p:txBody>
      </p:sp>
      <p:sp>
        <p:nvSpPr>
          <p:cNvPr id="14" name="Shape 222"/>
          <p:cNvSpPr/>
          <p:nvPr/>
        </p:nvSpPr>
        <p:spPr>
          <a:xfrm>
            <a:off x="940284" y="4004577"/>
            <a:ext cx="3198020" cy="243841"/>
          </a:xfrm>
          <a:prstGeom prst="rect">
            <a:avLst/>
          </a:prstGeom>
          <a:solidFill>
            <a:srgbClr val="AB5A52">
              <a:alpha val="49000"/>
            </a:srgbClr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/>
          </a:p>
        </p:txBody>
      </p:sp>
      <p:sp>
        <p:nvSpPr>
          <p:cNvPr id="3" name="Textfeld 2"/>
          <p:cNvSpPr txBox="1"/>
          <p:nvPr/>
        </p:nvSpPr>
        <p:spPr>
          <a:xfrm>
            <a:off x="940284" y="1844098"/>
            <a:ext cx="4844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000" dirty="0" smtClean="0"/>
              <a:t>Top 10 </a:t>
            </a:r>
            <a:r>
              <a:rPr lang="de-AT" sz="2000" dirty="0" err="1" smtClean="0"/>
              <a:t>licenses</a:t>
            </a:r>
            <a:r>
              <a:rPr lang="de-AT" sz="2000" dirty="0" smtClean="0"/>
              <a:t> </a:t>
            </a:r>
            <a:r>
              <a:rPr lang="de-AT" sz="2000" dirty="0" err="1" smtClean="0"/>
              <a:t>and</a:t>
            </a:r>
            <a:r>
              <a:rPr lang="de-AT" sz="2000" dirty="0" smtClean="0"/>
              <a:t> </a:t>
            </a:r>
            <a:r>
              <a:rPr lang="de-AT" sz="2000" dirty="0" err="1" smtClean="0"/>
              <a:t>formats</a:t>
            </a:r>
            <a:r>
              <a:rPr lang="de-AT" sz="2000" dirty="0" smtClean="0"/>
              <a:t> </a:t>
            </a:r>
            <a:r>
              <a:rPr lang="de-AT" sz="2000" dirty="0" err="1" smtClean="0"/>
              <a:t>over</a:t>
            </a:r>
            <a:r>
              <a:rPr lang="de-AT" sz="2000" dirty="0" smtClean="0"/>
              <a:t> all </a:t>
            </a:r>
            <a:r>
              <a:rPr lang="de-AT" sz="2000" dirty="0" err="1" smtClean="0"/>
              <a:t>portals</a:t>
            </a:r>
            <a:r>
              <a:rPr lang="de-AT" sz="2000" dirty="0" smtClean="0"/>
              <a:t>:</a:t>
            </a:r>
            <a:endParaRPr lang="de-AT" sz="2000" dirty="0"/>
          </a:p>
        </p:txBody>
      </p:sp>
    </p:spTree>
    <p:extLst>
      <p:ext uri="{BB962C8B-B14F-4D97-AF65-F5344CB8AC3E}">
        <p14:creationId xmlns:p14="http://schemas.microsoft.com/office/powerpoint/2010/main" val="133051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 smtClean="0"/>
              <a:t>Contactability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22</a:t>
            </a:fld>
            <a:endParaRPr lang="de-AT"/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53350"/>
          </a:xfrm>
        </p:spPr>
        <p:txBody>
          <a:bodyPr/>
          <a:lstStyle/>
          <a:p>
            <a:r>
              <a:rPr lang="de-AT" dirty="0" err="1" smtClean="0"/>
              <a:t>Contact</a:t>
            </a:r>
            <a:r>
              <a:rPr lang="de-AT" dirty="0" smtClean="0"/>
              <a:t> </a:t>
            </a:r>
            <a:r>
              <a:rPr lang="de-AT" dirty="0" err="1" smtClean="0"/>
              <a:t>information</a:t>
            </a:r>
            <a:r>
              <a:rPr lang="de-AT" dirty="0"/>
              <a:t> </a:t>
            </a:r>
            <a:r>
              <a:rPr lang="de-AT" dirty="0" smtClean="0"/>
              <a:t>in form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b="1" dirty="0" smtClean="0">
                <a:solidFill>
                  <a:srgbClr val="FF0000"/>
                </a:solidFill>
              </a:rPr>
              <a:t>URLs</a:t>
            </a:r>
            <a:r>
              <a:rPr lang="de-AT" dirty="0" smtClean="0"/>
              <a:t>, </a:t>
            </a:r>
            <a:r>
              <a:rPr lang="de-AT" b="1" dirty="0" smtClean="0">
                <a:solidFill>
                  <a:srgbClr val="0070C0"/>
                </a:solidFill>
              </a:rPr>
              <a:t>email</a:t>
            </a:r>
            <a:r>
              <a:rPr lang="de-AT" dirty="0" smtClean="0"/>
              <a:t> </a:t>
            </a:r>
            <a:r>
              <a:rPr lang="de-AT" dirty="0" err="1" smtClean="0"/>
              <a:t>adresses</a:t>
            </a:r>
            <a:r>
              <a:rPr lang="de-AT" dirty="0" smtClean="0"/>
              <a:t>, </a:t>
            </a:r>
            <a:r>
              <a:rPr lang="de-AT" dirty="0" err="1" smtClean="0"/>
              <a:t>or</a:t>
            </a:r>
            <a:r>
              <a:rPr lang="de-AT" dirty="0" smtClean="0"/>
              <a:t> </a:t>
            </a:r>
            <a:r>
              <a:rPr lang="de-AT" b="1" dirty="0" err="1" smtClean="0"/>
              <a:t>any</a:t>
            </a:r>
            <a:r>
              <a:rPr lang="de-AT" dirty="0" smtClean="0"/>
              <a:t> </a:t>
            </a:r>
            <a:r>
              <a:rPr lang="de-AT" dirty="0" err="1" smtClean="0"/>
              <a:t>value</a:t>
            </a:r>
            <a:endParaRPr lang="de-AT" dirty="0" smtClean="0"/>
          </a:p>
        </p:txBody>
      </p:sp>
      <p:pic>
        <p:nvPicPr>
          <p:cNvPr id="5" name="qi.pdf"/>
          <p:cNvPicPr/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600" y="2481440"/>
            <a:ext cx="4946468" cy="323426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Inhaltsplatzhalter 6"/>
          <p:cNvSpPr txBox="1">
            <a:spLocks/>
          </p:cNvSpPr>
          <p:nvPr/>
        </p:nvSpPr>
        <p:spPr>
          <a:xfrm>
            <a:off x="822959" y="2481440"/>
            <a:ext cx="2731078" cy="299625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dirty="0" err="1" smtClean="0"/>
              <a:t>very</a:t>
            </a:r>
            <a:r>
              <a:rPr lang="de-AT" dirty="0" smtClean="0"/>
              <a:t> </a:t>
            </a:r>
            <a:r>
              <a:rPr lang="de-AT" dirty="0" err="1" smtClean="0"/>
              <a:t>few</a:t>
            </a:r>
            <a:r>
              <a:rPr lang="de-AT" dirty="0" smtClean="0"/>
              <a:t> URLs</a:t>
            </a:r>
            <a:endParaRPr lang="de-AT" dirty="0" smtClean="0">
              <a:solidFill>
                <a:srgbClr val="FF0000"/>
              </a:solidFill>
            </a:endParaRPr>
          </a:p>
          <a:p>
            <a:r>
              <a:rPr lang="en-US" b="1" dirty="0" smtClean="0"/>
              <a:t>35%</a:t>
            </a:r>
            <a:r>
              <a:rPr lang="en-US" dirty="0" smtClean="0"/>
              <a:t> of the portals with very good contractibility</a:t>
            </a:r>
          </a:p>
          <a:p>
            <a:r>
              <a:rPr lang="en-US" b="1" dirty="0" smtClean="0"/>
              <a:t>25%</a:t>
            </a:r>
            <a:r>
              <a:rPr lang="en-US" dirty="0" smtClean="0"/>
              <a:t> with hardly any contact values</a:t>
            </a:r>
            <a:endParaRPr lang="en-US" b="1" dirty="0" smtClean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773409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 smtClean="0"/>
              <a:t>Conclusion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50000"/>
              </a:lnSpc>
              <a:buClrTx/>
              <a:buSzTx/>
              <a:buFontTx/>
              <a:buNone/>
              <a:defRPr sz="1800"/>
            </a:pPr>
            <a:r>
              <a:rPr lang="de-AT" sz="2200" dirty="0" smtClean="0"/>
              <a:t>Main </a:t>
            </a:r>
            <a:r>
              <a:rPr lang="de-AT" sz="2200" dirty="0" err="1"/>
              <a:t>findings</a:t>
            </a:r>
            <a:r>
              <a:rPr lang="de-AT" sz="2200" dirty="0"/>
              <a:t> (126 CKAN Portals</a:t>
            </a:r>
            <a:r>
              <a:rPr lang="de-AT" sz="2200" dirty="0" smtClean="0"/>
              <a:t>):</a:t>
            </a:r>
          </a:p>
          <a:p>
            <a:pPr>
              <a:lnSpc>
                <a:spcPct val="150000"/>
              </a:lnSpc>
              <a:buClrTx/>
              <a:buSzTx/>
              <a:buFont typeface="Courier New" panose="02070309020205020404" pitchFamily="49" charset="0"/>
              <a:buChar char="o"/>
              <a:defRPr sz="1800"/>
            </a:pPr>
            <a:r>
              <a:rPr lang="de-AT" dirty="0"/>
              <a:t> H</a:t>
            </a:r>
            <a:r>
              <a:rPr lang="de-AT" dirty="0" smtClean="0"/>
              <a:t>igh </a:t>
            </a:r>
            <a:r>
              <a:rPr lang="de-AT" dirty="0" err="1" smtClean="0"/>
              <a:t>metadata</a:t>
            </a:r>
            <a:r>
              <a:rPr lang="de-AT" dirty="0" smtClean="0"/>
              <a:t> </a:t>
            </a:r>
            <a:r>
              <a:rPr lang="de-AT" b="1" dirty="0" err="1"/>
              <a:t>heterogeneity</a:t>
            </a:r>
            <a:r>
              <a:rPr lang="de-AT" dirty="0"/>
              <a:t> </a:t>
            </a:r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portal</a:t>
            </a:r>
            <a:r>
              <a:rPr lang="de-AT" dirty="0"/>
              <a:t> </a:t>
            </a:r>
            <a:r>
              <a:rPr lang="de-AT" dirty="0" err="1"/>
              <a:t>specific</a:t>
            </a:r>
            <a:r>
              <a:rPr lang="de-AT" dirty="0"/>
              <a:t> </a:t>
            </a:r>
            <a:r>
              <a:rPr lang="de-AT" dirty="0" err="1" smtClean="0"/>
              <a:t>keys</a:t>
            </a:r>
            <a:r>
              <a:rPr lang="de-AT" dirty="0" smtClean="0"/>
              <a:t>/tags</a:t>
            </a:r>
          </a:p>
          <a:p>
            <a:pPr>
              <a:lnSpc>
                <a:spcPct val="150000"/>
              </a:lnSpc>
              <a:buClrTx/>
              <a:buSzTx/>
              <a:buFont typeface="Courier New" panose="02070309020205020404" pitchFamily="49" charset="0"/>
              <a:buChar char="o"/>
              <a:defRPr sz="1800"/>
            </a:pPr>
            <a:r>
              <a:rPr lang="de-AT" dirty="0"/>
              <a:t> </a:t>
            </a:r>
            <a:r>
              <a:rPr lang="de-AT" dirty="0" smtClean="0"/>
              <a:t>Low </a:t>
            </a:r>
            <a:r>
              <a:rPr lang="de-AT" u="sng" dirty="0" err="1"/>
              <a:t>confirmed</a:t>
            </a:r>
            <a:r>
              <a:rPr lang="de-AT" dirty="0"/>
              <a:t> </a:t>
            </a:r>
            <a:r>
              <a:rPr lang="de-AT" dirty="0" err="1" smtClean="0"/>
              <a:t>openness</a:t>
            </a:r>
            <a:r>
              <a:rPr lang="de-AT" dirty="0" smtClean="0"/>
              <a:t> (</a:t>
            </a:r>
            <a:r>
              <a:rPr lang="de-AT" dirty="0" err="1" smtClean="0"/>
              <a:t>wrt</a:t>
            </a:r>
            <a:r>
              <a:rPr lang="de-AT" dirty="0" smtClean="0"/>
              <a:t>. </a:t>
            </a:r>
            <a:r>
              <a:rPr lang="de-AT" dirty="0" err="1" smtClean="0"/>
              <a:t>licenses</a:t>
            </a:r>
            <a:r>
              <a:rPr lang="de-AT" dirty="0" smtClean="0"/>
              <a:t> </a:t>
            </a:r>
            <a:r>
              <a:rPr lang="de-AT" dirty="0" err="1" smtClean="0"/>
              <a:t>and</a:t>
            </a:r>
            <a:r>
              <a:rPr lang="de-AT" dirty="0" smtClean="0"/>
              <a:t> </a:t>
            </a:r>
            <a:r>
              <a:rPr lang="de-AT" dirty="0" err="1" smtClean="0"/>
              <a:t>formats</a:t>
            </a:r>
            <a:r>
              <a:rPr lang="de-AT" dirty="0" smtClean="0"/>
              <a:t>)</a:t>
            </a:r>
          </a:p>
          <a:p>
            <a:pPr>
              <a:lnSpc>
                <a:spcPct val="150000"/>
              </a:lnSpc>
              <a:buClrTx/>
              <a:buSzTx/>
              <a:buFont typeface="Courier New" panose="02070309020205020404" pitchFamily="49" charset="0"/>
              <a:buChar char="o"/>
              <a:defRPr sz="1800"/>
            </a:pPr>
            <a:r>
              <a:rPr lang="de-AT" dirty="0"/>
              <a:t> </a:t>
            </a:r>
            <a:r>
              <a:rPr lang="de-AT" dirty="0" err="1"/>
              <a:t>A</a:t>
            </a:r>
            <a:r>
              <a:rPr lang="de-AT" dirty="0" err="1" smtClean="0"/>
              <a:t>bout</a:t>
            </a:r>
            <a:r>
              <a:rPr lang="de-AT" dirty="0" smtClean="0"/>
              <a:t> </a:t>
            </a:r>
            <a:r>
              <a:rPr lang="de-AT" b="1" dirty="0" smtClean="0"/>
              <a:t>80</a:t>
            </a:r>
            <a:r>
              <a:rPr lang="de-AT" b="1" dirty="0"/>
              <a:t>%</a:t>
            </a:r>
            <a:r>
              <a:rPr lang="de-AT" dirty="0"/>
              <a:t>  </a:t>
            </a:r>
            <a:r>
              <a:rPr lang="de-AT" dirty="0" err="1"/>
              <a:t>resource</a:t>
            </a:r>
            <a:r>
              <a:rPr lang="de-AT" dirty="0"/>
              <a:t> </a:t>
            </a:r>
            <a:r>
              <a:rPr lang="de-AT" dirty="0" err="1"/>
              <a:t>retrievability</a:t>
            </a:r>
            <a:r>
              <a:rPr lang="de-AT" dirty="0"/>
              <a:t> </a:t>
            </a:r>
            <a:endParaRPr lang="de-AT" dirty="0" smtClean="0"/>
          </a:p>
          <a:p>
            <a:pPr>
              <a:lnSpc>
                <a:spcPct val="150000"/>
              </a:lnSpc>
              <a:buClrTx/>
              <a:buSzTx/>
              <a:buFont typeface="Courier New" panose="02070309020205020404" pitchFamily="49" charset="0"/>
              <a:buChar char="o"/>
              <a:defRPr sz="1800"/>
            </a:pPr>
            <a:r>
              <a:rPr lang="de-AT" dirty="0"/>
              <a:t> </a:t>
            </a:r>
            <a:r>
              <a:rPr lang="de-AT" dirty="0" err="1" smtClean="0"/>
              <a:t>Only</a:t>
            </a:r>
            <a:r>
              <a:rPr lang="de-AT" dirty="0" smtClean="0"/>
              <a:t> </a:t>
            </a:r>
            <a:r>
              <a:rPr lang="de-AT" b="1" dirty="0" smtClean="0"/>
              <a:t>35</a:t>
            </a:r>
            <a:r>
              <a:rPr lang="de-AT" b="1" dirty="0"/>
              <a:t>%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portals</a:t>
            </a:r>
            <a:r>
              <a:rPr lang="de-AT" dirty="0"/>
              <a:t> </a:t>
            </a:r>
            <a:r>
              <a:rPr lang="de-AT" dirty="0" err="1"/>
              <a:t>have</a:t>
            </a:r>
            <a:r>
              <a:rPr lang="de-AT" dirty="0"/>
              <a:t> a high </a:t>
            </a:r>
            <a:r>
              <a:rPr lang="de-AT" dirty="0" err="1"/>
              <a:t>contactability</a:t>
            </a:r>
            <a:r>
              <a:rPr lang="de-AT" dirty="0"/>
              <a:t> </a:t>
            </a:r>
          </a:p>
          <a:p>
            <a:pPr>
              <a:lnSpc>
                <a:spcPct val="150000"/>
              </a:lnSpc>
            </a:pP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23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54132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Impact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Peer Reviewed Publications</a:t>
            </a:r>
          </a:p>
          <a:p>
            <a:pPr lvl="1"/>
            <a:r>
              <a:rPr lang="en-US" sz="1600" dirty="0"/>
              <a:t>Jürgen </a:t>
            </a:r>
            <a:r>
              <a:rPr lang="en-US" sz="1600" dirty="0" err="1"/>
              <a:t>Umbrich</a:t>
            </a:r>
            <a:r>
              <a:rPr lang="en-US" sz="1600" dirty="0"/>
              <a:t>, Sebastian Neumaier, and Axel </a:t>
            </a:r>
            <a:r>
              <a:rPr lang="en-US" sz="1600" dirty="0" err="1"/>
              <a:t>Polleres</a:t>
            </a:r>
            <a:r>
              <a:rPr lang="en-US" sz="1600" dirty="0"/>
              <a:t>. Quality assessment &amp; evolution of open data </a:t>
            </a:r>
            <a:r>
              <a:rPr lang="en-US" sz="1600" dirty="0" smtClean="0"/>
              <a:t>portals.</a:t>
            </a:r>
            <a:br>
              <a:rPr lang="en-US" sz="1600" dirty="0" smtClean="0"/>
            </a:br>
            <a:r>
              <a:rPr lang="en-US" sz="1600" dirty="0" smtClean="0"/>
              <a:t>In </a:t>
            </a:r>
            <a:r>
              <a:rPr lang="en-US" sz="1600" i="1" dirty="0"/>
              <a:t>IEEE International Conference on Open and Big Data</a:t>
            </a:r>
            <a:r>
              <a:rPr lang="en-US" sz="1600" dirty="0"/>
              <a:t>, Rome, Italy, August </a:t>
            </a:r>
            <a:r>
              <a:rPr lang="en-US" sz="1600" dirty="0" smtClean="0"/>
              <a:t>2015.</a:t>
            </a:r>
          </a:p>
          <a:p>
            <a:pPr lvl="1"/>
            <a:r>
              <a:rPr lang="en-US" sz="1600" dirty="0" smtClean="0"/>
              <a:t>Jürgen </a:t>
            </a:r>
            <a:r>
              <a:rPr lang="en-US" sz="1600" dirty="0" err="1"/>
              <a:t>Umbrich</a:t>
            </a:r>
            <a:r>
              <a:rPr lang="en-US" sz="1600" dirty="0"/>
              <a:t>, Sebastian Neumaier, and Axel </a:t>
            </a:r>
            <a:r>
              <a:rPr lang="en-US" sz="1600" dirty="0" err="1"/>
              <a:t>Polleres</a:t>
            </a:r>
            <a:r>
              <a:rPr lang="en-US" sz="1600" dirty="0"/>
              <a:t>. Towards assessing the quality evolution of open data </a:t>
            </a:r>
            <a:r>
              <a:rPr lang="en-US" sz="1600" dirty="0" smtClean="0"/>
              <a:t>portals.</a:t>
            </a:r>
            <a:br>
              <a:rPr lang="en-US" sz="1600" dirty="0" smtClean="0"/>
            </a:br>
            <a:r>
              <a:rPr lang="en-US" sz="1600" dirty="0" smtClean="0"/>
              <a:t>In </a:t>
            </a:r>
            <a:r>
              <a:rPr lang="en-US" sz="1600" i="1" dirty="0"/>
              <a:t>ODQ2015: Open Data Quality: from Theory to Practice Workshop</a:t>
            </a:r>
            <a:r>
              <a:rPr lang="en-US" sz="1600" dirty="0"/>
              <a:t>, Munich, Germany, March 2015</a:t>
            </a:r>
            <a:r>
              <a:rPr lang="en-US" sz="1600" dirty="0" smtClean="0"/>
              <a:t>.</a:t>
            </a:r>
          </a:p>
          <a:p>
            <a:r>
              <a:rPr lang="en-US" dirty="0" smtClean="0"/>
              <a:t>Follow-up Project: “</a:t>
            </a:r>
            <a:r>
              <a:rPr lang="en-US" b="1" dirty="0" err="1" smtClean="0"/>
              <a:t>ADEQUATe</a:t>
            </a:r>
            <a:r>
              <a:rPr lang="en-US" dirty="0" smtClean="0"/>
              <a:t>” [1]</a:t>
            </a:r>
          </a:p>
          <a:p>
            <a:pPr lvl="1"/>
            <a:r>
              <a:rPr lang="en-US" sz="1600" dirty="0"/>
              <a:t>develop and evaluate mechanisms to </a:t>
            </a:r>
            <a:r>
              <a:rPr lang="en-US" sz="1600" b="1" dirty="0"/>
              <a:t>measure</a:t>
            </a:r>
            <a:r>
              <a:rPr lang="en-US" sz="1600" dirty="0"/>
              <a:t>, monitor and </a:t>
            </a:r>
            <a:r>
              <a:rPr lang="en-US" sz="1600" b="1" dirty="0"/>
              <a:t>improve</a:t>
            </a:r>
            <a:r>
              <a:rPr lang="en-US" sz="1600" dirty="0"/>
              <a:t> data quality in Open </a:t>
            </a:r>
            <a:r>
              <a:rPr lang="en-US" sz="1600" dirty="0" smtClean="0"/>
              <a:t>Data</a:t>
            </a:r>
          </a:p>
          <a:p>
            <a:pPr lvl="1"/>
            <a:r>
              <a:rPr lang="en-US" sz="1600" dirty="0" smtClean="0"/>
              <a:t>In cooperation </a:t>
            </a:r>
            <a:r>
              <a:rPr lang="en-US" sz="1600" dirty="0"/>
              <a:t>with </a:t>
            </a:r>
            <a:r>
              <a:rPr lang="en-US" sz="1600" dirty="0" smtClean="0"/>
              <a:t>WU, Danube </a:t>
            </a:r>
            <a:r>
              <a:rPr lang="en-US" sz="1600" dirty="0"/>
              <a:t>University </a:t>
            </a:r>
            <a:r>
              <a:rPr lang="en-US" sz="1600" dirty="0" err="1" smtClean="0"/>
              <a:t>Krems</a:t>
            </a:r>
            <a:r>
              <a:rPr lang="en-US" sz="1600" dirty="0" smtClean="0"/>
              <a:t> and Semantic Web Company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24</a:t>
            </a:fld>
            <a:endParaRPr lang="de-AT"/>
          </a:p>
        </p:txBody>
      </p:sp>
      <p:sp>
        <p:nvSpPr>
          <p:cNvPr id="6" name="Textfeld 5"/>
          <p:cNvSpPr txBox="1"/>
          <p:nvPr/>
        </p:nvSpPr>
        <p:spPr>
          <a:xfrm>
            <a:off x="488888" y="6455579"/>
            <a:ext cx="2892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>
                <a:solidFill>
                  <a:schemeClr val="bg1"/>
                </a:solidFill>
              </a:rPr>
              <a:t>[1] http://www.adequate.at/</a:t>
            </a:r>
            <a:endParaRPr lang="de-A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29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Current</a:t>
            </a:r>
            <a:r>
              <a:rPr lang="de-AT" dirty="0"/>
              <a:t> </a:t>
            </a:r>
            <a:r>
              <a:rPr lang="de-AT" dirty="0" err="1" smtClean="0"/>
              <a:t>and</a:t>
            </a:r>
            <a:r>
              <a:rPr lang="de-AT" dirty="0" smtClean="0"/>
              <a:t> Future Work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25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98433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517" y="2419350"/>
            <a:ext cx="5628766" cy="223456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Towards a general QA Framework</a:t>
            </a:r>
            <a:endParaRPr lang="de-AT" sz="44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4808" y="1874309"/>
            <a:ext cx="8282941" cy="4023360"/>
          </a:xfrm>
        </p:spPr>
        <p:txBody>
          <a:bodyPr>
            <a:normAutofit/>
          </a:bodyPr>
          <a:lstStyle/>
          <a:p>
            <a:r>
              <a:rPr lang="en-US" sz="2200" dirty="0" smtClean="0"/>
              <a:t>More Open Data Portals: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/>
              <a:t>Harvest data from </a:t>
            </a:r>
            <a:r>
              <a:rPr lang="en-US" b="1" dirty="0" smtClean="0"/>
              <a:t>other portal</a:t>
            </a:r>
            <a:r>
              <a:rPr lang="en-US" dirty="0" smtClean="0"/>
              <a:t> frameworks, e.g. </a:t>
            </a:r>
            <a:r>
              <a:rPr lang="en-US" dirty="0" err="1" smtClean="0"/>
              <a:t>Socrata</a:t>
            </a:r>
            <a:r>
              <a:rPr lang="en-US" dirty="0" smtClean="0"/>
              <a:t>, </a:t>
            </a:r>
            <a:r>
              <a:rPr lang="en-US" dirty="0" err="1" smtClean="0"/>
              <a:t>OpenDataSoft</a:t>
            </a:r>
            <a:r>
              <a:rPr lang="en-US" dirty="0" smtClean="0"/>
              <a:t>, …</a:t>
            </a:r>
          </a:p>
          <a:p>
            <a:endParaRPr lang="en-US" sz="1400" dirty="0" smtClean="0"/>
          </a:p>
          <a:p>
            <a:r>
              <a:rPr lang="en-US" sz="2200" dirty="0" smtClean="0"/>
              <a:t>Metadata Homogenization:</a:t>
            </a:r>
            <a:endParaRPr lang="de-AT" sz="22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de-AT" dirty="0" err="1" smtClean="0"/>
              <a:t>Map</a:t>
            </a:r>
            <a:r>
              <a:rPr lang="de-AT" dirty="0" smtClean="0"/>
              <a:t> </a:t>
            </a:r>
            <a:r>
              <a:rPr lang="de-AT" dirty="0" err="1" smtClean="0"/>
              <a:t>metadata</a:t>
            </a:r>
            <a:r>
              <a:rPr lang="de-AT" dirty="0" smtClean="0"/>
              <a:t> </a:t>
            </a:r>
            <a:r>
              <a:rPr lang="de-AT" dirty="0" err="1" smtClean="0"/>
              <a:t>keys</a:t>
            </a:r>
            <a:r>
              <a:rPr lang="de-AT" dirty="0"/>
              <a:t> </a:t>
            </a:r>
            <a:r>
              <a:rPr lang="de-AT" dirty="0" err="1" smtClean="0"/>
              <a:t>from</a:t>
            </a:r>
            <a:r>
              <a:rPr lang="de-AT" dirty="0"/>
              <a:t/>
            </a:r>
            <a:br>
              <a:rPr lang="de-AT" dirty="0"/>
            </a:br>
            <a:r>
              <a:rPr lang="de-AT" dirty="0" smtClean="0"/>
              <a:t>different </a:t>
            </a:r>
            <a:r>
              <a:rPr lang="de-AT" dirty="0" err="1" smtClean="0"/>
              <a:t>frameworks</a:t>
            </a:r>
            <a:r>
              <a:rPr lang="de-AT" dirty="0" smtClean="0"/>
              <a:t> </a:t>
            </a:r>
            <a:r>
              <a:rPr lang="de-AT" dirty="0" err="1" smtClean="0"/>
              <a:t>to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</a:t>
            </a:r>
            <a:br>
              <a:rPr lang="de-AT" dirty="0" smtClean="0"/>
            </a:br>
            <a:r>
              <a:rPr lang="de-AT" dirty="0" smtClean="0"/>
              <a:t>RDF-</a:t>
            </a:r>
            <a:r>
              <a:rPr lang="de-AT" dirty="0" err="1" smtClean="0"/>
              <a:t>based</a:t>
            </a:r>
            <a:r>
              <a:rPr lang="de-AT" dirty="0" smtClean="0"/>
              <a:t> </a:t>
            </a:r>
            <a:r>
              <a:rPr lang="de-AT" b="1" dirty="0" smtClean="0"/>
              <a:t>DCAT</a:t>
            </a:r>
            <a:r>
              <a:rPr lang="de-AT" dirty="0" smtClean="0"/>
              <a:t> [1]</a:t>
            </a:r>
          </a:p>
          <a:p>
            <a:endParaRPr lang="en-US" sz="1200" dirty="0" smtClean="0"/>
          </a:p>
          <a:p>
            <a:r>
              <a:rPr lang="en-US" sz="2200" dirty="0" smtClean="0"/>
              <a:t>DCAT specific Quality Dimensions: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/>
              <a:t>E.g., </a:t>
            </a:r>
            <a:r>
              <a:rPr lang="en-US" b="1" dirty="0" smtClean="0"/>
              <a:t>Existence</a:t>
            </a:r>
            <a:r>
              <a:rPr lang="en-US" dirty="0" smtClean="0"/>
              <a:t> and </a:t>
            </a:r>
            <a:r>
              <a:rPr lang="en-US" b="1" dirty="0" smtClean="0"/>
              <a:t>conformance</a:t>
            </a:r>
            <a:r>
              <a:rPr lang="en-US" dirty="0" smtClean="0"/>
              <a:t> of access, </a:t>
            </a:r>
            <a:br>
              <a:rPr lang="en-US" dirty="0" smtClean="0"/>
            </a:br>
            <a:r>
              <a:rPr lang="en-US" dirty="0" smtClean="0"/>
              <a:t>license or file format information.</a:t>
            </a:r>
            <a:endParaRPr lang="de-AT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26</a:t>
            </a:fld>
            <a:endParaRPr lang="de-AT"/>
          </a:p>
        </p:txBody>
      </p:sp>
      <p:sp>
        <p:nvSpPr>
          <p:cNvPr id="5" name="Textfeld 4"/>
          <p:cNvSpPr txBox="1"/>
          <p:nvPr/>
        </p:nvSpPr>
        <p:spPr>
          <a:xfrm>
            <a:off x="384808" y="6459786"/>
            <a:ext cx="2624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200" dirty="0">
                <a:solidFill>
                  <a:schemeClr val="bg1"/>
                </a:solidFill>
              </a:rPr>
              <a:t>[1] http://www.w3.org/TR/vocab-dcat/</a:t>
            </a:r>
          </a:p>
        </p:txBody>
      </p:sp>
    </p:spTree>
    <p:extLst>
      <p:ext uri="{BB962C8B-B14F-4D97-AF65-F5344CB8AC3E}">
        <p14:creationId xmlns:p14="http://schemas.microsoft.com/office/powerpoint/2010/main" val="162764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4800" dirty="0" err="1" smtClean="0"/>
              <a:t>Thank</a:t>
            </a:r>
            <a:r>
              <a:rPr lang="de-AT" sz="4800" dirty="0" smtClean="0"/>
              <a:t> </a:t>
            </a:r>
            <a:r>
              <a:rPr lang="de-AT" sz="4800" dirty="0" err="1" smtClean="0"/>
              <a:t>you</a:t>
            </a:r>
            <a:r>
              <a:rPr lang="de-AT" sz="4800" dirty="0" smtClean="0"/>
              <a:t> </a:t>
            </a:r>
            <a:r>
              <a:rPr lang="de-AT" sz="4800" dirty="0" err="1" smtClean="0"/>
              <a:t>for</a:t>
            </a:r>
            <a:r>
              <a:rPr lang="de-AT" sz="4800" dirty="0" smtClean="0"/>
              <a:t> </a:t>
            </a:r>
            <a:r>
              <a:rPr lang="de-AT" sz="4800" dirty="0" err="1" smtClean="0"/>
              <a:t>your</a:t>
            </a:r>
            <a:r>
              <a:rPr lang="de-AT" sz="4800" dirty="0" smtClean="0"/>
              <a:t> </a:t>
            </a:r>
            <a:r>
              <a:rPr lang="de-AT" sz="4800" dirty="0" err="1" smtClean="0"/>
              <a:t>attention</a:t>
            </a:r>
            <a:r>
              <a:rPr lang="de-AT" sz="4800" dirty="0" smtClean="0"/>
              <a:t>.</a:t>
            </a:r>
            <a:endParaRPr lang="de-AT" sz="4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27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06088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Backup Slides</a:t>
            </a:r>
            <a:endParaRPr lang="en-US" sz="540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28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093446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cvude.pdf"/>
          <p:cNvPicPr/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418174" y="2114759"/>
            <a:ext cx="5295436" cy="4206293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Shape 19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lvl="0" indent="0">
              <a:buClrTx/>
              <a:buSzTx/>
              <a:buFontTx/>
              <a:buNone/>
              <a:defRPr sz="1800"/>
            </a:pPr>
            <a:r>
              <a:rPr sz="2300" dirty="0"/>
              <a:t>Avg. usage and completeness for different keys per portal</a:t>
            </a:r>
          </a:p>
          <a:p>
            <a:pPr marL="254066" lvl="0" indent="-254066">
              <a:defRPr sz="1800"/>
            </a:pPr>
            <a:r>
              <a:rPr sz="2300" b="1" dirty="0">
                <a:solidFill>
                  <a:srgbClr val="0070C0"/>
                </a:solidFill>
              </a:rPr>
              <a:t>core</a:t>
            </a:r>
            <a:r>
              <a:rPr sz="2300" dirty="0">
                <a:solidFill>
                  <a:srgbClr val="0070C0"/>
                </a:solidFill>
              </a:rPr>
              <a:t> </a:t>
            </a:r>
            <a:r>
              <a:rPr sz="2300" dirty="0"/>
              <a:t>and </a:t>
            </a:r>
            <a:r>
              <a:rPr sz="2300" b="1" dirty="0">
                <a:solidFill>
                  <a:srgbClr val="FF0000"/>
                </a:solidFill>
              </a:rPr>
              <a:t>resource</a:t>
            </a:r>
            <a:r>
              <a:rPr sz="2300" dirty="0">
                <a:solidFill>
                  <a:srgbClr val="FF0000"/>
                </a:solidFill>
              </a:rPr>
              <a:t> </a:t>
            </a:r>
            <a:r>
              <a:rPr sz="2300" dirty="0"/>
              <a:t/>
            </a:r>
            <a:br>
              <a:rPr sz="2300" dirty="0"/>
            </a:br>
            <a:r>
              <a:rPr sz="2300" dirty="0"/>
              <a:t>keys are well </a:t>
            </a:r>
            <a:br>
              <a:rPr sz="2300" dirty="0"/>
            </a:br>
            <a:r>
              <a:rPr sz="2300" dirty="0"/>
              <a:t>established</a:t>
            </a:r>
          </a:p>
          <a:p>
            <a:pPr marL="254066" lvl="0" indent="-254066">
              <a:defRPr sz="1800"/>
            </a:pPr>
            <a:r>
              <a:rPr sz="2300" b="1" dirty="0">
                <a:solidFill>
                  <a:srgbClr val="889D71"/>
                </a:solidFill>
              </a:rPr>
              <a:t>extra</a:t>
            </a:r>
            <a:r>
              <a:rPr sz="2300" dirty="0"/>
              <a:t> keys can be </a:t>
            </a:r>
            <a:br>
              <a:rPr sz="2300" dirty="0"/>
            </a:br>
            <a:r>
              <a:rPr sz="2300" dirty="0"/>
              <a:t>grouped</a:t>
            </a:r>
            <a:br>
              <a:rPr sz="2300" dirty="0"/>
            </a:br>
            <a:endParaRPr sz="2300" dirty="0"/>
          </a:p>
        </p:txBody>
      </p:sp>
      <p:sp>
        <p:nvSpPr>
          <p:cNvPr id="200" name="Shape 200"/>
          <p:cNvSpPr/>
          <p:nvPr/>
        </p:nvSpPr>
        <p:spPr>
          <a:xfrm>
            <a:off x="6431966" y="5983705"/>
            <a:ext cx="1369732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lvl="0"/>
            <a:r>
              <a:rPr lang="de-AT" sz="1600" dirty="0" smtClean="0"/>
              <a:t>(</a:t>
            </a:r>
            <a:r>
              <a:rPr sz="1600" dirty="0" err="1" smtClean="0"/>
              <a:t>complet</a:t>
            </a:r>
            <a:r>
              <a:rPr lang="de-AT" sz="1600" dirty="0" smtClean="0"/>
              <a:t>e</a:t>
            </a:r>
            <a:r>
              <a:rPr sz="1600" dirty="0" smtClean="0"/>
              <a:t>ness</a:t>
            </a:r>
            <a:r>
              <a:rPr lang="de-AT" sz="1600" dirty="0" smtClean="0"/>
              <a:t>)</a:t>
            </a:r>
            <a:endParaRPr sz="1600" dirty="0"/>
          </a:p>
        </p:txBody>
      </p:sp>
      <p:sp>
        <p:nvSpPr>
          <p:cNvPr id="201" name="Shape 201"/>
          <p:cNvSpPr/>
          <p:nvPr/>
        </p:nvSpPr>
        <p:spPr>
          <a:xfrm rot="16200000">
            <a:off x="3253484" y="3450358"/>
            <a:ext cx="60741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lvl="0"/>
            <a:r>
              <a:rPr lang="de-AT" sz="1600" dirty="0" smtClean="0"/>
              <a:t>(</a:t>
            </a:r>
            <a:r>
              <a:rPr sz="1600" dirty="0" smtClean="0"/>
              <a:t>usage</a:t>
            </a:r>
            <a:r>
              <a:rPr lang="de-AT" sz="1600" dirty="0" smtClean="0"/>
              <a:t>)</a:t>
            </a:r>
            <a:endParaRPr sz="1600" dirty="0"/>
          </a:p>
        </p:txBody>
      </p:sp>
      <p:sp>
        <p:nvSpPr>
          <p:cNvPr id="202" name="Shape 202"/>
          <p:cNvSpPr/>
          <p:nvPr/>
        </p:nvSpPr>
        <p:spPr>
          <a:xfrm>
            <a:off x="6431966" y="2242648"/>
            <a:ext cx="1717797" cy="1688781"/>
          </a:xfrm>
          <a:prstGeom prst="roundRect">
            <a:avLst>
              <a:gd name="adj" fmla="val 6399"/>
            </a:avLst>
          </a:prstGeom>
          <a:ln w="25400">
            <a:solidFill>
              <a:srgbClr val="5090B7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pPr>
            <a:r>
              <a:rPr lang="de-AT" dirty="0" smtClean="0"/>
              <a:t> </a:t>
            </a:r>
            <a:endParaRPr dirty="0"/>
          </a:p>
        </p:txBody>
      </p:sp>
      <p:sp>
        <p:nvSpPr>
          <p:cNvPr id="204" name="Shape 204"/>
          <p:cNvSpPr/>
          <p:nvPr/>
        </p:nvSpPr>
        <p:spPr>
          <a:xfrm>
            <a:off x="3952949" y="5353041"/>
            <a:ext cx="727694" cy="467701"/>
          </a:xfrm>
          <a:prstGeom prst="roundRect">
            <a:avLst>
              <a:gd name="adj" fmla="val 6399"/>
            </a:avLst>
          </a:prstGeom>
          <a:ln w="25400">
            <a:solidFill>
              <a:srgbClr val="5090B7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pPr>
            <a:endParaRPr/>
          </a:p>
        </p:txBody>
      </p:sp>
      <p:sp>
        <p:nvSpPr>
          <p:cNvPr id="206" name="Shape 206"/>
          <p:cNvSpPr/>
          <p:nvPr/>
        </p:nvSpPr>
        <p:spPr>
          <a:xfrm>
            <a:off x="3417423" y="4854146"/>
            <a:ext cx="1745539" cy="430887"/>
          </a:xfrm>
          <a:prstGeom prst="rect">
            <a:avLst/>
          </a:prstGeom>
          <a:solidFill>
            <a:srgbClr val="EEEDED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de-AT" sz="1400" dirty="0" smtClean="0">
                <a:latin typeface="Avenir Next"/>
                <a:ea typeface="Avenir Next"/>
                <a:cs typeface="Avenir Next"/>
                <a:sym typeface="Avenir Next"/>
              </a:rPr>
              <a:t>Portals </a:t>
            </a:r>
            <a:r>
              <a:rPr lang="de-AT" sz="1400" dirty="0" err="1" smtClean="0">
                <a:latin typeface="Avenir Next"/>
                <a:ea typeface="Avenir Next"/>
                <a:cs typeface="Avenir Next"/>
                <a:sym typeface="Avenir Next"/>
              </a:rPr>
              <a:t>with</a:t>
            </a:r>
            <a:r>
              <a:rPr lang="de-AT" sz="1400" dirty="0" smtClean="0">
                <a:latin typeface="Avenir Next"/>
                <a:ea typeface="Avenir Next"/>
                <a:cs typeface="Avenir Next"/>
                <a:sym typeface="Avenir Next"/>
              </a:rPr>
              <a:t> „</a:t>
            </a:r>
            <a:r>
              <a:rPr lang="de-AT" sz="1400" dirty="0" err="1" smtClean="0">
                <a:latin typeface="Avenir Next"/>
                <a:ea typeface="Avenir Next"/>
                <a:cs typeface="Avenir Next"/>
                <a:sym typeface="Avenir Next"/>
              </a:rPr>
              <a:t>unused</a:t>
            </a:r>
            <a:r>
              <a:rPr lang="de-AT" sz="1400" dirty="0" smtClean="0">
                <a:latin typeface="Avenir Next"/>
                <a:ea typeface="Avenir Next"/>
                <a:cs typeface="Avenir Next"/>
                <a:sym typeface="Avenir Next"/>
              </a:rPr>
              <a:t>“ extra </a:t>
            </a:r>
            <a:r>
              <a:rPr lang="de-AT" sz="1400" dirty="0" err="1" smtClean="0">
                <a:latin typeface="Avenir Next"/>
                <a:ea typeface="Avenir Next"/>
                <a:cs typeface="Avenir Next"/>
                <a:sym typeface="Avenir Next"/>
              </a:rPr>
              <a:t>keys</a:t>
            </a:r>
            <a:endParaRPr sz="1400" dirty="0">
              <a:latin typeface="Avenir Next"/>
              <a:ea typeface="Avenir Next"/>
              <a:cs typeface="Avenir Next"/>
              <a:sym typeface="Avenir Next"/>
            </a:endParaRPr>
          </a:p>
        </p:txBody>
      </p:sp>
      <p:sp>
        <p:nvSpPr>
          <p:cNvPr id="209" name="Shape 209"/>
          <p:cNvSpPr/>
          <p:nvPr/>
        </p:nvSpPr>
        <p:spPr>
          <a:xfrm>
            <a:off x="6266148" y="3985010"/>
            <a:ext cx="2143215" cy="215444"/>
          </a:xfrm>
          <a:prstGeom prst="rect">
            <a:avLst/>
          </a:prstGeom>
          <a:solidFill>
            <a:srgbClr val="EEEDED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de-AT" sz="1400" dirty="0" smtClean="0">
                <a:latin typeface="Avenir Next"/>
                <a:ea typeface="Avenir Next"/>
                <a:cs typeface="Avenir Next"/>
                <a:sym typeface="Avenir Next"/>
              </a:rPr>
              <a:t>Core </a:t>
            </a:r>
            <a:r>
              <a:rPr lang="de-AT" sz="1400" dirty="0" err="1" smtClean="0">
                <a:latin typeface="Avenir Next"/>
                <a:ea typeface="Avenir Next"/>
                <a:cs typeface="Avenir Next"/>
                <a:sym typeface="Avenir Next"/>
              </a:rPr>
              <a:t>keys</a:t>
            </a:r>
            <a:r>
              <a:rPr lang="de-AT" sz="1400" dirty="0" smtClean="0">
                <a:latin typeface="Avenir Next"/>
                <a:ea typeface="Avenir Next"/>
                <a:cs typeface="Avenir Next"/>
                <a:sym typeface="Avenir Next"/>
              </a:rPr>
              <a:t> „</a:t>
            </a:r>
            <a:r>
              <a:rPr lang="de-AT" sz="1400" dirty="0" err="1" smtClean="0">
                <a:latin typeface="Avenir Next"/>
                <a:ea typeface="Avenir Next"/>
                <a:cs typeface="Avenir Next"/>
                <a:sym typeface="Avenir Next"/>
              </a:rPr>
              <a:t>quite</a:t>
            </a:r>
            <a:r>
              <a:rPr lang="de-AT" sz="1400" dirty="0" smtClean="0">
                <a:latin typeface="Avenir Next"/>
                <a:ea typeface="Avenir Next"/>
                <a:cs typeface="Avenir Next"/>
                <a:sym typeface="Avenir Next"/>
              </a:rPr>
              <a:t>“ </a:t>
            </a:r>
            <a:r>
              <a:rPr lang="de-AT" sz="1400" dirty="0" err="1" smtClean="0">
                <a:latin typeface="Avenir Next"/>
                <a:ea typeface="Avenir Next"/>
                <a:cs typeface="Avenir Next"/>
                <a:sym typeface="Avenir Next"/>
              </a:rPr>
              <a:t>complete</a:t>
            </a:r>
            <a:endParaRPr sz="1400" dirty="0">
              <a:latin typeface="Avenir Next"/>
              <a:ea typeface="Avenir Next"/>
              <a:cs typeface="Avenir Next"/>
              <a:sym typeface="Avenir Next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 smtClean="0"/>
              <a:t>Usage</a:t>
            </a:r>
            <a:r>
              <a:rPr lang="de-AT" dirty="0" smtClean="0"/>
              <a:t> </a:t>
            </a:r>
            <a:r>
              <a:rPr lang="de-AT" dirty="0"/>
              <a:t>&amp; </a:t>
            </a:r>
            <a:r>
              <a:rPr lang="de-AT" dirty="0" err="1" smtClean="0"/>
              <a:t>Completeness</a:t>
            </a:r>
            <a:endParaRPr lang="de-AT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29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85127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" grpId="0" animBg="1"/>
      <p:bldP spid="204" grpId="0" animBg="1"/>
      <p:bldP spid="206" grpId="0" animBg="1"/>
      <p:bldP spid="20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 smtClean="0"/>
              <a:t>Accuracy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30</a:t>
            </a:fld>
            <a:endParaRPr lang="de-AT"/>
          </a:p>
        </p:txBody>
      </p:sp>
      <p:pic>
        <p:nvPicPr>
          <p:cNvPr id="5" name="qa.pdf"/>
          <p:cNvPicPr>
            <a:picLocks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40776" y="2966117"/>
            <a:ext cx="4629843" cy="2815892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6" name="Table 233"/>
          <p:cNvGraphicFramePr/>
          <p:nvPr>
            <p:extLst>
              <p:ext uri="{D42A27DB-BD31-4B8C-83A1-F6EECF244321}">
                <p14:modId xmlns:p14="http://schemas.microsoft.com/office/powerpoint/2010/main" val="3153423501"/>
              </p:ext>
            </p:extLst>
          </p:nvPr>
        </p:nvGraphicFramePr>
        <p:xfrm>
          <a:off x="587736" y="2163477"/>
          <a:ext cx="3213463" cy="1605280"/>
        </p:xfrm>
        <a:graphic>
          <a:graphicData uri="http://schemas.openxmlformats.org/drawingml/2006/table">
            <a:tbl>
              <a:tblPr bandRow="1"/>
              <a:tblGrid>
                <a:gridCol w="1725517"/>
                <a:gridCol w="750225"/>
                <a:gridCol w="737721"/>
              </a:tblGrid>
              <a:tr h="388740">
                <a:tc>
                  <a:txBody>
                    <a:bodyPr/>
                    <a:lstStyle/>
                    <a:p>
                      <a:pPr lvl="0" algn="ctr">
                        <a:defRPr sz="1800" b="0" i="0" cap="none"/>
                      </a:pPr>
                      <a:r>
                        <a:rPr dirty="0">
                          <a:latin typeface="+mn-lt"/>
                          <a:ea typeface="Avenir Next"/>
                          <a:cs typeface="Avenir Next"/>
                          <a:sym typeface="Avenir Next"/>
                        </a:rPr>
                        <a:t>HTTP </a:t>
                      </a:r>
                      <a:r>
                        <a:rPr lang="de-AT" dirty="0" smtClean="0">
                          <a:latin typeface="+mn-lt"/>
                          <a:ea typeface="Avenir Next"/>
                          <a:cs typeface="Avenir Next"/>
                          <a:sym typeface="Avenir Next"/>
                        </a:rPr>
                        <a:t>HEAD</a:t>
                      </a:r>
                      <a:endParaRPr dirty="0">
                        <a:latin typeface="+mn-lt"/>
                        <a:ea typeface="Avenir Next"/>
                        <a:cs typeface="Avenir Next"/>
                        <a:sym typeface="Avenir Next"/>
                      </a:endParaRPr>
                    </a:p>
                  </a:txBody>
                  <a:tcPr marL="63500" marR="63500" marT="63500" marB="6350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25400">
                      <a:solidFill>
                        <a:srgbClr val="6F6F6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defRPr sz="1800" b="0" i="0" cap="none"/>
                      </a:pPr>
                      <a:r>
                        <a:rPr dirty="0">
                          <a:latin typeface="+mn-lt"/>
                          <a:ea typeface="Avenir Next"/>
                          <a:cs typeface="Avenir Next"/>
                          <a:sym typeface="Avenir Next"/>
                        </a:rPr>
                        <a:t>1.64M</a:t>
                      </a:r>
                    </a:p>
                  </a:txBody>
                  <a:tcPr marL="63500" marR="63500" marT="63500" marB="6350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25400">
                      <a:solidFill>
                        <a:srgbClr val="6F6F6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defRPr sz="1800" b="0" i="0" cap="none">
                          <a:latin typeface="Avenir Next"/>
                          <a:ea typeface="Avenir Next"/>
                          <a:cs typeface="Avenir Next"/>
                          <a:sym typeface="Avenir Next"/>
                        </a:defRPr>
                      </a:pPr>
                      <a:endParaRPr>
                        <a:latin typeface="+mn-lt"/>
                      </a:endParaRPr>
                    </a:p>
                  </a:txBody>
                  <a:tcPr marL="63500" marR="63500" marT="63500" marB="6350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25400">
                      <a:solidFill>
                        <a:srgbClr val="6F6F6F"/>
                      </a:solidFill>
                    </a:lnB>
                    <a:noFill/>
                  </a:tcPr>
                </a:tc>
              </a:tr>
              <a:tr h="388740">
                <a:tc>
                  <a:txBody>
                    <a:bodyPr/>
                    <a:lstStyle/>
                    <a:p>
                      <a:pPr lvl="0" algn="ctr">
                        <a:defRPr sz="1800" b="0" i="0" cap="none"/>
                      </a:pPr>
                      <a:r>
                        <a:rPr dirty="0">
                          <a:latin typeface="+mn-lt"/>
                          <a:ea typeface="Avenir Next"/>
                          <a:cs typeface="Avenir Next"/>
                          <a:sym typeface="Avenir Next"/>
                        </a:rPr>
                        <a:t>response header</a:t>
                      </a:r>
                    </a:p>
                  </a:txBody>
                  <a:tcPr marL="63500" marR="63500" marT="63500" marB="6350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25400">
                      <a:solidFill>
                        <a:srgbClr val="6F6F6F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defRPr sz="1800" b="0" i="0" cap="none"/>
                      </a:pPr>
                      <a:r>
                        <a:rPr>
                          <a:latin typeface="+mn-lt"/>
                          <a:ea typeface="Avenir Next"/>
                          <a:cs typeface="Avenir Next"/>
                          <a:sym typeface="Avenir Next"/>
                        </a:rPr>
                        <a:t>1.55M</a:t>
                      </a:r>
                    </a:p>
                  </a:txBody>
                  <a:tcPr marL="63500" marR="63500" marT="63500" marB="6350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25400">
                      <a:solidFill>
                        <a:srgbClr val="6F6F6F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defRPr sz="1800" b="0" i="0" cap="none"/>
                      </a:pPr>
                      <a:r>
                        <a:rPr>
                          <a:latin typeface="+mn-lt"/>
                          <a:ea typeface="Avenir Next"/>
                          <a:cs typeface="Avenir Next"/>
                          <a:sym typeface="Avenir Next"/>
                        </a:rPr>
                        <a:t>94.5%</a:t>
                      </a:r>
                    </a:p>
                  </a:txBody>
                  <a:tcPr marL="63500" marR="63500" marT="63500" marB="6350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25400">
                      <a:solidFill>
                        <a:srgbClr val="6F6F6F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</a:tr>
              <a:tr h="388740">
                <a:tc>
                  <a:txBody>
                    <a:bodyPr/>
                    <a:lstStyle/>
                    <a:p>
                      <a:pPr lvl="0" algn="ctr">
                        <a:defRPr sz="1800" b="0" i="0" cap="none"/>
                      </a:pPr>
                      <a:r>
                        <a:rPr dirty="0">
                          <a:latin typeface="+mn-lt"/>
                          <a:ea typeface="Avenir Next"/>
                          <a:cs typeface="Avenir Next"/>
                          <a:sym typeface="Avenir Next"/>
                        </a:rPr>
                        <a:t>content-type</a:t>
                      </a:r>
                    </a:p>
                  </a:txBody>
                  <a:tcPr marL="63500" marR="63500" marT="63500" marB="6350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defRPr sz="1800" b="0" i="0" cap="none"/>
                      </a:pPr>
                      <a:r>
                        <a:rPr>
                          <a:latin typeface="+mn-lt"/>
                          <a:ea typeface="Avenir Next"/>
                          <a:cs typeface="Avenir Next"/>
                          <a:sym typeface="Avenir Next"/>
                        </a:rPr>
                        <a:t>1.4M</a:t>
                      </a:r>
                    </a:p>
                  </a:txBody>
                  <a:tcPr marL="63500" marR="63500" marT="63500" marB="6350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defRPr sz="1800" b="0" i="0" cap="none"/>
                      </a:pPr>
                      <a:r>
                        <a:rPr>
                          <a:latin typeface="+mn-lt"/>
                          <a:ea typeface="Avenir Next"/>
                          <a:cs typeface="Avenir Next"/>
                          <a:sym typeface="Avenir Next"/>
                        </a:rPr>
                        <a:t>85.4%</a:t>
                      </a:r>
                    </a:p>
                  </a:txBody>
                  <a:tcPr marL="63500" marR="63500" marT="63500" marB="6350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388740">
                <a:tc>
                  <a:txBody>
                    <a:bodyPr/>
                    <a:lstStyle/>
                    <a:p>
                      <a:pPr lvl="0" algn="ctr">
                        <a:defRPr sz="1800" b="0" i="0" cap="none"/>
                      </a:pPr>
                      <a:r>
                        <a:rPr dirty="0">
                          <a:latin typeface="+mn-lt"/>
                          <a:ea typeface="Avenir Next"/>
                          <a:cs typeface="Avenir Next"/>
                          <a:sym typeface="Avenir Next"/>
                        </a:rPr>
                        <a:t>content-length</a:t>
                      </a:r>
                    </a:p>
                  </a:txBody>
                  <a:tcPr marL="63500" marR="63500" marT="63500" marB="6350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defRPr sz="1800" b="0" i="0" cap="none"/>
                      </a:pPr>
                      <a:r>
                        <a:rPr dirty="0">
                          <a:latin typeface="+mn-lt"/>
                          <a:ea typeface="Avenir Next"/>
                          <a:cs typeface="Avenir Next"/>
                          <a:sym typeface="Avenir Next"/>
                        </a:rPr>
                        <a:t>1.1M</a:t>
                      </a:r>
                    </a:p>
                  </a:txBody>
                  <a:tcPr marL="63500" marR="63500" marT="63500" marB="6350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defRPr sz="1800" b="0" i="0" cap="none"/>
                      </a:pPr>
                      <a:r>
                        <a:rPr dirty="0">
                          <a:latin typeface="+mn-lt"/>
                          <a:ea typeface="Avenir Next"/>
                          <a:cs typeface="Avenir Next"/>
                          <a:sym typeface="Avenir Next"/>
                        </a:rPr>
                        <a:t>67%</a:t>
                      </a:r>
                    </a:p>
                  </a:txBody>
                  <a:tcPr marL="63500" marR="63500" marT="63500" marB="6350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Shape 230"/>
          <p:cNvSpPr txBox="1">
            <a:spLocks/>
          </p:cNvSpPr>
          <p:nvPr/>
        </p:nvSpPr>
        <p:spPr>
          <a:xfrm>
            <a:off x="587736" y="4066422"/>
            <a:ext cx="3573477" cy="186218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 lang="de-AT" sz="2400" dirty="0" smtClean="0"/>
              <a:t>Datasets </a:t>
            </a:r>
            <a:r>
              <a:rPr lang="de-AT" sz="2400" dirty="0" err="1" smtClean="0"/>
              <a:t>with</a:t>
            </a:r>
            <a:r>
              <a:rPr lang="de-AT" sz="2400" dirty="0" smtClean="0"/>
              <a:t> </a:t>
            </a:r>
            <a:r>
              <a:rPr lang="de-AT" sz="2400" dirty="0" err="1" smtClean="0"/>
              <a:t>metadata</a:t>
            </a:r>
            <a:r>
              <a:rPr lang="de-AT" sz="2400" dirty="0" smtClean="0"/>
              <a:t>:</a:t>
            </a:r>
          </a:p>
          <a:p>
            <a:pPr marL="520700" lvl="1" indent="-265112">
              <a:defRPr sz="1800"/>
            </a:pPr>
            <a:r>
              <a:rPr lang="de-AT" sz="2400" dirty="0" smtClean="0"/>
              <a:t>27K </a:t>
            </a:r>
            <a:r>
              <a:rPr lang="de-AT" sz="2400" b="1" dirty="0" err="1" smtClean="0">
                <a:solidFill>
                  <a:srgbClr val="0070C0"/>
                </a:solidFill>
              </a:rPr>
              <a:t>size</a:t>
            </a:r>
            <a:endParaRPr lang="de-AT" sz="2400" b="1" dirty="0" smtClean="0">
              <a:solidFill>
                <a:srgbClr val="0070C0"/>
              </a:solidFill>
            </a:endParaRPr>
          </a:p>
          <a:p>
            <a:pPr marL="520700" lvl="1" indent="-265112">
              <a:defRPr sz="1800"/>
            </a:pPr>
            <a:r>
              <a:rPr lang="de-AT" sz="2400" dirty="0" smtClean="0"/>
              <a:t>252K </a:t>
            </a:r>
            <a:r>
              <a:rPr lang="de-AT" sz="2400" b="1" dirty="0" smtClean="0">
                <a:solidFill>
                  <a:srgbClr val="FF0000"/>
                </a:solidFill>
              </a:rPr>
              <a:t>mime type</a:t>
            </a:r>
          </a:p>
          <a:p>
            <a:pPr marL="520700" lvl="1" indent="-265112">
              <a:defRPr sz="1800"/>
            </a:pPr>
            <a:r>
              <a:rPr lang="de-AT" sz="2400" dirty="0" smtClean="0"/>
              <a:t>625K </a:t>
            </a:r>
            <a:r>
              <a:rPr lang="de-AT" sz="2400" b="1" dirty="0" err="1" smtClean="0"/>
              <a:t>format</a:t>
            </a:r>
            <a:endParaRPr lang="de-AT" sz="2400" b="1" dirty="0"/>
          </a:p>
        </p:txBody>
      </p:sp>
    </p:spTree>
    <p:extLst>
      <p:ext uri="{BB962C8B-B14F-4D97-AF65-F5344CB8AC3E}">
        <p14:creationId xmlns:p14="http://schemas.microsoft.com/office/powerpoint/2010/main" val="320555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503" y="1990978"/>
            <a:ext cx="3246169" cy="196426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Formal </a:t>
            </a:r>
            <a:r>
              <a:rPr lang="de-AT" dirty="0" err="1" smtClean="0"/>
              <a:t>Metrics</a:t>
            </a:r>
            <a:r>
              <a:rPr lang="de-AT" dirty="0" smtClean="0"/>
              <a:t> (1/4)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sz="2400" b="1" dirty="0" err="1" smtClean="0"/>
              <a:t>Retrievability</a:t>
            </a:r>
            <a:r>
              <a:rPr lang="de-AT" sz="2400" b="1" dirty="0" smtClean="0"/>
              <a:t>:</a:t>
            </a:r>
          </a:p>
          <a:p>
            <a:endParaRPr lang="de-AT" sz="2400" b="1" dirty="0"/>
          </a:p>
          <a:p>
            <a:endParaRPr lang="de-AT" sz="2400" b="1" dirty="0" smtClean="0"/>
          </a:p>
          <a:p>
            <a:endParaRPr lang="de-AT" dirty="0" smtClean="0"/>
          </a:p>
          <a:p>
            <a:r>
              <a:rPr lang="de-AT" sz="2400" b="1" dirty="0" err="1" smtClean="0"/>
              <a:t>Usage</a:t>
            </a:r>
            <a:r>
              <a:rPr lang="de-AT" sz="2400" b="1" dirty="0" smtClean="0"/>
              <a:t>:</a:t>
            </a:r>
            <a:endParaRPr lang="de-AT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31</a:t>
            </a:fld>
            <a:endParaRPr lang="de-AT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713" y="4207329"/>
            <a:ext cx="6381750" cy="838200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569" y="5297613"/>
            <a:ext cx="3527146" cy="87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050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312" y="2500571"/>
            <a:ext cx="7217908" cy="122409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Formal </a:t>
            </a:r>
            <a:r>
              <a:rPr lang="de-AT" dirty="0" err="1" smtClean="0"/>
              <a:t>Metrics</a:t>
            </a:r>
            <a:r>
              <a:rPr lang="de-AT" dirty="0" smtClean="0"/>
              <a:t> (2/4)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sz="2400" b="1" dirty="0" smtClean="0"/>
              <a:t/>
            </a:r>
            <a:br>
              <a:rPr lang="de-AT" sz="2400" b="1" dirty="0" smtClean="0"/>
            </a:br>
            <a:r>
              <a:rPr lang="de-AT" sz="2400" b="1" dirty="0" err="1" smtClean="0"/>
              <a:t>Completeness</a:t>
            </a:r>
            <a:r>
              <a:rPr lang="de-AT" sz="2400" b="1" dirty="0" smtClean="0"/>
              <a:t>:</a:t>
            </a:r>
          </a:p>
          <a:p>
            <a:endParaRPr lang="de-AT" sz="2400" b="1" dirty="0"/>
          </a:p>
          <a:p>
            <a:endParaRPr lang="de-AT" sz="2400" b="1" dirty="0" smtClean="0"/>
          </a:p>
          <a:p>
            <a:endParaRPr lang="de-AT" dirty="0" smtClean="0"/>
          </a:p>
          <a:p>
            <a:endParaRPr lang="de-AT" sz="2400" b="1" dirty="0" smtClean="0"/>
          </a:p>
          <a:p>
            <a:endParaRPr lang="de-AT" sz="2400" b="1" dirty="0" smtClean="0"/>
          </a:p>
          <a:p>
            <a:endParaRPr lang="de-AT" sz="2400" b="1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32</a:t>
            </a:fld>
            <a:endParaRPr lang="de-AT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312" y="3724661"/>
            <a:ext cx="3915889" cy="175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26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41" y="3026531"/>
            <a:ext cx="4810125" cy="97155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Formal </a:t>
            </a:r>
            <a:r>
              <a:rPr lang="de-AT" dirty="0" err="1" smtClean="0"/>
              <a:t>Metrics</a:t>
            </a:r>
            <a:r>
              <a:rPr lang="de-AT" dirty="0" smtClean="0"/>
              <a:t> (3/4)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sz="2400" b="1" dirty="0" err="1" smtClean="0"/>
              <a:t>Accuracy</a:t>
            </a:r>
            <a:r>
              <a:rPr lang="de-AT" sz="2400" b="1" dirty="0" smtClean="0"/>
              <a:t>:</a:t>
            </a:r>
          </a:p>
          <a:p>
            <a:endParaRPr lang="de-AT" sz="2400" b="1" dirty="0"/>
          </a:p>
          <a:p>
            <a:endParaRPr lang="de-AT" sz="2400" b="1" dirty="0" smtClean="0"/>
          </a:p>
          <a:p>
            <a:endParaRPr lang="de-AT" dirty="0" smtClean="0"/>
          </a:p>
          <a:p>
            <a:r>
              <a:rPr lang="de-AT" sz="2400" b="1" dirty="0" err="1" smtClean="0"/>
              <a:t>Openness</a:t>
            </a:r>
            <a:r>
              <a:rPr lang="de-AT" sz="2400" b="1" dirty="0" smtClean="0"/>
              <a:t>:</a:t>
            </a:r>
            <a:endParaRPr lang="de-AT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33</a:t>
            </a:fld>
            <a:endParaRPr lang="de-AT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186" y="2188634"/>
            <a:ext cx="3590925" cy="885825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486" y="4293077"/>
            <a:ext cx="3152775" cy="1628775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2989" y="5107465"/>
            <a:ext cx="3988660" cy="67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920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Formal </a:t>
            </a:r>
            <a:r>
              <a:rPr lang="de-AT" dirty="0" err="1" smtClean="0"/>
              <a:t>Metrics</a:t>
            </a:r>
            <a:r>
              <a:rPr lang="de-AT" dirty="0" smtClean="0"/>
              <a:t> (4/4)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sz="2400" b="1" dirty="0" smtClean="0"/>
              <a:t/>
            </a:r>
            <a:br>
              <a:rPr lang="de-AT" sz="2400" b="1" dirty="0" smtClean="0"/>
            </a:br>
            <a:r>
              <a:rPr lang="de-AT" sz="2400" b="1" dirty="0" err="1" smtClean="0"/>
              <a:t>Contactability</a:t>
            </a:r>
            <a:r>
              <a:rPr lang="de-AT" sz="2400" b="1" dirty="0" smtClean="0"/>
              <a:t>:</a:t>
            </a:r>
          </a:p>
          <a:p>
            <a:endParaRPr lang="de-AT" sz="2400" b="1" dirty="0"/>
          </a:p>
          <a:p>
            <a:endParaRPr lang="de-AT" sz="2400" b="1" dirty="0" smtClean="0"/>
          </a:p>
          <a:p>
            <a:endParaRPr lang="de-AT" dirty="0" smtClean="0"/>
          </a:p>
          <a:p>
            <a:endParaRPr lang="de-AT" sz="2400" b="1" dirty="0" smtClean="0"/>
          </a:p>
          <a:p>
            <a:endParaRPr lang="de-AT" sz="2400" b="1" dirty="0" smtClean="0"/>
          </a:p>
          <a:p>
            <a:endParaRPr lang="de-AT" sz="2400" b="1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34</a:t>
            </a:fld>
            <a:endParaRPr lang="de-AT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146" y="2546767"/>
            <a:ext cx="3019425" cy="895350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48252"/>
            <a:ext cx="7673068" cy="171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33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49193"/>
            <a:ext cx="7543392" cy="1375613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Portals Detail</a:t>
            </a:r>
            <a:endParaRPr lang="de-AT" dirty="0"/>
          </a:p>
        </p:txBody>
      </p:sp>
      <p:pic>
        <p:nvPicPr>
          <p:cNvPr id="8" name="Inhaltsplatzhalt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78088" y="2924806"/>
            <a:ext cx="4087653" cy="3828406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35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37673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362" y="1864190"/>
            <a:ext cx="4272280" cy="366195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Austrian Data Portals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15026" y="5025229"/>
            <a:ext cx="4026930" cy="557832"/>
          </a:xfrm>
        </p:spPr>
        <p:txBody>
          <a:bodyPr>
            <a:noAutofit/>
          </a:bodyPr>
          <a:lstStyle/>
          <a:p>
            <a:r>
              <a:rPr lang="de-AT" sz="1800" dirty="0" smtClean="0"/>
              <a:t>Evolution </a:t>
            </a:r>
            <a:r>
              <a:rPr lang="de-AT" sz="1800" dirty="0" err="1" smtClean="0"/>
              <a:t>of</a:t>
            </a:r>
            <a:r>
              <a:rPr lang="de-AT" sz="1800" dirty="0" smtClean="0"/>
              <a:t> </a:t>
            </a:r>
            <a:r>
              <a:rPr lang="de-AT" sz="1800" dirty="0" err="1" smtClean="0"/>
              <a:t>datasets</a:t>
            </a:r>
            <a:r>
              <a:rPr lang="de-AT" sz="1800" dirty="0" smtClean="0"/>
              <a:t> </a:t>
            </a:r>
            <a:r>
              <a:rPr lang="de-AT" sz="1800" dirty="0" err="1" smtClean="0"/>
              <a:t>and</a:t>
            </a:r>
            <a:r>
              <a:rPr lang="de-AT" sz="1800" dirty="0" smtClean="0"/>
              <a:t> </a:t>
            </a:r>
            <a:r>
              <a:rPr lang="de-AT" sz="1800" dirty="0" err="1" smtClean="0"/>
              <a:t>quality</a:t>
            </a:r>
            <a:r>
              <a:rPr lang="de-AT" sz="1800" dirty="0" smtClean="0"/>
              <a:t> </a:t>
            </a:r>
            <a:r>
              <a:rPr lang="de-AT" sz="1800" dirty="0" err="1" smtClean="0"/>
              <a:t>metrics</a:t>
            </a:r>
            <a:endParaRPr lang="de-AT" sz="1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B2437-CE3F-4355-B609-7C3E71AAFC0F}" type="slidenum">
              <a:rPr lang="de-AT" smtClean="0"/>
              <a:t>36</a:t>
            </a:fld>
            <a:endParaRPr lang="de-AT"/>
          </a:p>
        </p:txBody>
      </p:sp>
      <p:graphicFrame>
        <p:nvGraphicFramePr>
          <p:cNvPr id="5" name="Objek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574313"/>
              </p:ext>
            </p:extLst>
          </p:nvPr>
        </p:nvGraphicFramePr>
        <p:xfrm>
          <a:off x="683611" y="2456383"/>
          <a:ext cx="4334999" cy="1679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Acrobat Document" r:id="rId5" imgW="7915032" imgH="3067050" progId="AcroExch.Document.DC">
                  <p:embed/>
                </p:oleObj>
              </mc:Choice>
              <mc:Fallback>
                <p:oleObj name="Acrobat Document" r:id="rId5" imgW="7915032" imgH="306705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3611" y="2456383"/>
                        <a:ext cx="4334999" cy="16797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k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923312"/>
              </p:ext>
            </p:extLst>
          </p:nvPr>
        </p:nvGraphicFramePr>
        <p:xfrm>
          <a:off x="613945" y="4136130"/>
          <a:ext cx="4406021" cy="77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Acrobat Document" r:id="rId7" imgW="8019888" imgH="1419225" progId="AcroExch.Document.DC">
                  <p:embed/>
                </p:oleObj>
              </mc:Choice>
              <mc:Fallback>
                <p:oleObj name="Acrobat Document" r:id="rId7" imgW="8019888" imgH="1419225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3945" y="4136130"/>
                        <a:ext cx="4406021" cy="779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Inhaltsplatzhalter 2"/>
          <p:cNvSpPr txBox="1">
            <a:spLocks/>
          </p:cNvSpPr>
          <p:nvPr/>
        </p:nvSpPr>
        <p:spPr>
          <a:xfrm>
            <a:off x="5463593" y="5052618"/>
            <a:ext cx="3088171" cy="55783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sz="1600" dirty="0" smtClean="0"/>
              <a:t>data.gv.at </a:t>
            </a:r>
            <a:r>
              <a:rPr lang="de-AT" sz="1600" dirty="0" err="1" smtClean="0"/>
              <a:t>as</a:t>
            </a:r>
            <a:r>
              <a:rPr lang="de-AT" sz="1600" dirty="0" smtClean="0"/>
              <a:t> </a:t>
            </a:r>
            <a:r>
              <a:rPr lang="de-AT" sz="1600" dirty="0" err="1" smtClean="0"/>
              <a:t>harvesting</a:t>
            </a:r>
            <a:r>
              <a:rPr lang="de-AT" sz="1600" dirty="0" smtClean="0"/>
              <a:t> </a:t>
            </a:r>
            <a:r>
              <a:rPr lang="de-AT" sz="1600" dirty="0" err="1" smtClean="0"/>
              <a:t>portal</a:t>
            </a:r>
            <a:endParaRPr lang="de-AT" sz="1600" dirty="0"/>
          </a:p>
        </p:txBody>
      </p:sp>
    </p:spTree>
    <p:extLst>
      <p:ext uri="{BB962C8B-B14F-4D97-AF65-F5344CB8AC3E}">
        <p14:creationId xmlns:p14="http://schemas.microsoft.com/office/powerpoint/2010/main" val="3553207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ückblick">
  <a:themeElements>
    <a:clrScheme name="Warmes Blau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ückblick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ückblick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Sitzungssaal]]</Template>
  <TotalTime>0</TotalTime>
  <Words>1199</Words>
  <Application>Microsoft Office PowerPoint</Application>
  <PresentationFormat>Bildschirmpräsentation (4:3)</PresentationFormat>
  <Paragraphs>341</Paragraphs>
  <Slides>36</Slides>
  <Notes>13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2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36</vt:i4>
      </vt:variant>
    </vt:vector>
  </HeadingPairs>
  <TitlesOfParts>
    <vt:vector size="48" baseType="lpstr">
      <vt:lpstr>Arial</vt:lpstr>
      <vt:lpstr>Avenir Next</vt:lpstr>
      <vt:lpstr>Calibri</vt:lpstr>
      <vt:lpstr>Calibri Light</vt:lpstr>
      <vt:lpstr>Courier New</vt:lpstr>
      <vt:lpstr>Optima</vt:lpstr>
      <vt:lpstr>Source Code Pro</vt:lpstr>
      <vt:lpstr>Wingdings</vt:lpstr>
      <vt:lpstr>Wingdings 2</vt:lpstr>
      <vt:lpstr>HDOfficeLightV0</vt:lpstr>
      <vt:lpstr>Rückblick</vt:lpstr>
      <vt:lpstr>Acrobat Document</vt:lpstr>
      <vt:lpstr>Open Data Quality  Assessment and Evolution of (Meta-)Data Quality in the Open Data Landscape</vt:lpstr>
      <vt:lpstr>Contents</vt:lpstr>
      <vt:lpstr>What is Open Data? </vt:lpstr>
      <vt:lpstr>The Open Data Landscape</vt:lpstr>
      <vt:lpstr>Open Data Portals</vt:lpstr>
      <vt:lpstr>E.g.: data.gv.at</vt:lpstr>
      <vt:lpstr>CKAN Metadata (JSON)</vt:lpstr>
      <vt:lpstr>What is the Problem?</vt:lpstr>
      <vt:lpstr>Hypothesis</vt:lpstr>
      <vt:lpstr>Quality Metrics</vt:lpstr>
      <vt:lpstr>Metrics</vt:lpstr>
      <vt:lpstr>Concrete Metrics (1/2)</vt:lpstr>
      <vt:lpstr>Concrete Metrics (2/2)</vt:lpstr>
      <vt:lpstr>Automated QA Framework</vt:lpstr>
      <vt:lpstr>Architecture</vt:lpstr>
      <vt:lpstr>Open Data Portal Watch</vt:lpstr>
      <vt:lpstr>Findings</vt:lpstr>
      <vt:lpstr>Portals Overview</vt:lpstr>
      <vt:lpstr>Portal Overlap</vt:lpstr>
      <vt:lpstr>Retrievability</vt:lpstr>
      <vt:lpstr>Openness</vt:lpstr>
      <vt:lpstr>Contactability</vt:lpstr>
      <vt:lpstr>Conclusion</vt:lpstr>
      <vt:lpstr>Impact</vt:lpstr>
      <vt:lpstr>Current and Future Work</vt:lpstr>
      <vt:lpstr>Towards a general QA Framework</vt:lpstr>
      <vt:lpstr>Thank you for your attention.</vt:lpstr>
      <vt:lpstr>Backup Slides</vt:lpstr>
      <vt:lpstr>Usage &amp; Completeness</vt:lpstr>
      <vt:lpstr>Accuracy</vt:lpstr>
      <vt:lpstr>Formal Metrics (1/4)</vt:lpstr>
      <vt:lpstr>Formal Metrics (2/4)</vt:lpstr>
      <vt:lpstr>Formal Metrics (3/4)</vt:lpstr>
      <vt:lpstr>Formal Metrics (4/4)</vt:lpstr>
      <vt:lpstr>Portals Detail</vt:lpstr>
      <vt:lpstr>Austrian Data Portals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Data Quality Assessment and Evolution of (Meta-)Data Quality in the Open Data Landscape</dc:title>
  <dc:creator>Sebastian Neumaier</dc:creator>
  <cp:lastModifiedBy>Sebastian Neumaier</cp:lastModifiedBy>
  <cp:revision>57</cp:revision>
  <dcterms:created xsi:type="dcterms:W3CDTF">2015-11-03T13:30:50Z</dcterms:created>
  <dcterms:modified xsi:type="dcterms:W3CDTF">2016-11-28T13:47:36Z</dcterms:modified>
</cp:coreProperties>
</file>