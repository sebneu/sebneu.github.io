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2" r:id="rId2"/>
    <p:sldMasterId id="2147483684" r:id="rId3"/>
  </p:sldMasterIdLst>
  <p:notesMasterIdLst>
    <p:notesMasterId r:id="rId13"/>
  </p:notesMasterIdLst>
  <p:handoutMasterIdLst>
    <p:handoutMasterId r:id="rId14"/>
  </p:handoutMasterIdLst>
  <p:sldIdLst>
    <p:sldId id="257" r:id="rId4"/>
    <p:sldId id="298" r:id="rId5"/>
    <p:sldId id="300" r:id="rId6"/>
    <p:sldId id="301" r:id="rId7"/>
    <p:sldId id="303" r:id="rId8"/>
    <p:sldId id="304" r:id="rId9"/>
    <p:sldId id="302" r:id="rId10"/>
    <p:sldId id="305" r:id="rId11"/>
    <p:sldId id="276" r:id="rId12"/>
  </p:sldIdLst>
  <p:sldSz cx="9144000" cy="6858000" type="screen4x3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B9BD5"/>
    <a:srgbClr val="6A96C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Keine Formatvorlage, kein Raster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186" autoAdjust="0"/>
    <p:restoredTop sz="89396" autoAdjust="0"/>
  </p:normalViewPr>
  <p:slideViewPr>
    <p:cSldViewPr snapToGrid="0">
      <p:cViewPr varScale="1">
        <p:scale>
          <a:sx n="98" d="100"/>
          <a:sy n="98" d="100"/>
        </p:scale>
        <p:origin x="185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presProps" Target="presProps.xml"/><Relationship Id="rId10" Type="http://schemas.openxmlformats.org/officeDocument/2006/relationships/slide" Target="slides/slide7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3F6CAC8-C865-439C-B16C-E492C30A4C63}" type="datetimeFigureOut">
              <a:rPr lang="en-US" smtClean="0"/>
              <a:t>11/30/2016</a:t>
            </a:fld>
            <a:endParaRPr lang="en-US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D5214C-829A-4AE8-A066-5F37BB17B882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7787257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601122-C12C-4A76-90DD-A370507D9451}" type="datetimeFigureOut">
              <a:rPr lang="en-US" smtClean="0"/>
              <a:t>11/30/2016</a:t>
            </a:fld>
            <a:endParaRPr lang="en-US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E6CEF34-70B2-4A49-BBE5-E5FFC79283B8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1897865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15870128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smtClean="0"/>
              <a:t>Formatvorlage des Untertitelmasters durch Klicken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80023-2CD6-4376-AA77-4237093685EF}" type="datetime1">
              <a:rPr lang="en-US" smtClean="0"/>
              <a:t>11/30/2016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B03EE-0F65-4FB3-87AD-3AF455168DB9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69900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E31039-9D10-48A4-AF27-02225D98CF87}" type="datetime1">
              <a:rPr lang="en-US" smtClean="0"/>
              <a:t>11/30/2016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B03EE-0F65-4FB3-87AD-3AF455168DB9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6078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C75B65-A596-4A84-8609-49EA144A6783}" type="datetime1">
              <a:rPr lang="en-US" smtClean="0"/>
              <a:t>11/30/2016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B03EE-0F65-4FB3-87AD-3AF455168DB9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81757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7DA458-B8EA-4327-B3A6-CC2E5E75EE6C}" type="datetime1">
              <a:rPr lang="en-US" smtClean="0"/>
              <a:t>11/30/2016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B03EE-0F65-4FB3-87AD-3AF455168DB9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65077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6F66DF-2653-4CE5-B3EA-3EC8B6BAD671}" type="datetime1">
              <a:rPr lang="en-US" smtClean="0"/>
              <a:t>11/30/2016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B03EE-0F65-4FB3-87AD-3AF455168DB9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03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AB0749-E614-4DE9-829A-1851509FB8D5}" type="datetime1">
              <a:rPr lang="en-US" smtClean="0"/>
              <a:t>11/30/2016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B03EE-0F65-4FB3-87AD-3AF455168DB9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60807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59264E-F924-4C96-86B8-D7D8A2F255F2}" type="datetime1">
              <a:rPr lang="en-US" smtClean="0"/>
              <a:t>11/30/2016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B03EE-0F65-4FB3-87AD-3AF455168DB9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83325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5A774-492C-4D3D-9A19-74F4D5FA4F81}" type="datetime1">
              <a:rPr lang="en-US" smtClean="0"/>
              <a:t>11/30/2016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B03EE-0F65-4FB3-87AD-3AF455168DB9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65405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 smtClean="0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1B3D53-C921-4E9F-8674-F06BB01FD335}" type="datetime1">
              <a:rPr lang="en-US" smtClean="0"/>
              <a:t>11/30/2016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B03EE-0F65-4FB3-87AD-3AF455168DB9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37227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05879-A771-4CA0-9683-49C2237E6D60}" type="datetime1">
              <a:rPr lang="en-US" smtClean="0"/>
              <a:t>11/30/2016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B03EE-0F65-4FB3-87AD-3AF455168DB9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05509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DFAFDC-A8D1-405D-A263-2CDE2C285ECD}" type="datetime1">
              <a:rPr lang="en-US" smtClean="0"/>
              <a:t>11/30/2016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B03EE-0F65-4FB3-87AD-3AF455168DB9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95987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de-DE" smtClean="0"/>
              <a:t>Titelmasterformat durch Klicken bearbeiten</a:t>
            </a:r>
            <a:endParaRPr lang="de-AT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de-DE" smtClean="0"/>
              <a:t>Formatvorlage des Untertitelmasters durch Klicken bearbeiten</a:t>
            </a:r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95837390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AT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94680025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de-DE" smtClean="0"/>
              <a:t>Titelmasterformat durch Klicken bearbeiten</a:t>
            </a:r>
            <a:endParaRPr lang="de-AT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de-DE" smtClean="0"/>
              <a:t>Textmasterformate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158671499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AT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461963" y="1857375"/>
            <a:ext cx="3781425" cy="45005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AT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395788" y="1857375"/>
            <a:ext cx="3781425" cy="45005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52518522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de-DE" smtClean="0"/>
              <a:t>Titelmasterformat durch Klicken bearbeiten</a:t>
            </a:r>
            <a:endParaRPr lang="de-AT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Textmasterformate durch Klicken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AT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Textmasterformate durch Klicken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35417730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70781101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8608760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 smtClean="0"/>
              <a:t>Titelmasterformat durch Klicken bearbeiten</a:t>
            </a:r>
            <a:endParaRPr lang="de-AT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AT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 smtClean="0"/>
              <a:t>Textmasterformate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215042686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 smtClean="0"/>
              <a:t>Titelmasterformat durch Klicken bearbeiten</a:t>
            </a:r>
            <a:endParaRPr lang="de-AT"/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de-AT" noProof="0" smtClean="0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 smtClean="0"/>
              <a:t>Textmasterformate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112007292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AT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744592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6248400" y="431800"/>
            <a:ext cx="1928813" cy="5926138"/>
          </a:xfrm>
        </p:spPr>
        <p:txBody>
          <a:bodyPr vert="eaVert"/>
          <a:lstStyle/>
          <a:p>
            <a:r>
              <a:rPr lang="de-DE" smtClean="0"/>
              <a:t>Titelmasterformat durch Klicken bearbeiten</a:t>
            </a:r>
            <a:endParaRPr lang="de-AT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461963" y="431800"/>
            <a:ext cx="5634037" cy="5926138"/>
          </a:xfrm>
        </p:spPr>
        <p:txBody>
          <a:bodyPr vert="eaVert"/>
          <a:lstStyle/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44880652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elfolie"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 11"/>
          <p:cNvSpPr>
            <a:spLocks noGrp="1"/>
          </p:cNvSpPr>
          <p:nvPr>
            <p:ph type="title"/>
          </p:nvPr>
        </p:nvSpPr>
        <p:spPr>
          <a:xfrm>
            <a:off x="462405" y="3654044"/>
            <a:ext cx="7073458" cy="1150566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defRPr sz="2800">
                <a:latin typeface="Goudy Old Style"/>
                <a:ea typeface="Goudy Old Style"/>
                <a:cs typeface="Goudy Old Style"/>
                <a:sym typeface="Goudy Old Style"/>
              </a:defRPr>
            </a:lvl1pPr>
          </a:lstStyle>
          <a:p>
            <a:r>
              <a:t>Title Text</a:t>
            </a:r>
          </a:p>
        </p:txBody>
      </p:sp>
      <p:sp>
        <p:nvSpPr>
          <p:cNvPr id="12" name="Shape 12"/>
          <p:cNvSpPr>
            <a:spLocks noGrp="1"/>
          </p:cNvSpPr>
          <p:nvPr>
            <p:ph type="body" sz="half" idx="1"/>
          </p:nvPr>
        </p:nvSpPr>
        <p:spPr>
          <a:xfrm>
            <a:off x="462405" y="4804609"/>
            <a:ext cx="7073458" cy="205339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ClrTx/>
              <a:buSzTx/>
              <a:buFontTx/>
              <a:buNone/>
              <a:defRPr sz="3600">
                <a:solidFill>
                  <a:srgbClr val="FFFFFF"/>
                </a:solidFill>
              </a:defRPr>
            </a:lvl1pPr>
            <a:lvl2pPr marL="0" indent="457200">
              <a:buClrTx/>
              <a:buSzTx/>
              <a:buFontTx/>
              <a:buNone/>
              <a:defRPr sz="3600">
                <a:solidFill>
                  <a:srgbClr val="FFFFFF"/>
                </a:solidFill>
              </a:defRPr>
            </a:lvl2pPr>
            <a:lvl3pPr marL="0" indent="914400">
              <a:buClrTx/>
              <a:buSzTx/>
              <a:buFontTx/>
              <a:buNone/>
              <a:defRPr sz="3600">
                <a:solidFill>
                  <a:srgbClr val="FFFFFF"/>
                </a:solidFill>
              </a:defRPr>
            </a:lvl3pPr>
            <a:lvl4pPr marL="0" indent="1371600">
              <a:buClrTx/>
              <a:buSzTx/>
              <a:buFontTx/>
              <a:buNone/>
              <a:defRPr sz="3600">
                <a:solidFill>
                  <a:srgbClr val="FFFFFF"/>
                </a:solidFill>
              </a:defRPr>
            </a:lvl4pPr>
            <a:lvl5pPr marL="0" indent="1828800">
              <a:buClrTx/>
              <a:buSzTx/>
              <a:buFontTx/>
              <a:buNone/>
              <a:defRPr sz="3600">
                <a:solidFill>
                  <a:srgbClr val="FFFFFF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hape 13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‹Nr.›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12363869"/>
      </p:ext>
    </p:extLst>
  </p:cSld>
  <p:clrMapOvr>
    <a:masterClrMapping/>
  </p:clrMapOvr>
  <p:transition spd="med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el und Inhalt"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20"/>
          <p:cNvSpPr>
            <a:spLocks noGrp="1"/>
          </p:cNvSpPr>
          <p:nvPr>
            <p:ph type="title"/>
          </p:nvPr>
        </p:nvSpPr>
        <p:spPr>
          <a:xfrm>
            <a:off x="462018" y="164377"/>
            <a:ext cx="6270228" cy="1674882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21" name="Shape 21"/>
          <p:cNvSpPr>
            <a:spLocks noGrp="1"/>
          </p:cNvSpPr>
          <p:nvPr>
            <p:ph type="body" idx="1"/>
          </p:nvPr>
        </p:nvSpPr>
        <p:spPr>
          <a:xfrm>
            <a:off x="462018" y="1839258"/>
            <a:ext cx="7740596" cy="5018742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" name="Shape 22"/>
          <p:cNvSpPr>
            <a:spLocks noGrp="1"/>
          </p:cNvSpPr>
          <p:nvPr>
            <p:ph type="sldNum" sz="quarter" idx="2"/>
          </p:nvPr>
        </p:nvSpPr>
        <p:spPr>
          <a:xfrm>
            <a:off x="462406" y="6402198"/>
            <a:ext cx="892151" cy="24384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‹Nr.›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1991365"/>
      </p:ext>
    </p:extLst>
  </p:cSld>
  <p:clrMapOvr>
    <a:masterClrMapping/>
  </p:clrMapOvr>
  <p:transition spd="med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Nur Titel"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Shape 29"/>
          <p:cNvSpPr>
            <a:spLocks noGrp="1"/>
          </p:cNvSpPr>
          <p:nvPr>
            <p:ph type="title"/>
          </p:nvPr>
        </p:nvSpPr>
        <p:spPr>
          <a:xfrm>
            <a:off x="465171" y="146261"/>
            <a:ext cx="6280167" cy="1711114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30" name="Shape 30"/>
          <p:cNvSpPr>
            <a:spLocks noGrp="1"/>
          </p:cNvSpPr>
          <p:nvPr>
            <p:ph type="body" idx="1"/>
          </p:nvPr>
        </p:nvSpPr>
        <p:spPr>
          <a:xfrm>
            <a:off x="468312" y="1857375"/>
            <a:ext cx="8485188" cy="5000625"/>
          </a:xfrm>
          <a:prstGeom prst="rect">
            <a:avLst/>
          </a:prstGeom>
        </p:spPr>
        <p:txBody>
          <a:bodyPr/>
          <a:lstStyle>
            <a:lvl1pPr>
              <a:buClrTx/>
              <a:buSzTx/>
              <a:buFontTx/>
              <a:buNone/>
            </a:lvl1pPr>
            <a:lvl2pPr>
              <a:buClrTx/>
              <a:buFontTx/>
            </a:lvl2pPr>
            <a:lvl3pPr>
              <a:buClrTx/>
              <a:buFontTx/>
            </a:lvl3pPr>
            <a:lvl4pPr>
              <a:buClrTx/>
              <a:buFontTx/>
            </a:lvl4pPr>
            <a:lvl5pPr>
              <a:buClrTx/>
              <a:buFontTx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" name="Shape 31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‹Nr.›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30771547"/>
      </p:ext>
    </p:extLst>
  </p:cSld>
  <p:clrMapOvr>
    <a:masterClrMapping/>
  </p:clrMapOvr>
  <p:transition spd="med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Zwei Inhalte"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Shape 38"/>
          <p:cNvSpPr>
            <a:spLocks noGrp="1"/>
          </p:cNvSpPr>
          <p:nvPr>
            <p:ph type="title"/>
          </p:nvPr>
        </p:nvSpPr>
        <p:spPr>
          <a:xfrm>
            <a:off x="462405" y="157374"/>
            <a:ext cx="6281341" cy="1688888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39" name="Shape 39"/>
          <p:cNvSpPr>
            <a:spLocks noGrp="1"/>
          </p:cNvSpPr>
          <p:nvPr>
            <p:ph type="body" sz="half" idx="1"/>
          </p:nvPr>
        </p:nvSpPr>
        <p:spPr>
          <a:xfrm>
            <a:off x="462405" y="1846261"/>
            <a:ext cx="3960001" cy="5011739"/>
          </a:xfrm>
          <a:prstGeom prst="rect">
            <a:avLst/>
          </a:prstGeom>
        </p:spPr>
        <p:txBody>
          <a:bodyPr/>
          <a:lstStyle>
            <a:lvl1pPr>
              <a:defRPr sz="2200"/>
            </a:lvl1pPr>
            <a:lvl2pPr marL="569912" indent="-314325">
              <a:defRPr sz="2200"/>
            </a:lvl2pPr>
            <a:lvl3pPr marL="865893" indent="-335668">
              <a:defRPr sz="2200"/>
            </a:lvl3pPr>
            <a:lvl4pPr marL="1182489" indent="-377627">
              <a:defRPr sz="2200"/>
            </a:lvl4pPr>
            <a:lvl5pPr marL="1444030" indent="-364530">
              <a:defRPr sz="22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0" name="Shape 40"/>
          <p:cNvSpPr>
            <a:spLocks noGrp="1"/>
          </p:cNvSpPr>
          <p:nvPr>
            <p:ph type="sldNum" sz="quarter" idx="2"/>
          </p:nvPr>
        </p:nvSpPr>
        <p:spPr>
          <a:xfrm>
            <a:off x="462406" y="6402198"/>
            <a:ext cx="892151" cy="24384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‹Nr.›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33119789"/>
      </p:ext>
    </p:extLst>
  </p:cSld>
  <p:clrMapOvr>
    <a:masterClrMapping/>
  </p:clrMapOvr>
  <p:transition spd="med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Zwei Inhalte Vergleich"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Shape 47"/>
          <p:cNvSpPr>
            <a:spLocks noGrp="1"/>
          </p:cNvSpPr>
          <p:nvPr>
            <p:ph type="title"/>
          </p:nvPr>
        </p:nvSpPr>
        <p:spPr>
          <a:xfrm>
            <a:off x="462405" y="0"/>
            <a:ext cx="6281341" cy="2003637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48" name="Shape 48"/>
          <p:cNvSpPr>
            <a:spLocks noGrp="1"/>
          </p:cNvSpPr>
          <p:nvPr>
            <p:ph type="body" sz="half" idx="1"/>
          </p:nvPr>
        </p:nvSpPr>
        <p:spPr>
          <a:xfrm>
            <a:off x="462405" y="2571744"/>
            <a:ext cx="3960001" cy="4286256"/>
          </a:xfrm>
          <a:prstGeom prst="rect">
            <a:avLst/>
          </a:prstGeom>
        </p:spPr>
        <p:txBody>
          <a:bodyPr/>
          <a:lstStyle>
            <a:lvl1pPr>
              <a:defRPr sz="2200"/>
            </a:lvl1pPr>
            <a:lvl2pPr marL="569912" indent="-314325">
              <a:defRPr sz="2200"/>
            </a:lvl2pPr>
            <a:lvl3pPr marL="865893" indent="-335668">
              <a:defRPr sz="2200"/>
            </a:lvl3pPr>
            <a:lvl4pPr marL="1182489" indent="-377627">
              <a:defRPr sz="2200"/>
            </a:lvl4pPr>
            <a:lvl5pPr marL="1444030" indent="-364530">
              <a:defRPr sz="22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9" name="Shape 49"/>
          <p:cNvSpPr>
            <a:spLocks noGrp="1"/>
          </p:cNvSpPr>
          <p:nvPr>
            <p:ph type="sldNum" sz="quarter" idx="2"/>
          </p:nvPr>
        </p:nvSpPr>
        <p:spPr>
          <a:xfrm>
            <a:off x="462406" y="6402198"/>
            <a:ext cx="892151" cy="24384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‹Nr.›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27003762"/>
      </p:ext>
    </p:extLst>
  </p:cSld>
  <p:clrMapOvr>
    <a:masterClrMapping/>
  </p:clrMapOvr>
  <p:transition spd="med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Leere 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Shape 56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‹Nr.›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20001320"/>
      </p:ext>
    </p:extLst>
  </p:cSld>
  <p:clrMapOvr>
    <a:masterClrMapping/>
  </p:clrMapOvr>
  <p:transition spd="med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Abschlussfolie"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Shape 63"/>
          <p:cNvSpPr/>
          <p:nvPr/>
        </p:nvSpPr>
        <p:spPr>
          <a:xfrm>
            <a:off x="468311" y="2357429"/>
            <a:ext cx="5103822" cy="3260347"/>
          </a:xfrm>
          <a:prstGeom prst="rect">
            <a:avLst/>
          </a:prstGeom>
          <a:solidFill>
            <a:srgbClr val="FFFFFF"/>
          </a:solidFill>
          <a:ln w="12700">
            <a:solidFill>
              <a:srgbClr val="808080"/>
            </a:solidFill>
            <a:bevel/>
          </a:ln>
          <a:effectLst>
            <a:outerShdw blurRad="50800" dist="38100" dir="2700000" rotWithShape="0">
              <a:srgbClr val="000000">
                <a:alpha val="40000"/>
              </a:srgbClr>
            </a:outerShdw>
          </a:effectLst>
        </p:spPr>
        <p:txBody>
          <a:bodyPr lIns="45719" rIns="45719" anchor="ctr"/>
          <a:lstStyle/>
          <a:p>
            <a:pPr algn="ctr" hangingPunct="0">
              <a:defRPr>
                <a:latin typeface="Avenir Next"/>
                <a:ea typeface="Avenir Next"/>
                <a:cs typeface="Avenir Next"/>
                <a:sym typeface="Avenir Next"/>
              </a:defRPr>
            </a:pPr>
            <a:endParaRPr kern="0">
              <a:solidFill>
                <a:srgbClr val="000000"/>
              </a:solidFill>
              <a:latin typeface="Avenir Next"/>
              <a:ea typeface="Avenir Next"/>
              <a:cs typeface="Avenir Next"/>
              <a:sym typeface="Avenir Next"/>
            </a:endParaRPr>
          </a:p>
        </p:txBody>
      </p:sp>
      <p:pic>
        <p:nvPicPr>
          <p:cNvPr id="64" name="image4.png" descr="Logo-für-VK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888975" y="2552694"/>
            <a:ext cx="488282" cy="2233628"/>
          </a:xfrm>
          <a:prstGeom prst="rect">
            <a:avLst/>
          </a:prstGeom>
          <a:ln w="12700">
            <a:miter lim="400000"/>
          </a:ln>
        </p:spPr>
      </p:pic>
      <p:sp>
        <p:nvSpPr>
          <p:cNvPr id="65" name="Shape 65"/>
          <p:cNvSpPr>
            <a:spLocks noGrp="1"/>
          </p:cNvSpPr>
          <p:nvPr>
            <p:ph type="body" sz="quarter" idx="1"/>
          </p:nvPr>
        </p:nvSpPr>
        <p:spPr>
          <a:xfrm>
            <a:off x="1928817" y="3071810"/>
            <a:ext cx="3260323" cy="378619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ClrTx/>
              <a:buSzTx/>
              <a:buFontTx/>
              <a:buNone/>
              <a:defRPr sz="1000">
                <a:latin typeface="Palatino Linotype"/>
                <a:ea typeface="Palatino Linotype"/>
                <a:cs typeface="Palatino Linotype"/>
                <a:sym typeface="Palatino Linotype"/>
              </a:defRPr>
            </a:lvl1pPr>
            <a:lvl2pPr marL="0" indent="0">
              <a:spcBef>
                <a:spcPts val="0"/>
              </a:spcBef>
              <a:buClrTx/>
              <a:buSzTx/>
              <a:buFontTx/>
              <a:buNone/>
              <a:defRPr sz="1000">
                <a:latin typeface="Palatino Linotype"/>
                <a:ea typeface="Palatino Linotype"/>
                <a:cs typeface="Palatino Linotype"/>
                <a:sym typeface="Palatino Linotype"/>
              </a:defRPr>
            </a:lvl2pPr>
            <a:lvl3pPr marL="0" indent="0">
              <a:spcBef>
                <a:spcPts val="0"/>
              </a:spcBef>
              <a:buClrTx/>
              <a:buSzTx/>
              <a:buFontTx/>
              <a:buNone/>
              <a:defRPr sz="1000">
                <a:latin typeface="Palatino Linotype"/>
                <a:ea typeface="Palatino Linotype"/>
                <a:cs typeface="Palatino Linotype"/>
                <a:sym typeface="Palatino Linotype"/>
              </a:defRPr>
            </a:lvl3pPr>
            <a:lvl4pPr marL="0" indent="0">
              <a:spcBef>
                <a:spcPts val="0"/>
              </a:spcBef>
              <a:buClrTx/>
              <a:buSzTx/>
              <a:buFontTx/>
              <a:buNone/>
              <a:defRPr sz="1000">
                <a:latin typeface="Palatino Linotype"/>
                <a:ea typeface="Palatino Linotype"/>
                <a:cs typeface="Palatino Linotype"/>
                <a:sym typeface="Palatino Linotype"/>
              </a:defRPr>
            </a:lvl4pPr>
            <a:lvl5pPr marL="0" indent="0">
              <a:spcBef>
                <a:spcPts val="0"/>
              </a:spcBef>
              <a:buClrTx/>
              <a:buSzTx/>
              <a:buFontTx/>
              <a:buNone/>
              <a:defRPr sz="1000">
                <a:latin typeface="Palatino Linotype"/>
                <a:ea typeface="Palatino Linotype"/>
                <a:cs typeface="Palatino Linotype"/>
                <a:sym typeface="Palatino Linotype"/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66" name="Shape 66"/>
          <p:cNvSpPr>
            <a:spLocks noGrp="1"/>
          </p:cNvSpPr>
          <p:nvPr>
            <p:ph type="title"/>
          </p:nvPr>
        </p:nvSpPr>
        <p:spPr>
          <a:xfrm>
            <a:off x="462405" y="0"/>
            <a:ext cx="6281341" cy="2003637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67" name="Shape 67"/>
          <p:cNvSpPr>
            <a:spLocks noGrp="1"/>
          </p:cNvSpPr>
          <p:nvPr>
            <p:ph type="sldNum" sz="quarter" idx="2"/>
          </p:nvPr>
        </p:nvSpPr>
        <p:spPr>
          <a:xfrm>
            <a:off x="462406" y="6402198"/>
            <a:ext cx="892151" cy="24384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‹Nr.›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99015900"/>
      </p:ext>
    </p:extLst>
  </p:cSld>
  <p:clrMapOvr>
    <a:masterClrMapping/>
  </p:clrMapOvr>
  <p:transition spd="med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enutzerdefiniertes Layout"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Shape 74"/>
          <p:cNvSpPr>
            <a:spLocks noGrp="1"/>
          </p:cNvSpPr>
          <p:nvPr>
            <p:ph type="title"/>
          </p:nvPr>
        </p:nvSpPr>
        <p:spPr>
          <a:xfrm>
            <a:off x="456479" y="89098"/>
            <a:ext cx="8225282" cy="1511102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75" name="Shape 75"/>
          <p:cNvSpPr>
            <a:spLocks noGrp="1"/>
          </p:cNvSpPr>
          <p:nvPr>
            <p:ph type="sldNum" sz="quarter" idx="2"/>
          </p:nvPr>
        </p:nvSpPr>
        <p:spPr>
          <a:xfrm>
            <a:off x="6554879" y="6360200"/>
            <a:ext cx="2126881" cy="24384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‹Nr.›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80971942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6.xml"/><Relationship Id="rId9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0C6E88-17EF-4D2E-82A9-89D5331ABF77}" type="datetime1">
              <a:rPr lang="en-US" smtClean="0"/>
              <a:t>11/30/2016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8B03EE-0F65-4FB3-87AD-3AF455168DB9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10296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1"/>
          <p:cNvSpPr>
            <a:spLocks noGrp="1" noChangeArrowheads="1"/>
          </p:cNvSpPr>
          <p:nvPr>
            <p:ph type="body" idx="1"/>
          </p:nvPr>
        </p:nvSpPr>
        <p:spPr bwMode="auto">
          <a:xfrm>
            <a:off x="461963" y="1857375"/>
            <a:ext cx="7715250" cy="4500563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vert="horz" wrap="square" lIns="0" tIns="55800" rIns="0" bIns="468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Klicken Sie, um die Formate des Gliederungstextes zu bearbeiten</a:t>
            </a:r>
          </a:p>
          <a:p>
            <a:pPr lvl="1"/>
            <a:r>
              <a:rPr lang="en-GB" smtClean="0"/>
              <a:t>Zweite Gliederungsebene</a:t>
            </a:r>
          </a:p>
          <a:p>
            <a:pPr lvl="2"/>
            <a:r>
              <a:rPr lang="en-GB" smtClean="0"/>
              <a:t>Dritte Gliederungsebene</a:t>
            </a:r>
          </a:p>
          <a:p>
            <a:pPr lvl="3"/>
            <a:r>
              <a:rPr lang="en-GB" smtClean="0"/>
              <a:t>Vierte Gliederungsebene</a:t>
            </a:r>
          </a:p>
          <a:p>
            <a:pPr lvl="4"/>
            <a:r>
              <a:rPr lang="en-GB" smtClean="0"/>
              <a:t>Fünfte Gliederungsebene</a:t>
            </a:r>
          </a:p>
          <a:p>
            <a:pPr lvl="4"/>
            <a:r>
              <a:rPr lang="en-GB" smtClean="0"/>
              <a:t>Sechste Gliederungsebene</a:t>
            </a:r>
          </a:p>
          <a:p>
            <a:pPr lvl="4"/>
            <a:r>
              <a:rPr lang="en-GB" smtClean="0"/>
              <a:t>Siebente Gliederungsebene</a:t>
            </a:r>
          </a:p>
          <a:p>
            <a:pPr lvl="4"/>
            <a:r>
              <a:rPr lang="en-GB" smtClean="0"/>
              <a:t>Achte Gliederungsebene</a:t>
            </a:r>
          </a:p>
          <a:p>
            <a:pPr lvl="4"/>
            <a:r>
              <a:rPr lang="en-GB" smtClean="0"/>
              <a:t>Neunte Gliederungsebene</a:t>
            </a:r>
          </a:p>
        </p:txBody>
      </p:sp>
      <p:sp>
        <p:nvSpPr>
          <p:cNvPr id="3075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61963" y="431800"/>
            <a:ext cx="6254750" cy="111760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Klicken Sie, um das Format des Titeltextes zu bearbeiten</a:t>
            </a:r>
          </a:p>
        </p:txBody>
      </p:sp>
    </p:spTree>
    <p:extLst>
      <p:ext uri="{BB962C8B-B14F-4D97-AF65-F5344CB8AC3E}">
        <p14:creationId xmlns:p14="http://schemas.microsoft.com/office/powerpoint/2010/main" val="37492745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 dt="0"/>
  <p:txStyles>
    <p:titleStyle>
      <a:lvl1pPr algn="l" defTabSz="449263" rtl="0" eaLnBrk="0" fontAlgn="base" hangingPunct="0">
        <a:lnSpc>
          <a:spcPct val="97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800" b="1">
          <a:solidFill>
            <a:srgbClr val="FFFFFF"/>
          </a:solidFill>
          <a:latin typeface="+mj-lt"/>
          <a:ea typeface="+mj-ea"/>
          <a:cs typeface="+mj-cs"/>
        </a:defRPr>
      </a:lvl1pPr>
      <a:lvl2pPr algn="l" defTabSz="449263" rtl="0" eaLnBrk="0" fontAlgn="base" hangingPunct="0">
        <a:lnSpc>
          <a:spcPct val="97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800" b="1">
          <a:solidFill>
            <a:srgbClr val="FFFFFF"/>
          </a:solidFill>
          <a:latin typeface="Verdana" pitchFamily="32" charset="0"/>
          <a:ea typeface="DejaVu Sans" charset="0"/>
          <a:cs typeface="DejaVu Sans" charset="0"/>
        </a:defRPr>
      </a:lvl2pPr>
      <a:lvl3pPr algn="l" defTabSz="449263" rtl="0" eaLnBrk="0" fontAlgn="base" hangingPunct="0">
        <a:lnSpc>
          <a:spcPct val="97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800" b="1">
          <a:solidFill>
            <a:srgbClr val="FFFFFF"/>
          </a:solidFill>
          <a:latin typeface="Verdana" pitchFamily="32" charset="0"/>
          <a:ea typeface="DejaVu Sans" charset="0"/>
          <a:cs typeface="DejaVu Sans" charset="0"/>
        </a:defRPr>
      </a:lvl3pPr>
      <a:lvl4pPr algn="l" defTabSz="449263" rtl="0" eaLnBrk="0" fontAlgn="base" hangingPunct="0">
        <a:lnSpc>
          <a:spcPct val="97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800" b="1">
          <a:solidFill>
            <a:srgbClr val="FFFFFF"/>
          </a:solidFill>
          <a:latin typeface="Verdana" pitchFamily="32" charset="0"/>
          <a:ea typeface="DejaVu Sans" charset="0"/>
          <a:cs typeface="DejaVu Sans" charset="0"/>
        </a:defRPr>
      </a:lvl4pPr>
      <a:lvl5pPr algn="l" defTabSz="449263" rtl="0" eaLnBrk="0" fontAlgn="base" hangingPunct="0">
        <a:lnSpc>
          <a:spcPct val="97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800" b="1">
          <a:solidFill>
            <a:srgbClr val="FFFFFF"/>
          </a:solidFill>
          <a:latin typeface="Verdana" pitchFamily="32" charset="0"/>
          <a:ea typeface="DejaVu Sans" charset="0"/>
          <a:cs typeface="DejaVu Sans" charset="0"/>
        </a:defRPr>
      </a:lvl5pPr>
      <a:lvl6pPr marL="2514600" indent="-228600" algn="l" defTabSz="449263" rtl="0" fontAlgn="base">
        <a:lnSpc>
          <a:spcPct val="97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800" b="1">
          <a:solidFill>
            <a:srgbClr val="FFFFFF"/>
          </a:solidFill>
          <a:latin typeface="Verdana" pitchFamily="32" charset="0"/>
          <a:ea typeface="DejaVu Sans" charset="0"/>
          <a:cs typeface="DejaVu Sans" charset="0"/>
        </a:defRPr>
      </a:lvl6pPr>
      <a:lvl7pPr marL="2971800" indent="-228600" algn="l" defTabSz="449263" rtl="0" fontAlgn="base">
        <a:lnSpc>
          <a:spcPct val="97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800" b="1">
          <a:solidFill>
            <a:srgbClr val="FFFFFF"/>
          </a:solidFill>
          <a:latin typeface="Verdana" pitchFamily="32" charset="0"/>
          <a:ea typeface="DejaVu Sans" charset="0"/>
          <a:cs typeface="DejaVu Sans" charset="0"/>
        </a:defRPr>
      </a:lvl7pPr>
      <a:lvl8pPr marL="3429000" indent="-228600" algn="l" defTabSz="449263" rtl="0" fontAlgn="base">
        <a:lnSpc>
          <a:spcPct val="97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800" b="1">
          <a:solidFill>
            <a:srgbClr val="FFFFFF"/>
          </a:solidFill>
          <a:latin typeface="Verdana" pitchFamily="32" charset="0"/>
          <a:ea typeface="DejaVu Sans" charset="0"/>
          <a:cs typeface="DejaVu Sans" charset="0"/>
        </a:defRPr>
      </a:lvl8pPr>
      <a:lvl9pPr marL="3886200" indent="-228600" algn="l" defTabSz="449263" rtl="0" fontAlgn="base">
        <a:lnSpc>
          <a:spcPct val="97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800" b="1">
          <a:solidFill>
            <a:srgbClr val="FFFFFF"/>
          </a:solidFill>
          <a:latin typeface="Verdana" pitchFamily="32" charset="0"/>
          <a:ea typeface="DejaVu Sans" charset="0"/>
          <a:cs typeface="DejaVu Sans" charset="0"/>
        </a:defRPr>
      </a:lvl9pPr>
    </p:titleStyle>
    <p:bodyStyle>
      <a:lvl1pPr marL="342900" indent="-342900" algn="l" defTabSz="449263" rtl="0" eaLnBrk="0" fontAlgn="base" hangingPunct="0">
        <a:lnSpc>
          <a:spcPct val="97000"/>
        </a:lnSpc>
        <a:spcBef>
          <a:spcPct val="0"/>
        </a:spcBef>
        <a:spcAft>
          <a:spcPts val="600"/>
        </a:spcAft>
        <a:buClr>
          <a:srgbClr val="000000"/>
        </a:buClr>
        <a:buSzPct val="100000"/>
        <a:buFont typeface="Times New Roman" pitchFamily="16" charset="0"/>
        <a:defRPr sz="2400">
          <a:solidFill>
            <a:srgbClr val="000000"/>
          </a:solidFill>
          <a:latin typeface="+mn-lt"/>
          <a:ea typeface="+mn-ea"/>
          <a:cs typeface="+mn-cs"/>
        </a:defRPr>
      </a:lvl1pPr>
      <a:lvl2pPr marL="742950" indent="-285750" algn="l" defTabSz="449263" rtl="0" eaLnBrk="0" fontAlgn="base" hangingPunct="0">
        <a:lnSpc>
          <a:spcPct val="97000"/>
        </a:lnSpc>
        <a:spcBef>
          <a:spcPct val="0"/>
        </a:spcBef>
        <a:spcAft>
          <a:spcPts val="600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000000"/>
          </a:solidFill>
          <a:latin typeface="+mn-lt"/>
          <a:ea typeface="+mn-ea"/>
          <a:cs typeface="+mn-cs"/>
        </a:defRPr>
      </a:lvl2pPr>
      <a:lvl3pPr marL="1143000" indent="-228600" algn="l" defTabSz="449263" rtl="0" eaLnBrk="0" fontAlgn="base" hangingPunct="0">
        <a:lnSpc>
          <a:spcPct val="97000"/>
        </a:lnSpc>
        <a:spcBef>
          <a:spcPct val="0"/>
        </a:spcBef>
        <a:spcAft>
          <a:spcPts val="600"/>
        </a:spcAft>
        <a:buClr>
          <a:srgbClr val="000000"/>
        </a:buClr>
        <a:buSzPct val="100000"/>
        <a:buFont typeface="Times New Roman" pitchFamily="16" charset="0"/>
        <a:defRPr>
          <a:solidFill>
            <a:srgbClr val="000000"/>
          </a:solidFill>
          <a:latin typeface="+mn-lt"/>
          <a:ea typeface="+mn-ea"/>
          <a:cs typeface="+mn-cs"/>
        </a:defRPr>
      </a:lvl3pPr>
      <a:lvl4pPr marL="1600200" indent="-228600" algn="l" defTabSz="449263" rtl="0" eaLnBrk="0" fontAlgn="base" hangingPunct="0">
        <a:lnSpc>
          <a:spcPct val="97000"/>
        </a:lnSpc>
        <a:spcBef>
          <a:spcPct val="0"/>
        </a:spcBef>
        <a:spcAft>
          <a:spcPts val="600"/>
        </a:spcAft>
        <a:buClr>
          <a:srgbClr val="000000"/>
        </a:buClr>
        <a:buSzPct val="100000"/>
        <a:buFont typeface="Times New Roman" pitchFamily="16" charset="0"/>
        <a:defRPr>
          <a:solidFill>
            <a:srgbClr val="000000"/>
          </a:solidFill>
          <a:latin typeface="+mn-lt"/>
          <a:ea typeface="+mn-ea"/>
          <a:cs typeface="+mn-cs"/>
        </a:defRPr>
      </a:lvl4pPr>
      <a:lvl5pPr marL="2057400" indent="-228600" algn="l" defTabSz="449263" rtl="0" eaLnBrk="0" fontAlgn="base" hangingPunct="0">
        <a:lnSpc>
          <a:spcPct val="97000"/>
        </a:lnSpc>
        <a:spcBef>
          <a:spcPct val="0"/>
        </a:spcBef>
        <a:spcAft>
          <a:spcPts val="600"/>
        </a:spcAft>
        <a:buClr>
          <a:srgbClr val="000000"/>
        </a:buClr>
        <a:buSzPct val="100000"/>
        <a:buFont typeface="Times New Roman" pitchFamily="16" charset="0"/>
        <a:defRPr sz="1600">
          <a:solidFill>
            <a:srgbClr val="000000"/>
          </a:solidFill>
          <a:latin typeface="+mn-lt"/>
          <a:ea typeface="+mn-ea"/>
          <a:cs typeface="+mn-cs"/>
        </a:defRPr>
      </a:lvl5pPr>
      <a:lvl6pPr marL="2514600" indent="-228600" algn="l" defTabSz="449263" rtl="0" fontAlgn="base">
        <a:lnSpc>
          <a:spcPct val="97000"/>
        </a:lnSpc>
        <a:spcBef>
          <a:spcPct val="0"/>
        </a:spcBef>
        <a:spcAft>
          <a:spcPts val="600"/>
        </a:spcAft>
        <a:buClr>
          <a:srgbClr val="000000"/>
        </a:buClr>
        <a:buSzPct val="100000"/>
        <a:buFont typeface="Times New Roman" pitchFamily="16" charset="0"/>
        <a:defRPr sz="1600">
          <a:solidFill>
            <a:srgbClr val="000000"/>
          </a:solidFill>
          <a:latin typeface="+mn-lt"/>
          <a:ea typeface="+mn-ea"/>
          <a:cs typeface="+mn-cs"/>
        </a:defRPr>
      </a:lvl6pPr>
      <a:lvl7pPr marL="2971800" indent="-228600" algn="l" defTabSz="449263" rtl="0" fontAlgn="base">
        <a:lnSpc>
          <a:spcPct val="97000"/>
        </a:lnSpc>
        <a:spcBef>
          <a:spcPct val="0"/>
        </a:spcBef>
        <a:spcAft>
          <a:spcPts val="600"/>
        </a:spcAft>
        <a:buClr>
          <a:srgbClr val="000000"/>
        </a:buClr>
        <a:buSzPct val="100000"/>
        <a:buFont typeface="Times New Roman" pitchFamily="16" charset="0"/>
        <a:defRPr sz="1600">
          <a:solidFill>
            <a:srgbClr val="000000"/>
          </a:solidFill>
          <a:latin typeface="+mn-lt"/>
          <a:ea typeface="+mn-ea"/>
          <a:cs typeface="+mn-cs"/>
        </a:defRPr>
      </a:lvl7pPr>
      <a:lvl8pPr marL="3429000" indent="-228600" algn="l" defTabSz="449263" rtl="0" fontAlgn="base">
        <a:lnSpc>
          <a:spcPct val="97000"/>
        </a:lnSpc>
        <a:spcBef>
          <a:spcPct val="0"/>
        </a:spcBef>
        <a:spcAft>
          <a:spcPts val="600"/>
        </a:spcAft>
        <a:buClr>
          <a:srgbClr val="000000"/>
        </a:buClr>
        <a:buSzPct val="100000"/>
        <a:buFont typeface="Times New Roman" pitchFamily="16" charset="0"/>
        <a:defRPr sz="1600">
          <a:solidFill>
            <a:srgbClr val="000000"/>
          </a:solidFill>
          <a:latin typeface="+mn-lt"/>
          <a:ea typeface="+mn-ea"/>
          <a:cs typeface="+mn-cs"/>
        </a:defRPr>
      </a:lvl8pPr>
      <a:lvl9pPr marL="3886200" indent="-228600" algn="l" defTabSz="449263" rtl="0" fontAlgn="base">
        <a:lnSpc>
          <a:spcPct val="97000"/>
        </a:lnSpc>
        <a:spcBef>
          <a:spcPct val="0"/>
        </a:spcBef>
        <a:spcAft>
          <a:spcPts val="600"/>
        </a:spcAft>
        <a:buClr>
          <a:srgbClr val="000000"/>
        </a:buClr>
        <a:buSzPct val="100000"/>
        <a:buFont typeface="Times New Roman" pitchFamily="16" charset="0"/>
        <a:defRPr sz="1600">
          <a:solidFill>
            <a:srgbClr val="000000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>
            <a:spLocks noGrp="1"/>
          </p:cNvSpPr>
          <p:nvPr>
            <p:ph type="title"/>
          </p:nvPr>
        </p:nvSpPr>
        <p:spPr>
          <a:xfrm>
            <a:off x="457200" y="92074"/>
            <a:ext cx="8229600" cy="15081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 anchor="ctr">
            <a:normAutofit/>
          </a:bodyPr>
          <a:lstStyle/>
          <a:p>
            <a:r>
              <a:t>Title Text</a:t>
            </a:r>
          </a:p>
        </p:txBody>
      </p:sp>
      <p:sp>
        <p:nvSpPr>
          <p:cNvPr id="3" name="Shape 3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525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hape 4"/>
          <p:cNvSpPr>
            <a:spLocks noGrp="1"/>
          </p:cNvSpPr>
          <p:nvPr>
            <p:ph type="sldNum" sz="quarter" idx="2"/>
          </p:nvPr>
        </p:nvSpPr>
        <p:spPr>
          <a:xfrm>
            <a:off x="6553200" y="6172200"/>
            <a:ext cx="2133600" cy="368301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>
            <a:spAutoFit/>
          </a:bodyPr>
          <a:lstStyle>
            <a:lvl1pPr>
              <a:defRPr sz="900" cap="all">
                <a:solidFill>
                  <a:srgbClr val="888888"/>
                </a:solidFill>
              </a:defRPr>
            </a:lvl1pPr>
          </a:lstStyle>
          <a:p>
            <a:pPr hangingPunct="0"/>
            <a:fld id="{86CB4B4D-7CA3-9044-876B-883B54F8677D}" type="slidenum">
              <a:rPr kern="0">
                <a:latin typeface="Palatino Linotype"/>
                <a:sym typeface="Palatino Linotype"/>
              </a:rPr>
              <a:pPr hangingPunct="0"/>
              <a:t>‹Nr.›</a:t>
            </a:fld>
            <a:endParaRPr kern="0">
              <a:latin typeface="Palatino Linotype"/>
              <a:sym typeface="Palatino Linotype"/>
            </a:endParaRPr>
          </a:p>
        </p:txBody>
      </p:sp>
    </p:spTree>
    <p:extLst>
      <p:ext uri="{BB962C8B-B14F-4D97-AF65-F5344CB8AC3E}">
        <p14:creationId xmlns:p14="http://schemas.microsoft.com/office/powerpoint/2010/main" val="33774879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</p:sldLayoutIdLst>
  <p:transition spd="med"/>
  <p:hf hdr="0" ftr="0" dt="0"/>
  <p:txStyles>
    <p:titleStyle>
      <a:lvl1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000" b="1" i="0" u="none" strike="noStrike" cap="none" spc="0" baseline="0">
          <a:ln>
            <a:noFill/>
          </a:ln>
          <a:solidFill>
            <a:srgbClr val="FFFFFF"/>
          </a:solidFill>
          <a:uFillTx/>
          <a:latin typeface="Palatino Linotype"/>
          <a:ea typeface="Palatino Linotype"/>
          <a:cs typeface="Palatino Linotype"/>
          <a:sym typeface="Palatino Linotype"/>
        </a:defRPr>
      </a:lvl1pPr>
      <a:lvl2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000" b="1" i="0" u="none" strike="noStrike" cap="none" spc="0" baseline="0">
          <a:ln>
            <a:noFill/>
          </a:ln>
          <a:solidFill>
            <a:srgbClr val="FFFFFF"/>
          </a:solidFill>
          <a:uFillTx/>
          <a:latin typeface="Palatino Linotype"/>
          <a:ea typeface="Palatino Linotype"/>
          <a:cs typeface="Palatino Linotype"/>
          <a:sym typeface="Palatino Linotype"/>
        </a:defRPr>
      </a:lvl2pPr>
      <a:lvl3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000" b="1" i="0" u="none" strike="noStrike" cap="none" spc="0" baseline="0">
          <a:ln>
            <a:noFill/>
          </a:ln>
          <a:solidFill>
            <a:srgbClr val="FFFFFF"/>
          </a:solidFill>
          <a:uFillTx/>
          <a:latin typeface="Palatino Linotype"/>
          <a:ea typeface="Palatino Linotype"/>
          <a:cs typeface="Palatino Linotype"/>
          <a:sym typeface="Palatino Linotype"/>
        </a:defRPr>
      </a:lvl3pPr>
      <a:lvl4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000" b="1" i="0" u="none" strike="noStrike" cap="none" spc="0" baseline="0">
          <a:ln>
            <a:noFill/>
          </a:ln>
          <a:solidFill>
            <a:srgbClr val="FFFFFF"/>
          </a:solidFill>
          <a:uFillTx/>
          <a:latin typeface="Palatino Linotype"/>
          <a:ea typeface="Palatino Linotype"/>
          <a:cs typeface="Palatino Linotype"/>
          <a:sym typeface="Palatino Linotype"/>
        </a:defRPr>
      </a:lvl4pPr>
      <a:lvl5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000" b="1" i="0" u="none" strike="noStrike" cap="none" spc="0" baseline="0">
          <a:ln>
            <a:noFill/>
          </a:ln>
          <a:solidFill>
            <a:srgbClr val="FFFFFF"/>
          </a:solidFill>
          <a:uFillTx/>
          <a:latin typeface="Palatino Linotype"/>
          <a:ea typeface="Palatino Linotype"/>
          <a:cs typeface="Palatino Linotype"/>
          <a:sym typeface="Palatino Linotype"/>
        </a:defRPr>
      </a:lvl5pPr>
      <a:lvl6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000" b="1" i="0" u="none" strike="noStrike" cap="none" spc="0" baseline="0">
          <a:ln>
            <a:noFill/>
          </a:ln>
          <a:solidFill>
            <a:srgbClr val="FFFFFF"/>
          </a:solidFill>
          <a:uFillTx/>
          <a:latin typeface="Palatino Linotype"/>
          <a:ea typeface="Palatino Linotype"/>
          <a:cs typeface="Palatino Linotype"/>
          <a:sym typeface="Palatino Linotype"/>
        </a:defRPr>
      </a:lvl6pPr>
      <a:lvl7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000" b="1" i="0" u="none" strike="noStrike" cap="none" spc="0" baseline="0">
          <a:ln>
            <a:noFill/>
          </a:ln>
          <a:solidFill>
            <a:srgbClr val="FFFFFF"/>
          </a:solidFill>
          <a:uFillTx/>
          <a:latin typeface="Palatino Linotype"/>
          <a:ea typeface="Palatino Linotype"/>
          <a:cs typeface="Palatino Linotype"/>
          <a:sym typeface="Palatino Linotype"/>
        </a:defRPr>
      </a:lvl7pPr>
      <a:lvl8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000" b="1" i="0" u="none" strike="noStrike" cap="none" spc="0" baseline="0">
          <a:ln>
            <a:noFill/>
          </a:ln>
          <a:solidFill>
            <a:srgbClr val="FFFFFF"/>
          </a:solidFill>
          <a:uFillTx/>
          <a:latin typeface="Palatino Linotype"/>
          <a:ea typeface="Palatino Linotype"/>
          <a:cs typeface="Palatino Linotype"/>
          <a:sym typeface="Palatino Linotype"/>
        </a:defRPr>
      </a:lvl8pPr>
      <a:lvl9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000" b="1" i="0" u="none" strike="noStrike" cap="none" spc="0" baseline="0">
          <a:ln>
            <a:noFill/>
          </a:ln>
          <a:solidFill>
            <a:srgbClr val="FFFFFF"/>
          </a:solidFill>
          <a:uFillTx/>
          <a:latin typeface="Palatino Linotype"/>
          <a:ea typeface="Palatino Linotype"/>
          <a:cs typeface="Palatino Linotype"/>
          <a:sym typeface="Palatino Linotype"/>
        </a:defRPr>
      </a:lvl9pPr>
    </p:titleStyle>
    <p:bodyStyle>
      <a:lvl1pPr marL="265113" marR="0" indent="-265113" algn="l" defTabSz="914400" rtl="0" latinLnBrk="0">
        <a:lnSpc>
          <a:spcPct val="100000"/>
        </a:lnSpc>
        <a:spcBef>
          <a:spcPts val="600"/>
        </a:spcBef>
        <a:spcAft>
          <a:spcPts val="0"/>
        </a:spcAft>
        <a:buClr>
          <a:schemeClr val="accent3"/>
        </a:buClr>
        <a:buSzPct val="100000"/>
        <a:buFont typeface="Wingdings"/>
        <a:buChar char="▪"/>
        <a:tabLst/>
        <a:defRPr sz="2400" b="0" i="0" u="none" strike="noStrike" cap="none" spc="0" baseline="0">
          <a:ln>
            <a:noFill/>
          </a:ln>
          <a:solidFill>
            <a:srgbClr val="000000"/>
          </a:solidFill>
          <a:uFillTx/>
          <a:latin typeface="Avenir Next"/>
          <a:ea typeface="Avenir Next"/>
          <a:cs typeface="Avenir Next"/>
          <a:sym typeface="Avenir Next"/>
        </a:defRPr>
      </a:lvl1pPr>
      <a:lvl2pPr marL="598487" marR="0" indent="-342900" algn="l" defTabSz="914400" rtl="0" latinLnBrk="0">
        <a:lnSpc>
          <a:spcPct val="100000"/>
        </a:lnSpc>
        <a:spcBef>
          <a:spcPts val="600"/>
        </a:spcBef>
        <a:spcAft>
          <a:spcPts val="0"/>
        </a:spcAft>
        <a:buClr>
          <a:schemeClr val="accent3"/>
        </a:buClr>
        <a:buSzPct val="100000"/>
        <a:buFont typeface="Wingdings"/>
        <a:buChar char="▪"/>
        <a:tabLst/>
        <a:defRPr sz="2400" b="0" i="0" u="none" strike="noStrike" cap="none" spc="0" baseline="0">
          <a:ln>
            <a:noFill/>
          </a:ln>
          <a:solidFill>
            <a:srgbClr val="000000"/>
          </a:solidFill>
          <a:uFillTx/>
          <a:latin typeface="Avenir Next"/>
          <a:ea typeface="Avenir Next"/>
          <a:cs typeface="Avenir Next"/>
          <a:sym typeface="Avenir Next"/>
        </a:defRPr>
      </a:lvl2pPr>
      <a:lvl3pPr marL="896408" marR="0" indent="-366183" algn="l" defTabSz="914400" rtl="0" latinLnBrk="0">
        <a:lnSpc>
          <a:spcPct val="100000"/>
        </a:lnSpc>
        <a:spcBef>
          <a:spcPts val="600"/>
        </a:spcBef>
        <a:spcAft>
          <a:spcPts val="0"/>
        </a:spcAft>
        <a:buClr>
          <a:schemeClr val="accent3"/>
        </a:buClr>
        <a:buSzPct val="100000"/>
        <a:buFont typeface="Wingdings"/>
        <a:buChar char="▪"/>
        <a:tabLst/>
        <a:defRPr sz="2400" b="0" i="0" u="none" strike="noStrike" cap="none" spc="0" baseline="0">
          <a:ln>
            <a:noFill/>
          </a:ln>
          <a:solidFill>
            <a:srgbClr val="000000"/>
          </a:solidFill>
          <a:uFillTx/>
          <a:latin typeface="Avenir Next"/>
          <a:ea typeface="Avenir Next"/>
          <a:cs typeface="Avenir Next"/>
          <a:sym typeface="Avenir Next"/>
        </a:defRPr>
      </a:lvl3pPr>
      <a:lvl4pPr marL="1171045" marR="0" indent="-366183" algn="l" defTabSz="914400" rtl="0" latinLnBrk="0">
        <a:lnSpc>
          <a:spcPct val="100000"/>
        </a:lnSpc>
        <a:spcBef>
          <a:spcPts val="600"/>
        </a:spcBef>
        <a:spcAft>
          <a:spcPts val="0"/>
        </a:spcAft>
        <a:buClr>
          <a:schemeClr val="accent3"/>
        </a:buClr>
        <a:buSzPct val="100000"/>
        <a:buFont typeface="Wingdings"/>
        <a:buChar char="▪"/>
        <a:tabLst/>
        <a:defRPr sz="2400" b="0" i="0" u="none" strike="noStrike" cap="none" spc="0" baseline="0">
          <a:ln>
            <a:noFill/>
          </a:ln>
          <a:solidFill>
            <a:srgbClr val="000000"/>
          </a:solidFill>
          <a:uFillTx/>
          <a:latin typeface="Avenir Next"/>
          <a:ea typeface="Avenir Next"/>
          <a:cs typeface="Avenir Next"/>
          <a:sym typeface="Avenir Next"/>
        </a:defRPr>
      </a:lvl4pPr>
      <a:lvl5pPr marL="1477169" marR="0" indent="-397669" algn="l" defTabSz="914400" rtl="0" latinLnBrk="0">
        <a:lnSpc>
          <a:spcPct val="100000"/>
        </a:lnSpc>
        <a:spcBef>
          <a:spcPts val="600"/>
        </a:spcBef>
        <a:spcAft>
          <a:spcPts val="0"/>
        </a:spcAft>
        <a:buClr>
          <a:schemeClr val="accent3"/>
        </a:buClr>
        <a:buSzPct val="100000"/>
        <a:buFont typeface="Wingdings"/>
        <a:buChar char="▪"/>
        <a:tabLst/>
        <a:defRPr sz="2400" b="0" i="0" u="none" strike="noStrike" cap="none" spc="0" baseline="0">
          <a:ln>
            <a:noFill/>
          </a:ln>
          <a:solidFill>
            <a:srgbClr val="000000"/>
          </a:solidFill>
          <a:uFillTx/>
          <a:latin typeface="Avenir Next"/>
          <a:ea typeface="Avenir Next"/>
          <a:cs typeface="Avenir Next"/>
          <a:sym typeface="Avenir Next"/>
        </a:defRPr>
      </a:lvl5pPr>
      <a:lvl6pPr marL="2560320" marR="0" indent="-274320" algn="l" defTabSz="914400" rtl="0" latinLnBrk="0">
        <a:lnSpc>
          <a:spcPct val="100000"/>
        </a:lnSpc>
        <a:spcBef>
          <a:spcPts val="600"/>
        </a:spcBef>
        <a:spcAft>
          <a:spcPts val="0"/>
        </a:spcAft>
        <a:buClr>
          <a:schemeClr val="accent3"/>
        </a:buClr>
        <a:buSzPct val="100000"/>
        <a:buFont typeface="Wingdings"/>
        <a:buChar char="•"/>
        <a:tabLst/>
        <a:defRPr sz="2400" b="0" i="0" u="none" strike="noStrike" cap="none" spc="0" baseline="0">
          <a:ln>
            <a:noFill/>
          </a:ln>
          <a:solidFill>
            <a:srgbClr val="000000"/>
          </a:solidFill>
          <a:uFillTx/>
          <a:latin typeface="Avenir Next"/>
          <a:ea typeface="Avenir Next"/>
          <a:cs typeface="Avenir Next"/>
          <a:sym typeface="Avenir Next"/>
        </a:defRPr>
      </a:lvl6pPr>
      <a:lvl7pPr marL="3017520" marR="0" indent="-274320" algn="l" defTabSz="914400" rtl="0" latinLnBrk="0">
        <a:lnSpc>
          <a:spcPct val="100000"/>
        </a:lnSpc>
        <a:spcBef>
          <a:spcPts val="600"/>
        </a:spcBef>
        <a:spcAft>
          <a:spcPts val="0"/>
        </a:spcAft>
        <a:buClr>
          <a:schemeClr val="accent3"/>
        </a:buClr>
        <a:buSzPct val="100000"/>
        <a:buFont typeface="Wingdings"/>
        <a:buChar char="•"/>
        <a:tabLst/>
        <a:defRPr sz="2400" b="0" i="0" u="none" strike="noStrike" cap="none" spc="0" baseline="0">
          <a:ln>
            <a:noFill/>
          </a:ln>
          <a:solidFill>
            <a:srgbClr val="000000"/>
          </a:solidFill>
          <a:uFillTx/>
          <a:latin typeface="Avenir Next"/>
          <a:ea typeface="Avenir Next"/>
          <a:cs typeface="Avenir Next"/>
          <a:sym typeface="Avenir Next"/>
        </a:defRPr>
      </a:lvl7pPr>
      <a:lvl8pPr marL="3474720" marR="0" indent="-274320" algn="l" defTabSz="914400" rtl="0" latinLnBrk="0">
        <a:lnSpc>
          <a:spcPct val="100000"/>
        </a:lnSpc>
        <a:spcBef>
          <a:spcPts val="600"/>
        </a:spcBef>
        <a:spcAft>
          <a:spcPts val="0"/>
        </a:spcAft>
        <a:buClr>
          <a:schemeClr val="accent3"/>
        </a:buClr>
        <a:buSzPct val="100000"/>
        <a:buFont typeface="Wingdings"/>
        <a:buChar char="•"/>
        <a:tabLst/>
        <a:defRPr sz="2400" b="0" i="0" u="none" strike="noStrike" cap="none" spc="0" baseline="0">
          <a:ln>
            <a:noFill/>
          </a:ln>
          <a:solidFill>
            <a:srgbClr val="000000"/>
          </a:solidFill>
          <a:uFillTx/>
          <a:latin typeface="Avenir Next"/>
          <a:ea typeface="Avenir Next"/>
          <a:cs typeface="Avenir Next"/>
          <a:sym typeface="Avenir Next"/>
        </a:defRPr>
      </a:lvl8pPr>
      <a:lvl9pPr marL="3931920" marR="0" indent="-274320" algn="l" defTabSz="914400" rtl="0" latinLnBrk="0">
        <a:lnSpc>
          <a:spcPct val="100000"/>
        </a:lnSpc>
        <a:spcBef>
          <a:spcPts val="600"/>
        </a:spcBef>
        <a:spcAft>
          <a:spcPts val="0"/>
        </a:spcAft>
        <a:buClr>
          <a:schemeClr val="accent3"/>
        </a:buClr>
        <a:buSzPct val="100000"/>
        <a:buFont typeface="Wingdings"/>
        <a:buChar char="•"/>
        <a:tabLst/>
        <a:defRPr sz="2400" b="0" i="0" u="none" strike="noStrike" cap="none" spc="0" baseline="0">
          <a:ln>
            <a:noFill/>
          </a:ln>
          <a:solidFill>
            <a:srgbClr val="000000"/>
          </a:solidFill>
          <a:uFillTx/>
          <a:latin typeface="Avenir Next"/>
          <a:ea typeface="Avenir Next"/>
          <a:cs typeface="Avenir Next"/>
          <a:sym typeface="Avenir Next"/>
        </a:defRPr>
      </a:lvl9pPr>
    </p:bodyStyle>
    <p:otherStyle>
      <a:lvl1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all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Palatino Linotype"/>
        </a:defRPr>
      </a:lvl1pPr>
      <a:lvl2pPr marL="0" marR="0" indent="4572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all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Palatino Linotype"/>
        </a:defRPr>
      </a:lvl2pPr>
      <a:lvl3pPr marL="0" marR="0" indent="9144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all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Palatino Linotype"/>
        </a:defRPr>
      </a:lvl3pPr>
      <a:lvl4pPr marL="0" marR="0" indent="13716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all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Palatino Linotype"/>
        </a:defRPr>
      </a:lvl4pPr>
      <a:lvl5pPr marL="0" marR="0" indent="18288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all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Palatino Linotype"/>
        </a:defRPr>
      </a:lvl5pPr>
      <a:lvl6pPr marL="0" marR="0" indent="22860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all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Palatino Linotype"/>
        </a:defRPr>
      </a:lvl6pPr>
      <a:lvl7pPr marL="0" marR="0" indent="27432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all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Palatino Linotype"/>
        </a:defRPr>
      </a:lvl7pPr>
      <a:lvl8pPr marL="0" marR="0" indent="32004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all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Palatino Linotype"/>
        </a:defRPr>
      </a:lvl8pPr>
      <a:lvl9pPr marL="0" marR="0" indent="36576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all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Palatino Linotype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data.wu.ac.at/portalwatch" TargetMode="Externa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9" name="Rectangle 8"/>
          <p:cNvSpPr>
            <a:spLocks noGrp="1" noChangeArrowheads="1"/>
          </p:cNvSpPr>
          <p:nvPr>
            <p:ph type="ctrTitle"/>
          </p:nvPr>
        </p:nvSpPr>
        <p:spPr>
          <a:xfrm>
            <a:off x="426720" y="3573016"/>
            <a:ext cx="7576457" cy="1470025"/>
          </a:xfrm>
        </p:spPr>
        <p:txBody>
          <a:bodyPr/>
          <a:lstStyle/>
          <a:p>
            <a:pPr eaLnBrk="1" hangingPunct="1"/>
            <a:r>
              <a:rPr lang="en-US" sz="4000" b="0" dirty="0">
                <a:latin typeface="Calibri" panose="020F0502020204030204" pitchFamily="34" charset="0"/>
              </a:rPr>
              <a:t>Challenges of mapping current </a:t>
            </a:r>
            <a:r>
              <a:rPr lang="en-US" sz="4000" dirty="0">
                <a:latin typeface="Calibri" panose="020F0502020204030204" pitchFamily="34" charset="0"/>
              </a:rPr>
              <a:t>CKAN</a:t>
            </a:r>
            <a:r>
              <a:rPr lang="en-US" sz="4000" b="0" dirty="0">
                <a:latin typeface="Calibri" panose="020F0502020204030204" pitchFamily="34" charset="0"/>
              </a:rPr>
              <a:t> </a:t>
            </a:r>
            <a:r>
              <a:rPr lang="en-US" sz="4000" b="0" dirty="0" smtClean="0">
                <a:latin typeface="Calibri" panose="020F0502020204030204" pitchFamily="34" charset="0"/>
              </a:rPr>
              <a:t>metadata to </a:t>
            </a:r>
            <a:r>
              <a:rPr lang="en-US" sz="4000" dirty="0">
                <a:latin typeface="Calibri" panose="020F0502020204030204" pitchFamily="34" charset="0"/>
              </a:rPr>
              <a:t>DCAT</a:t>
            </a:r>
            <a:endParaRPr lang="en-US" sz="4000" dirty="0" smtClean="0">
              <a:latin typeface="Calibri" panose="020F0502020204030204" pitchFamily="34" charset="0"/>
            </a:endParaRPr>
          </a:p>
        </p:txBody>
      </p:sp>
      <p:sp>
        <p:nvSpPr>
          <p:cNvPr id="21510" name="Rectangle 9"/>
          <p:cNvSpPr>
            <a:spLocks noGrp="1" noChangeArrowheads="1"/>
          </p:cNvSpPr>
          <p:nvPr>
            <p:ph type="subTitle" idx="1"/>
          </p:nvPr>
        </p:nvSpPr>
        <p:spPr>
          <a:xfrm>
            <a:off x="416982" y="5494020"/>
            <a:ext cx="7975652" cy="1102720"/>
          </a:xfrm>
        </p:spPr>
        <p:txBody>
          <a:bodyPr>
            <a:noAutofit/>
          </a:bodyPr>
          <a:lstStyle/>
          <a:p>
            <a:pPr algn="l" eaLnBrk="1" hangingPunct="1"/>
            <a:r>
              <a:rPr lang="en-US" sz="2000" u="sng" dirty="0" smtClean="0">
                <a:solidFill>
                  <a:schemeClr val="bg1"/>
                </a:solidFill>
                <a:latin typeface="Calibri" panose="020F0502020204030204" pitchFamily="34" charset="0"/>
              </a:rPr>
              <a:t>Sebastian Neumaier</a:t>
            </a:r>
            <a:r>
              <a:rPr lang="en-US" sz="2000" dirty="0" smtClean="0">
                <a:solidFill>
                  <a:schemeClr val="bg1"/>
                </a:solidFill>
                <a:latin typeface="Calibri" panose="020F0502020204030204" pitchFamily="34" charset="0"/>
              </a:rPr>
              <a:t>, Jürgen </a:t>
            </a:r>
            <a:r>
              <a:rPr lang="en-US" sz="2000" dirty="0" err="1" smtClean="0">
                <a:solidFill>
                  <a:schemeClr val="bg1"/>
                </a:solidFill>
                <a:latin typeface="Calibri" panose="020F0502020204030204" pitchFamily="34" charset="0"/>
              </a:rPr>
              <a:t>Umbrich</a:t>
            </a:r>
            <a:r>
              <a:rPr lang="en-US" sz="2000" dirty="0" smtClean="0">
                <a:solidFill>
                  <a:schemeClr val="bg1"/>
                </a:solidFill>
                <a:latin typeface="Calibri" panose="020F0502020204030204" pitchFamily="34" charset="0"/>
              </a:rPr>
              <a:t>, Axel </a:t>
            </a:r>
            <a:r>
              <a:rPr lang="en-US" sz="2000" dirty="0" err="1" smtClean="0">
                <a:solidFill>
                  <a:schemeClr val="bg1"/>
                </a:solidFill>
                <a:latin typeface="Calibri" panose="020F0502020204030204" pitchFamily="34" charset="0"/>
              </a:rPr>
              <a:t>Polleres</a:t>
            </a:r>
            <a:r>
              <a:rPr lang="en-US" sz="2000" dirty="0" smtClean="0">
                <a:solidFill>
                  <a:schemeClr val="bg1"/>
                </a:solidFill>
                <a:latin typeface="Calibri" panose="020F0502020204030204" pitchFamily="34" charset="0"/>
              </a:rPr>
              <a:t/>
            </a:r>
            <a:br>
              <a:rPr lang="en-US" sz="2000" dirty="0" smtClean="0">
                <a:solidFill>
                  <a:schemeClr val="bg1"/>
                </a:solidFill>
                <a:latin typeface="Calibri" panose="020F0502020204030204" pitchFamily="34" charset="0"/>
              </a:rPr>
            </a:br>
            <a:r>
              <a:rPr lang="en-US" sz="2000" dirty="0" smtClean="0">
                <a:solidFill>
                  <a:schemeClr val="bg1"/>
                </a:solidFill>
                <a:latin typeface="Calibri" panose="020F0502020204030204" pitchFamily="34" charset="0"/>
              </a:rPr>
              <a:t/>
            </a:r>
            <a:br>
              <a:rPr lang="en-US" sz="2000" dirty="0" smtClean="0">
                <a:solidFill>
                  <a:schemeClr val="bg1"/>
                </a:solidFill>
                <a:latin typeface="Calibri" panose="020F0502020204030204" pitchFamily="34" charset="0"/>
              </a:rPr>
            </a:br>
            <a:r>
              <a:rPr lang="en-US" sz="1600" dirty="0" smtClean="0">
                <a:solidFill>
                  <a:schemeClr val="bg1"/>
                </a:solidFill>
                <a:latin typeface="Calibri" panose="020F0502020204030204" pitchFamily="34" charset="0"/>
              </a:rPr>
              <a:t>Vienna University of Economics and Business, Vienna, Austria</a:t>
            </a:r>
          </a:p>
        </p:txBody>
      </p:sp>
    </p:spTree>
    <p:extLst>
      <p:ext uri="{BB962C8B-B14F-4D97-AF65-F5344CB8AC3E}">
        <p14:creationId xmlns:p14="http://schemas.microsoft.com/office/powerpoint/2010/main" val="809206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we do:</a:t>
            </a:r>
            <a:endParaRPr lang="en-US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535513" y="1935696"/>
            <a:ext cx="7886700" cy="4351338"/>
          </a:xfrm>
        </p:spPr>
        <p:txBody>
          <a:bodyPr/>
          <a:lstStyle/>
          <a:p>
            <a:r>
              <a:rPr lang="en-US" dirty="0" smtClean="0"/>
              <a:t>Profiling Open Data portals:</a:t>
            </a:r>
          </a:p>
          <a:p>
            <a:pPr lvl="1"/>
            <a:r>
              <a:rPr lang="en-US" b="1" dirty="0" smtClean="0"/>
              <a:t>Quality </a:t>
            </a:r>
            <a:r>
              <a:rPr lang="en-US" b="1" dirty="0"/>
              <a:t>assessment </a:t>
            </a:r>
          </a:p>
          <a:p>
            <a:pPr lvl="1"/>
            <a:r>
              <a:rPr lang="en-US" dirty="0" smtClean="0"/>
              <a:t>Evolution monitoring</a:t>
            </a:r>
          </a:p>
          <a:p>
            <a:pPr lvl="1"/>
            <a:endParaRPr lang="en-US" dirty="0" smtClean="0"/>
          </a:p>
          <a:p>
            <a:r>
              <a:rPr lang="en-US" dirty="0" smtClean="0"/>
              <a:t>Different software frameworks:</a:t>
            </a:r>
          </a:p>
          <a:p>
            <a:pPr lvl="1"/>
            <a:r>
              <a:rPr lang="en-US" dirty="0" smtClean="0"/>
              <a:t>We monitor ~250 portals in total</a:t>
            </a:r>
          </a:p>
          <a:p>
            <a:pPr lvl="1"/>
            <a:r>
              <a:rPr lang="en-US" dirty="0" smtClean="0"/>
              <a:t>Most of them </a:t>
            </a:r>
            <a:r>
              <a:rPr lang="en-US" b="1" dirty="0" smtClean="0"/>
              <a:t>CKAN</a:t>
            </a:r>
            <a:r>
              <a:rPr lang="en-US" dirty="0" smtClean="0"/>
              <a:t>: </a:t>
            </a:r>
            <a:r>
              <a:rPr lang="en-US" b="1" dirty="0" smtClean="0"/>
              <a:t>133 portals, 514k datasets</a:t>
            </a:r>
          </a:p>
          <a:p>
            <a:pPr lvl="1"/>
            <a:endParaRPr lang="en-US" dirty="0" smtClean="0"/>
          </a:p>
          <a:p>
            <a:r>
              <a:rPr lang="en-US" dirty="0" smtClean="0"/>
              <a:t>We harmonize metadata by </a:t>
            </a:r>
            <a:r>
              <a:rPr lang="en-US" b="1" dirty="0" smtClean="0"/>
              <a:t>mapping</a:t>
            </a:r>
            <a:r>
              <a:rPr lang="en-US" dirty="0" smtClean="0"/>
              <a:t> it to </a:t>
            </a:r>
            <a:r>
              <a:rPr lang="en-US" b="1" dirty="0" smtClean="0"/>
              <a:t>DCAT</a:t>
            </a:r>
            <a:endParaRPr lang="en-US" b="1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B03EE-0F65-4FB3-87AD-3AF455168DB9}" type="slidenum">
              <a:rPr lang="en-US" smtClean="0"/>
              <a:t>2</a:t>
            </a:fld>
            <a:endParaRPr lang="en-US"/>
          </a:p>
        </p:txBody>
      </p:sp>
      <p:pic>
        <p:nvPicPr>
          <p:cNvPr id="5" name="Grafik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5398" y="279176"/>
            <a:ext cx="3926484" cy="278862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6" name="Rechteck 5"/>
          <p:cNvSpPr/>
          <p:nvPr/>
        </p:nvSpPr>
        <p:spPr>
          <a:xfrm>
            <a:off x="5225077" y="3093200"/>
            <a:ext cx="382373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>
                <a:hlinkClick r:id="rId3"/>
              </a:rPr>
              <a:t>http://</a:t>
            </a:r>
            <a:r>
              <a:rPr lang="en-US" sz="2000" b="1" dirty="0" smtClean="0">
                <a:hlinkClick r:id="rId3"/>
              </a:rPr>
              <a:t>data.wu.ac.at/portalwatch</a:t>
            </a:r>
            <a:r>
              <a:rPr lang="en-US" sz="2000" b="1" dirty="0" smtClean="0"/>
              <a:t> </a:t>
            </a: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36671618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CKAN (mostly) </a:t>
            </a:r>
            <a:r>
              <a:rPr lang="en-US" dirty="0" smtClean="0"/>
              <a:t>exports </a:t>
            </a:r>
            <a:r>
              <a:rPr lang="en-US" dirty="0" smtClean="0"/>
              <a:t>DCAT</a:t>
            </a:r>
            <a:endParaRPr lang="en-US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CKAN provides </a:t>
            </a:r>
            <a:r>
              <a:rPr lang="en-US" b="1" dirty="0" smtClean="0"/>
              <a:t>extension</a:t>
            </a:r>
            <a:r>
              <a:rPr lang="en-US" dirty="0" smtClean="0"/>
              <a:t> to export DCAT</a:t>
            </a:r>
          </a:p>
          <a:p>
            <a:pPr lvl="1"/>
            <a:r>
              <a:rPr lang="en-US" dirty="0" smtClean="0"/>
              <a:t>Mapping of </a:t>
            </a:r>
            <a:r>
              <a:rPr lang="en-US" i="1" dirty="0" smtClean="0"/>
              <a:t>datasets </a:t>
            </a:r>
            <a:r>
              <a:rPr lang="en-US" dirty="0" smtClean="0"/>
              <a:t>and </a:t>
            </a:r>
            <a:r>
              <a:rPr lang="en-US" i="1" dirty="0" smtClean="0"/>
              <a:t>resources </a:t>
            </a:r>
            <a:r>
              <a:rPr lang="en-US" dirty="0" smtClean="0"/>
              <a:t>to </a:t>
            </a:r>
            <a:br>
              <a:rPr lang="en-US" dirty="0" smtClean="0"/>
            </a:br>
            <a:r>
              <a:rPr lang="en-US" dirty="0" err="1" smtClean="0">
                <a:latin typeface="Consolas" panose="020B0609020204030204" pitchFamily="49" charset="0"/>
                <a:cs typeface="Consolas" panose="020B0609020204030204" pitchFamily="49" charset="0"/>
              </a:rPr>
              <a:t>dcat:Dataset</a:t>
            </a:r>
            <a:r>
              <a:rPr lang="en-US" dirty="0" smtClean="0"/>
              <a:t> and </a:t>
            </a:r>
            <a:r>
              <a:rPr lang="en-US" dirty="0" err="1" smtClean="0">
                <a:latin typeface="Consolas" panose="020B0609020204030204" pitchFamily="49" charset="0"/>
                <a:cs typeface="Consolas" panose="020B0609020204030204" pitchFamily="49" charset="0"/>
              </a:rPr>
              <a:t>dcat:Distribution</a:t>
            </a:r>
            <a:endParaRPr lang="en-US" dirty="0" smtClean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lang="en-US" dirty="0" smtClean="0">
                <a:cs typeface="Consolas" panose="020B0609020204030204" pitchFamily="49" charset="0"/>
              </a:rPr>
              <a:t>Recent version of extension supports DCAT-AP</a:t>
            </a:r>
          </a:p>
          <a:p>
            <a:endParaRPr lang="en-US" dirty="0" smtClean="0">
              <a:cs typeface="Consolas" panose="020B0609020204030204" pitchFamily="49" charset="0"/>
            </a:endParaRPr>
          </a:p>
          <a:p>
            <a:r>
              <a:rPr lang="en-US" dirty="0" smtClean="0">
                <a:cs typeface="Consolas" panose="020B0609020204030204" pitchFamily="49" charset="0"/>
              </a:rPr>
              <a:t>93 of 133 CKAN portals provide DCAT export</a:t>
            </a:r>
            <a:endParaRPr lang="en-US" dirty="0">
              <a:cs typeface="Consolas" panose="020B0609020204030204" pitchFamily="49" charset="0"/>
            </a:endParaRP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B03EE-0F65-4FB3-87AD-3AF455168DB9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98904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CKAN provides “</a:t>
            </a:r>
            <a:r>
              <a:rPr lang="en-US" b="1" dirty="0" smtClean="0"/>
              <a:t>extra</a:t>
            </a:r>
            <a:r>
              <a:rPr lang="en-US" dirty="0" smtClean="0"/>
              <a:t>” keys</a:t>
            </a:r>
            <a:endParaRPr lang="en-US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CKAN can include additional metadata keys</a:t>
            </a:r>
          </a:p>
          <a:p>
            <a:pPr lvl="1"/>
            <a:r>
              <a:rPr lang="en-US" dirty="0" smtClean="0"/>
              <a:t>Added by portal provider, or other CKAN extension</a:t>
            </a:r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B03EE-0F65-4FB3-87AD-3AF455168DB9}" type="slidenum">
              <a:rPr lang="en-US" smtClean="0"/>
              <a:t>4</a:t>
            </a:fld>
            <a:endParaRPr lang="en-US"/>
          </a:p>
        </p:txBody>
      </p:sp>
      <p:pic>
        <p:nvPicPr>
          <p:cNvPr id="6" name="Grafik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399" y="2847355"/>
            <a:ext cx="8423749" cy="3241138"/>
          </a:xfrm>
          <a:prstGeom prst="rect">
            <a:avLst/>
          </a:prstGeom>
        </p:spPr>
      </p:pic>
      <p:sp>
        <p:nvSpPr>
          <p:cNvPr id="7" name="Rechteck 6"/>
          <p:cNvSpPr/>
          <p:nvPr/>
        </p:nvSpPr>
        <p:spPr>
          <a:xfrm>
            <a:off x="1219200" y="4114798"/>
            <a:ext cx="3547533" cy="1210733"/>
          </a:xfrm>
          <a:prstGeom prst="rect">
            <a:avLst/>
          </a:prstGeom>
          <a:solidFill>
            <a:srgbClr val="5B9BD5">
              <a:alpha val="20000"/>
            </a:srgbClr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hteck 7"/>
          <p:cNvSpPr/>
          <p:nvPr/>
        </p:nvSpPr>
        <p:spPr>
          <a:xfrm>
            <a:off x="628650" y="6451798"/>
            <a:ext cx="6417733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Example from: https</a:t>
            </a: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://data.gov.uk/dataset/river-water-quality-regions</a:t>
            </a:r>
          </a:p>
        </p:txBody>
      </p:sp>
    </p:spTree>
    <p:extLst>
      <p:ext uri="{BB962C8B-B14F-4D97-AF65-F5344CB8AC3E}">
        <p14:creationId xmlns:p14="http://schemas.microsoft.com/office/powerpoint/2010/main" val="18588374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“extra” keys are available?</a:t>
            </a:r>
            <a:endParaRPr lang="en-US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628650" y="1825624"/>
            <a:ext cx="7886700" cy="3508375"/>
          </a:xfrm>
        </p:spPr>
        <p:txBody>
          <a:bodyPr/>
          <a:lstStyle/>
          <a:p>
            <a:r>
              <a:rPr lang="en-US" dirty="0"/>
              <a:t>3607 different extra keys in 514k </a:t>
            </a:r>
            <a:r>
              <a:rPr lang="en-US" dirty="0" smtClean="0"/>
              <a:t>datasets</a:t>
            </a:r>
          </a:p>
          <a:p>
            <a:r>
              <a:rPr lang="en-US" dirty="0" smtClean="0"/>
              <a:t>Extra keys in multiple portals:</a:t>
            </a:r>
          </a:p>
          <a:p>
            <a:endParaRPr lang="en-US" dirty="0"/>
          </a:p>
          <a:p>
            <a:endParaRPr lang="en-US" dirty="0" smtClean="0"/>
          </a:p>
          <a:p>
            <a:r>
              <a:rPr lang="en-US" dirty="0" smtClean="0"/>
              <a:t>Most frequent extra keys:</a:t>
            </a:r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B03EE-0F65-4FB3-87AD-3AF455168DB9}" type="slidenum">
              <a:rPr lang="en-US" smtClean="0"/>
              <a:t>5</a:t>
            </a:fld>
            <a:endParaRPr lang="en-US"/>
          </a:p>
        </p:txBody>
      </p:sp>
      <p:pic>
        <p:nvPicPr>
          <p:cNvPr id="5" name="Grafik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0537" y="4289425"/>
            <a:ext cx="7468017" cy="2164818"/>
          </a:xfrm>
          <a:prstGeom prst="rect">
            <a:avLst/>
          </a:prstGeom>
        </p:spPr>
      </p:pic>
      <p:pic>
        <p:nvPicPr>
          <p:cNvPr id="6" name="Grafik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468" y="2727007"/>
            <a:ext cx="4969934" cy="10801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58067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Current mapping of “extra” keys</a:t>
            </a:r>
            <a:endParaRPr lang="en-US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628650" y="1749422"/>
            <a:ext cx="7886700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dirty="0" smtClean="0"/>
              <a:t>3 different cases, depending </a:t>
            </a:r>
            <a:r>
              <a:rPr lang="en-US" sz="2400" dirty="0"/>
              <a:t>on version </a:t>
            </a:r>
            <a:r>
              <a:rPr lang="en-US" sz="2400" dirty="0" smtClean="0"/>
              <a:t>and configuration of CKAN-to-DCAT extension:</a:t>
            </a:r>
          </a:p>
          <a:p>
            <a:pPr lvl="1"/>
            <a:endParaRPr lang="en-US" sz="1050" dirty="0" smtClean="0"/>
          </a:p>
          <a:p>
            <a:pPr lvl="1"/>
            <a:r>
              <a:rPr lang="en-US" b="1" i="1" dirty="0" smtClean="0"/>
              <a:t>Portal-specific mapping</a:t>
            </a:r>
            <a:r>
              <a:rPr lang="en-US" i="1" dirty="0"/>
              <a:t>: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sz="2200" dirty="0" smtClean="0"/>
              <a:t>Portal defines </a:t>
            </a:r>
            <a:r>
              <a:rPr lang="en-US" sz="2200" dirty="0"/>
              <a:t>mapping </a:t>
            </a:r>
            <a:r>
              <a:rPr lang="en-US" sz="2200" dirty="0" smtClean="0"/>
              <a:t>for metadata </a:t>
            </a:r>
            <a:r>
              <a:rPr lang="en-US" sz="2200" dirty="0"/>
              <a:t>key to </a:t>
            </a:r>
            <a:r>
              <a:rPr lang="en-US" sz="2200" dirty="0" smtClean="0"/>
              <a:t>property, e.g.:</a:t>
            </a:r>
          </a:p>
          <a:p>
            <a:pPr lvl="1"/>
            <a:endParaRPr lang="en-US" sz="2200" i="1" dirty="0" smtClean="0"/>
          </a:p>
          <a:p>
            <a:pPr lvl="1"/>
            <a:r>
              <a:rPr lang="en-US" b="1" i="1" dirty="0" smtClean="0"/>
              <a:t>Generic mapping by extension</a:t>
            </a:r>
            <a:r>
              <a:rPr lang="en-US" i="1" dirty="0" smtClean="0"/>
              <a:t>:</a:t>
            </a:r>
            <a:r>
              <a:rPr lang="en-US" dirty="0" smtClean="0"/>
              <a:t> </a:t>
            </a:r>
            <a:br>
              <a:rPr lang="en-US" dirty="0" smtClean="0"/>
            </a:br>
            <a:r>
              <a:rPr lang="en-US" sz="2200" dirty="0" smtClean="0"/>
              <a:t>Pattern for exporting all available extra keys, e.g.:</a:t>
            </a:r>
          </a:p>
          <a:p>
            <a:pPr lvl="1"/>
            <a:endParaRPr lang="en-US" i="1" dirty="0" smtClean="0"/>
          </a:p>
          <a:p>
            <a:pPr lvl="1"/>
            <a:endParaRPr lang="en-US" i="1" dirty="0" smtClean="0"/>
          </a:p>
          <a:p>
            <a:pPr lvl="1"/>
            <a:endParaRPr lang="en-US" sz="900" b="1" i="1" dirty="0" smtClean="0"/>
          </a:p>
          <a:p>
            <a:pPr lvl="1"/>
            <a:r>
              <a:rPr lang="en-US" b="1" i="1" dirty="0" smtClean="0"/>
              <a:t>No </a:t>
            </a:r>
            <a:r>
              <a:rPr lang="en-US" b="1" i="1" dirty="0"/>
              <a:t>mapping</a:t>
            </a:r>
            <a:r>
              <a:rPr lang="en-US" i="1" dirty="0"/>
              <a:t>:</a:t>
            </a:r>
            <a:r>
              <a:rPr lang="en-US" dirty="0"/>
              <a:t/>
            </a:r>
            <a:br>
              <a:rPr lang="en-US" dirty="0"/>
            </a:br>
            <a:r>
              <a:rPr lang="en-US" sz="2200" dirty="0" smtClean="0"/>
              <a:t>Retrieved </a:t>
            </a:r>
            <a:r>
              <a:rPr lang="en-US" sz="2200" dirty="0"/>
              <a:t>DCAT description returns no </a:t>
            </a:r>
            <a:r>
              <a:rPr lang="en-US" sz="2200" dirty="0" smtClean="0"/>
              <a:t>mapping for extra keys</a:t>
            </a:r>
            <a:endParaRPr lang="en-US" sz="2200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B03EE-0F65-4FB3-87AD-3AF455168DB9}" type="slidenum">
              <a:rPr lang="en-US" smtClean="0"/>
              <a:t>6</a:t>
            </a:fld>
            <a:endParaRPr lang="en-US"/>
          </a:p>
        </p:txBody>
      </p:sp>
      <p:sp>
        <p:nvSpPr>
          <p:cNvPr id="6" name="Rechteck 5"/>
          <p:cNvSpPr/>
          <p:nvPr/>
        </p:nvSpPr>
        <p:spPr>
          <a:xfrm>
            <a:off x="3765556" y="4377858"/>
            <a:ext cx="5251445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err="1">
                <a:solidFill>
                  <a:schemeClr val="accent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dc:relation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[</a:t>
            </a:r>
          </a:p>
          <a:p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rdfs:label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"</a:t>
            </a:r>
            <a:r>
              <a:rPr lang="en-US" i="1" dirty="0" err="1">
                <a:solidFill>
                  <a:schemeClr val="accent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geographic_coverage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 ;</a:t>
            </a:r>
          </a:p>
          <a:p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rdf:value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"</a:t>
            </a:r>
            <a:r>
              <a:rPr lang="en-US" i="1" dirty="0">
                <a:solidFill>
                  <a:schemeClr val="accent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101000: England, Wales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</a:p>
          <a:p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]</a:t>
            </a:r>
          </a:p>
        </p:txBody>
      </p:sp>
      <p:sp>
        <p:nvSpPr>
          <p:cNvPr id="7" name="Rechteck 6"/>
          <p:cNvSpPr/>
          <p:nvPr/>
        </p:nvSpPr>
        <p:spPr>
          <a:xfrm>
            <a:off x="3943355" y="3321891"/>
            <a:ext cx="485351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>
                <a:solidFill>
                  <a:schemeClr val="accent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en-US" i="1" dirty="0" err="1" smtClean="0">
                <a:solidFill>
                  <a:schemeClr val="accent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temporal_coverage</a:t>
            </a:r>
            <a:r>
              <a:rPr lang="en-US" dirty="0" smtClean="0">
                <a:solidFill>
                  <a:schemeClr val="accent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 →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dct:temporal</a:t>
            </a:r>
            <a:r>
              <a:rPr lang="en-US" i="1" dirty="0" smtClean="0">
                <a:solidFill>
                  <a:schemeClr val="accent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endParaRPr lang="en-US" i="1" dirty="0">
              <a:solidFill>
                <a:schemeClr val="accent1">
                  <a:lumMod val="50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28593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fik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251" y="3562348"/>
            <a:ext cx="7196670" cy="2751668"/>
          </a:xfrm>
          <a:prstGeom prst="rect">
            <a:avLst/>
          </a:prstGeom>
        </p:spPr>
      </p:pic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How to model CKAN </a:t>
            </a:r>
            <a:r>
              <a:rPr lang="en-US" b="1" dirty="0" smtClean="0"/>
              <a:t>resources</a:t>
            </a:r>
            <a:r>
              <a:rPr lang="en-US" dirty="0" smtClean="0"/>
              <a:t>?</a:t>
            </a:r>
            <a:endParaRPr lang="en-US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3161242"/>
          </a:xfrm>
        </p:spPr>
        <p:txBody>
          <a:bodyPr/>
          <a:lstStyle/>
          <a:p>
            <a:r>
              <a:rPr lang="en-US" dirty="0" smtClean="0"/>
              <a:t>DCAT distribution:</a:t>
            </a:r>
          </a:p>
          <a:p>
            <a:pPr lvl="1"/>
            <a:r>
              <a:rPr lang="en-US" i="1" dirty="0"/>
              <a:t>dataset might be available in different forms, these forms </a:t>
            </a:r>
            <a:r>
              <a:rPr lang="en-US" i="1" dirty="0" smtClean="0"/>
              <a:t>might represent </a:t>
            </a:r>
            <a:r>
              <a:rPr lang="en-US" i="1" dirty="0"/>
              <a:t>different formats </a:t>
            </a:r>
            <a:r>
              <a:rPr lang="en-US" i="1" dirty="0" smtClean="0"/>
              <a:t>or endpoints</a:t>
            </a:r>
          </a:p>
          <a:p>
            <a:r>
              <a:rPr lang="en-US" dirty="0" smtClean="0"/>
              <a:t>Use of resources in CKAN:</a:t>
            </a:r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B03EE-0F65-4FB3-87AD-3AF455168DB9}" type="slidenum">
              <a:rPr lang="en-US" smtClean="0"/>
              <a:t>7</a:t>
            </a:fld>
            <a:endParaRPr lang="en-US"/>
          </a:p>
        </p:txBody>
      </p:sp>
      <p:sp>
        <p:nvSpPr>
          <p:cNvPr id="5" name="Rechteck 4"/>
          <p:cNvSpPr/>
          <p:nvPr/>
        </p:nvSpPr>
        <p:spPr>
          <a:xfrm>
            <a:off x="3260482" y="6408002"/>
            <a:ext cx="5332537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Example from: https</a:t>
            </a:r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://</a:t>
            </a:r>
            <a:r>
              <a:rPr lang="en-US" sz="12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data.gov.uk/dataset/river-water-quality-regions</a:t>
            </a:r>
            <a:endParaRPr lang="en-US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7" name="Rechteck 6"/>
          <p:cNvSpPr/>
          <p:nvPr/>
        </p:nvSpPr>
        <p:spPr>
          <a:xfrm>
            <a:off x="822083" y="3490546"/>
            <a:ext cx="2378318" cy="2883590"/>
          </a:xfrm>
          <a:prstGeom prst="rect">
            <a:avLst/>
          </a:prstGeom>
          <a:noFill/>
          <a:ln w="28575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hteck 7"/>
          <p:cNvSpPr/>
          <p:nvPr/>
        </p:nvSpPr>
        <p:spPr>
          <a:xfrm>
            <a:off x="709930" y="6317624"/>
            <a:ext cx="181998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DCAT distribution</a:t>
            </a:r>
          </a:p>
        </p:txBody>
      </p:sp>
    </p:spTree>
    <p:extLst>
      <p:ext uri="{BB962C8B-B14F-4D97-AF65-F5344CB8AC3E}">
        <p14:creationId xmlns:p14="http://schemas.microsoft.com/office/powerpoint/2010/main" val="8931170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Summary</a:t>
            </a:r>
            <a:endParaRPr lang="en-US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defRPr/>
            </a:pPr>
            <a:r>
              <a:rPr lang="en-US" i="1" dirty="0">
                <a:solidFill>
                  <a:sysClr val="windowText" lastClr="000000"/>
                </a:solidFill>
              </a:rPr>
              <a:t>We do</a:t>
            </a:r>
            <a:r>
              <a:rPr lang="en-US" dirty="0">
                <a:solidFill>
                  <a:sysClr val="windowText" lastClr="000000"/>
                </a:solidFill>
              </a:rPr>
              <a:t>: </a:t>
            </a:r>
            <a:r>
              <a:rPr lang="en-US" b="1" dirty="0">
                <a:solidFill>
                  <a:sysClr val="windowText" lastClr="000000"/>
                </a:solidFill>
              </a:rPr>
              <a:t>monitoring</a:t>
            </a:r>
            <a:r>
              <a:rPr lang="en-US" dirty="0">
                <a:solidFill>
                  <a:sysClr val="windowText" lastClr="000000"/>
                </a:solidFill>
              </a:rPr>
              <a:t> of ~</a:t>
            </a:r>
            <a:r>
              <a:rPr lang="en-US" dirty="0" smtClean="0">
                <a:solidFill>
                  <a:sysClr val="windowText" lastClr="000000"/>
                </a:solidFill>
              </a:rPr>
              <a:t>250 </a:t>
            </a:r>
            <a:r>
              <a:rPr lang="en-US" dirty="0">
                <a:solidFill>
                  <a:sysClr val="windowText" lastClr="000000"/>
                </a:solidFill>
              </a:rPr>
              <a:t>Open Data portals</a:t>
            </a:r>
          </a:p>
          <a:p>
            <a:pPr lvl="0"/>
            <a:r>
              <a:rPr lang="en-US" i="1" dirty="0">
                <a:solidFill>
                  <a:sysClr val="windowText" lastClr="000000"/>
                </a:solidFill>
              </a:rPr>
              <a:t>We gained</a:t>
            </a:r>
            <a:r>
              <a:rPr lang="en-US" dirty="0">
                <a:solidFill>
                  <a:sysClr val="windowText" lastClr="000000"/>
                </a:solidFill>
              </a:rPr>
              <a:t> </a:t>
            </a:r>
            <a:r>
              <a:rPr lang="en-US" i="1" dirty="0">
                <a:solidFill>
                  <a:sysClr val="windowText" lastClr="000000"/>
                </a:solidFill>
              </a:rPr>
              <a:t>insights</a:t>
            </a:r>
            <a:r>
              <a:rPr lang="en-US" dirty="0">
                <a:solidFill>
                  <a:sysClr val="windowText" lastClr="000000"/>
                </a:solidFill>
              </a:rPr>
              <a:t>: </a:t>
            </a:r>
          </a:p>
          <a:p>
            <a:pPr marL="0" indent="0">
              <a:buNone/>
            </a:pPr>
            <a:r>
              <a:rPr lang="en-US" dirty="0">
                <a:solidFill>
                  <a:sysClr val="windowText" lastClr="000000"/>
                </a:solidFill>
              </a:rPr>
              <a:t>… into </a:t>
            </a:r>
            <a:r>
              <a:rPr lang="en-US" b="1" dirty="0">
                <a:solidFill>
                  <a:sysClr val="windowText" lastClr="000000"/>
                </a:solidFill>
              </a:rPr>
              <a:t>current use </a:t>
            </a:r>
            <a:r>
              <a:rPr lang="en-US" dirty="0">
                <a:solidFill>
                  <a:sysClr val="windowText" lastClr="000000"/>
                </a:solidFill>
              </a:rPr>
              <a:t>of CKAN metadata keys </a:t>
            </a:r>
          </a:p>
          <a:p>
            <a:pPr marL="0" lvl="0" indent="0">
              <a:buNone/>
              <a:defRPr/>
            </a:pPr>
            <a:r>
              <a:rPr lang="en-US" dirty="0">
                <a:solidFill>
                  <a:sysClr val="windowText" lastClr="000000"/>
                </a:solidFill>
              </a:rPr>
              <a:t>… into </a:t>
            </a:r>
            <a:r>
              <a:rPr lang="en-US" b="1" dirty="0">
                <a:solidFill>
                  <a:sysClr val="windowText" lastClr="000000"/>
                </a:solidFill>
              </a:rPr>
              <a:t>issues</a:t>
            </a:r>
            <a:r>
              <a:rPr lang="en-US" dirty="0">
                <a:solidFill>
                  <a:sysClr val="windowText" lastClr="000000"/>
                </a:solidFill>
              </a:rPr>
              <a:t> </a:t>
            </a:r>
            <a:r>
              <a:rPr lang="en-US" b="1" dirty="0">
                <a:solidFill>
                  <a:sysClr val="windowText" lastClr="000000"/>
                </a:solidFill>
              </a:rPr>
              <a:t>when mapping </a:t>
            </a:r>
            <a:r>
              <a:rPr lang="en-US" dirty="0">
                <a:solidFill>
                  <a:sysClr val="windowText" lastClr="000000"/>
                </a:solidFill>
              </a:rPr>
              <a:t>these keys to DCAT:</a:t>
            </a:r>
          </a:p>
          <a:p>
            <a:pPr lvl="1">
              <a:spcBef>
                <a:spcPts val="1000"/>
              </a:spcBef>
            </a:pPr>
            <a:r>
              <a:rPr lang="en-US" dirty="0">
                <a:solidFill>
                  <a:sysClr val="windowText" lastClr="000000"/>
                </a:solidFill>
              </a:rPr>
              <a:t>Different mapping output for “extra” keys</a:t>
            </a:r>
          </a:p>
          <a:p>
            <a:pPr lvl="1">
              <a:spcBef>
                <a:spcPts val="1000"/>
              </a:spcBef>
            </a:pPr>
            <a:r>
              <a:rPr lang="en-US" dirty="0">
                <a:solidFill>
                  <a:sysClr val="windowText" lastClr="000000"/>
                </a:solidFill>
              </a:rPr>
              <a:t>No predefined mapping for frequently used “extra” keys</a:t>
            </a:r>
          </a:p>
          <a:p>
            <a:pPr lvl="1">
              <a:spcBef>
                <a:spcPts val="1000"/>
              </a:spcBef>
            </a:pPr>
            <a:r>
              <a:rPr lang="en-US" dirty="0">
                <a:solidFill>
                  <a:sysClr val="windowText" lastClr="000000"/>
                </a:solidFill>
              </a:rPr>
              <a:t>DCAT specification defines distributions as </a:t>
            </a:r>
            <a:r>
              <a:rPr lang="en-US" dirty="0" smtClean="0">
                <a:solidFill>
                  <a:sysClr val="windowText" lastClr="000000"/>
                </a:solidFill>
              </a:rPr>
              <a:t>different forms/formats of </a:t>
            </a:r>
            <a:r>
              <a:rPr lang="en-US" dirty="0">
                <a:solidFill>
                  <a:sysClr val="windowText" lastClr="000000"/>
                </a:solidFill>
              </a:rPr>
              <a:t>same </a:t>
            </a:r>
            <a:r>
              <a:rPr lang="en-US" dirty="0" smtClean="0">
                <a:solidFill>
                  <a:sysClr val="windowText" lastClr="000000"/>
                </a:solidFill>
              </a:rPr>
              <a:t>content (and not by other dimensions)</a:t>
            </a:r>
            <a:endParaRPr lang="en-US" dirty="0">
              <a:solidFill>
                <a:sysClr val="windowText" lastClr="000000"/>
              </a:solidFill>
            </a:endParaRPr>
          </a:p>
          <a:p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B03EE-0F65-4FB3-87AD-3AF455168DB9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04723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el 1"/>
          <p:cNvSpPr txBox="1">
            <a:spLocks/>
          </p:cNvSpPr>
          <p:nvPr/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Conclusions &amp; Suggestions</a:t>
            </a:r>
            <a:endParaRPr kumimoji="0" lang="en-US" sz="44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 Light" panose="020F0302020204030204"/>
              <a:ea typeface="+mj-ea"/>
              <a:cs typeface="+mj-cs"/>
            </a:endParaRPr>
          </a:p>
        </p:txBody>
      </p:sp>
      <p:sp>
        <p:nvSpPr>
          <p:cNvPr id="14" name="Inhaltsplatzhalter 2"/>
          <p:cNvSpPr txBox="1">
            <a:spLocks/>
          </p:cNvSpPr>
          <p:nvPr/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Rechteck 14"/>
          <p:cNvSpPr/>
          <p:nvPr/>
        </p:nvSpPr>
        <p:spPr>
          <a:xfrm>
            <a:off x="571048" y="5422347"/>
            <a:ext cx="4741181" cy="1263368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76193" tIns="38096" rIns="76193" bIns="38096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AT" sz="1500" b="0" i="0" u="none" strike="noStrike" kern="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6" name="Grafik 15" descr="Logo-für-VK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19957" y="5487938"/>
            <a:ext cx="273773" cy="1179635"/>
          </a:xfrm>
          <a:prstGeom prst="rect">
            <a:avLst/>
          </a:prstGeom>
        </p:spPr>
      </p:pic>
      <p:sp>
        <p:nvSpPr>
          <p:cNvPr id="17" name="Textplatzhalter 1"/>
          <p:cNvSpPr txBox="1">
            <a:spLocks/>
          </p:cNvSpPr>
          <p:nvPr/>
        </p:nvSpPr>
        <p:spPr>
          <a:xfrm>
            <a:off x="1142639" y="5467846"/>
            <a:ext cx="5166133" cy="11658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 smtClean="0">
                <a:solidFill>
                  <a:prstClr val="black"/>
                </a:solidFill>
                <a:latin typeface="Calibri" panose="020F0502020204030204"/>
              </a:rPr>
              <a:t>Sebastian Neumaier</a:t>
            </a:r>
          </a:p>
          <a:p>
            <a:r>
              <a:rPr lang="en-US" sz="1100" dirty="0" smtClean="0">
                <a:solidFill>
                  <a:prstClr val="black"/>
                </a:solidFill>
                <a:latin typeface="Calibri" panose="020F0502020204030204"/>
              </a:rPr>
              <a:t>WU Vienna, Institute for Information Business</a:t>
            </a:r>
          </a:p>
          <a:p>
            <a:endParaRPr lang="en-US" sz="1100" dirty="0" smtClean="0">
              <a:solidFill>
                <a:prstClr val="black"/>
              </a:solidFill>
              <a:latin typeface="Calibri" panose="020F0502020204030204"/>
            </a:endParaRPr>
          </a:p>
          <a:p>
            <a:r>
              <a:rPr lang="en-US" sz="1100" i="1" dirty="0" smtClean="0">
                <a:solidFill>
                  <a:prstClr val="black"/>
                </a:solidFill>
                <a:latin typeface="Calibri" panose="020F0502020204030204"/>
              </a:rPr>
              <a:t>email</a:t>
            </a:r>
            <a:r>
              <a:rPr lang="en-US" sz="1100" dirty="0" smtClean="0">
                <a:solidFill>
                  <a:prstClr val="black"/>
                </a:solidFill>
                <a:latin typeface="Calibri" panose="020F0502020204030204"/>
              </a:rPr>
              <a:t>: sebastian.neumaier@wu.ac.at</a:t>
            </a:r>
          </a:p>
          <a:p>
            <a:r>
              <a:rPr lang="en-US" sz="1100" i="1" dirty="0" smtClean="0">
                <a:solidFill>
                  <a:prstClr val="black"/>
                </a:solidFill>
                <a:latin typeface="Calibri" panose="020F0502020204030204"/>
              </a:rPr>
              <a:t>url</a:t>
            </a:r>
            <a:r>
              <a:rPr lang="en-US" sz="1100" dirty="0" smtClean="0">
                <a:solidFill>
                  <a:prstClr val="black"/>
                </a:solidFill>
                <a:latin typeface="Calibri" panose="020F0502020204030204"/>
              </a:rPr>
              <a:t>: https://sebneumaier.wordpress.com/</a:t>
            </a:r>
          </a:p>
          <a:p>
            <a:r>
              <a:rPr lang="en-US" sz="1100" i="1" dirty="0" smtClean="0">
                <a:solidFill>
                  <a:prstClr val="black"/>
                </a:solidFill>
                <a:latin typeface="Calibri" panose="020F0502020204030204"/>
              </a:rPr>
              <a:t>twitter</a:t>
            </a:r>
            <a:r>
              <a:rPr lang="en-US" sz="1100" dirty="0" smtClean="0">
                <a:solidFill>
                  <a:prstClr val="black"/>
                </a:solidFill>
                <a:latin typeface="Calibri" panose="020F0502020204030204"/>
              </a:rPr>
              <a:t>: @</a:t>
            </a:r>
            <a:r>
              <a:rPr lang="en-US" sz="1100" dirty="0" err="1" smtClean="0">
                <a:solidFill>
                  <a:prstClr val="black"/>
                </a:solidFill>
                <a:latin typeface="Calibri" panose="020F0502020204030204"/>
              </a:rPr>
              <a:t>sebneum</a:t>
            </a:r>
            <a:endParaRPr lang="en-US" sz="1100" dirty="0" smtClean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Inhaltsplatzhalter 2"/>
          <p:cNvSpPr txBox="1">
            <a:spLocks/>
          </p:cNvSpPr>
          <p:nvPr/>
        </p:nvSpPr>
        <p:spPr>
          <a:xfrm>
            <a:off x="781050" y="1978025"/>
            <a:ext cx="7886700" cy="339231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Different output: </a:t>
            </a:r>
            <a:b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install/activate/update DCAT</a:t>
            </a:r>
            <a:r>
              <a:rPr kumimoji="0" lang="en-US" sz="2400" b="0" i="0" u="none" strike="noStrike" kern="1200" cap="none" spc="0" normalizeH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extension</a:t>
            </a:r>
          </a:p>
          <a:p>
            <a:pPr lvl="3">
              <a:spcBef>
                <a:spcPts val="1000"/>
              </a:spcBef>
              <a:defRPr/>
            </a:pPr>
            <a:endParaRPr kumimoji="0" lang="en-US" sz="1400" b="0" i="0" u="none" strike="noStrike" kern="1200" cap="none" spc="0" normalizeH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The widely used CKAN 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extension lacks mappings</a:t>
            </a:r>
            <a:r>
              <a:rPr kumimoji="0" lang="en-US" sz="2400" b="0" i="0" u="none" strike="noStrike" kern="1200" cap="none" spc="0" normalizeH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for </a:t>
            </a:r>
            <a:r>
              <a:rPr kumimoji="0" lang="en-US" sz="2400" b="0" i="0" u="none" strike="noStrike" kern="1200" cap="none" spc="0" normalizeH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popular extra keys </a:t>
            </a:r>
            <a:r>
              <a:rPr kumimoji="0" lang="en-US" sz="2400" b="0" i="0" u="none" strike="noStrike" kern="1200" cap="none" spc="0" normalizeH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(e.g. </a:t>
            </a:r>
            <a:r>
              <a:rPr kumimoji="0" lang="en-US" sz="2400" i="1" u="none" strike="noStrike" kern="1200" cap="none" spc="0" normalizeH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spatial</a:t>
            </a:r>
            <a:r>
              <a:rPr kumimoji="0" lang="en-US" sz="2400" b="0" i="0" u="none" strike="noStrike" kern="1200" cap="none" spc="0" normalizeH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</a:t>
            </a:r>
          </a:p>
          <a:p>
            <a:pPr lvl="3">
              <a:spcBef>
                <a:spcPts val="1000"/>
              </a:spcBef>
              <a:defRPr/>
            </a:pPr>
            <a:endParaRPr kumimoji="0" lang="en-US" sz="1400" b="0" i="0" u="none" strike="noStrike" kern="120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DCAT recommendation could provide properties for frequent</a:t>
            </a:r>
            <a:r>
              <a:rPr kumimoji="0" lang="en-US" sz="2400" b="0" i="0" u="none" strike="noStrike" kern="1200" cap="none" spc="0" normalizeH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extra keys, e.g., harvested datasets (</a:t>
            </a:r>
            <a:r>
              <a:rPr kumimoji="0" lang="en-US" sz="2000" b="0" i="0" u="none" strike="noStrike" kern="1200" cap="none" spc="0" normalizeH="0" noProof="0" dirty="0" err="1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nsolas" panose="020B0609020204030204" pitchFamily="49" charset="0"/>
                <a:cs typeface="Consolas" panose="020B0609020204030204" pitchFamily="49" charset="0"/>
              </a:rPr>
              <a:t>owl:sameAs</a:t>
            </a:r>
            <a:r>
              <a:rPr kumimoji="0" lang="en-US" sz="2400" b="0" i="0" u="none" strike="noStrike" kern="1200" cap="none" spc="0" normalizeH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?)</a:t>
            </a:r>
          </a:p>
          <a:p>
            <a:pPr lvl="3">
              <a:spcBef>
                <a:spcPts val="1000"/>
              </a:spcBef>
              <a:defRPr/>
            </a:pPr>
            <a:endParaRPr kumimoji="0" lang="en-US" sz="1400" b="0" i="0" u="none" strike="noStrike" kern="1200" cap="none" spc="0" normalizeH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lvl="0">
              <a:defRPr/>
            </a:pPr>
            <a:r>
              <a:rPr lang="en-US" sz="2400" noProof="0" dirty="0" smtClean="0">
                <a:solidFill>
                  <a:sysClr val="windowText" lastClr="000000"/>
                </a:solidFill>
                <a:latin typeface="Calibri" panose="020F0502020204030204"/>
              </a:rPr>
              <a:t>Distribution </a:t>
            </a:r>
            <a:r>
              <a:rPr lang="en-US" sz="2400" dirty="0">
                <a:solidFill>
                  <a:sysClr val="windowText" lastClr="000000"/>
                </a:solidFill>
                <a:latin typeface="Calibri" panose="020F0502020204030204"/>
              </a:rPr>
              <a:t>level should </a:t>
            </a:r>
            <a:r>
              <a:rPr lang="en-US" sz="2400" dirty="0" smtClean="0">
                <a:solidFill>
                  <a:sysClr val="windowText" lastClr="000000"/>
                </a:solidFill>
                <a:latin typeface="Calibri" panose="020F0502020204030204"/>
              </a:rPr>
              <a:t>recommend(/allow) </a:t>
            </a:r>
            <a:r>
              <a:rPr lang="en-US" sz="2400" noProof="0" dirty="0" smtClean="0">
                <a:solidFill>
                  <a:sysClr val="windowText" lastClr="000000"/>
                </a:solidFill>
                <a:latin typeface="Calibri" panose="020F0502020204030204"/>
              </a:rPr>
              <a:t>other dimension descriptions (e.g., </a:t>
            </a:r>
            <a:r>
              <a:rPr lang="en-US" sz="2000" noProof="0" dirty="0" err="1" smtClean="0">
                <a:solidFill>
                  <a:sysClr val="windowText" lastClr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dct:temporal</a:t>
            </a:r>
            <a:r>
              <a:rPr lang="en-US" sz="2000" noProof="0" dirty="0" smtClean="0">
                <a:solidFill>
                  <a:sysClr val="windowText" lastClr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2000" noProof="0" dirty="0" err="1" smtClean="0">
                <a:solidFill>
                  <a:sysClr val="windowText" lastClr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dct:spatial</a:t>
            </a:r>
            <a:r>
              <a:rPr lang="en-US" sz="2400" noProof="0" dirty="0" smtClean="0">
                <a:solidFill>
                  <a:sysClr val="windowText" lastClr="000000"/>
                </a:solidFill>
                <a:latin typeface="Calibri" panose="020F0502020204030204"/>
              </a:rPr>
              <a:t>)</a:t>
            </a:r>
            <a:endParaRPr kumimoji="0" lang="en-US" sz="2400" b="0" i="0" u="none" strike="noStrike" kern="1200" cap="none" spc="0" normalizeH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02817919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Larissa-Design">
  <a:themeElements>
    <a:clrScheme name="Larissa-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Larissa-Design">
      <a:majorFont>
        <a:latin typeface="Verdana"/>
        <a:ea typeface="DejaVu Sans"/>
        <a:cs typeface="DejaVu Sans"/>
      </a:majorFont>
      <a:minorFont>
        <a:latin typeface="Verdana"/>
        <a:ea typeface="DejaVu Sans"/>
        <a:cs typeface="DejaVu Sans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6" charset="0"/>
          <a:buNone/>
          <a:tabLst/>
          <a:defRPr kumimoji="0" lang="en-GB" sz="1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6" charset="0"/>
          <a:buNone/>
          <a:tabLst/>
          <a:defRPr kumimoji="0" lang="en-GB" sz="1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charset="0"/>
            <a:cs typeface="Arial" charset="0"/>
          </a:defRPr>
        </a:defPPr>
      </a:lstStyle>
    </a:lnDef>
  </a:objectDefaults>
  <a:extraClrSchemeLst>
    <a:extraClrScheme>
      <a:clrScheme name="Larissa-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arissa-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arissa-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arissa-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arissa-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arissa-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arissa-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Default">
  <a:themeElements>
    <a:clrScheme name="Default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0096D3"/>
      </a:accent1>
      <a:accent2>
        <a:srgbClr val="002E60"/>
      </a:accent2>
      <a:accent3>
        <a:srgbClr val="532481"/>
      </a:accent3>
      <a:accent4>
        <a:srgbClr val="457AA0"/>
      </a:accent4>
      <a:accent5>
        <a:srgbClr val="A991C0"/>
      </a:accent5>
      <a:accent6>
        <a:srgbClr val="7FCAE9"/>
      </a:accent6>
      <a:hlink>
        <a:srgbClr val="0000FF"/>
      </a:hlink>
      <a:folHlink>
        <a:srgbClr val="FF00FF"/>
      </a:folHlink>
    </a:clrScheme>
    <a:fontScheme name="Default">
      <a:majorFont>
        <a:latin typeface="Helvetica Neue"/>
        <a:ea typeface="Helvetica Neue"/>
        <a:cs typeface="Helvetica Neue"/>
      </a:majorFont>
      <a:minorFont>
        <a:latin typeface="Helvetica"/>
        <a:ea typeface="Helvetica"/>
        <a:cs typeface="Helvetica"/>
      </a:minorFont>
    </a:fontScheme>
    <a:fmtScheme name="Defaul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bevel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Avenir Next"/>
            <a:ea typeface="Avenir Next"/>
            <a:cs typeface="Avenir Next"/>
            <a:sym typeface="Avenir Nex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bevel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Palatino Linotype"/>
            <a:ea typeface="Palatino Linotype"/>
            <a:cs typeface="Palatino Linotype"/>
            <a:sym typeface="Palatino Linotyp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321</Words>
  <Application>Microsoft Office PowerPoint</Application>
  <PresentationFormat>Bildschirmpräsentation (4:3)</PresentationFormat>
  <Paragraphs>79</Paragraphs>
  <Slides>9</Slides>
  <Notes>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13</vt:i4>
      </vt:variant>
      <vt:variant>
        <vt:lpstr>Design</vt:lpstr>
      </vt:variant>
      <vt:variant>
        <vt:i4>3</vt:i4>
      </vt:variant>
      <vt:variant>
        <vt:lpstr>Folientitel</vt:lpstr>
      </vt:variant>
      <vt:variant>
        <vt:i4>9</vt:i4>
      </vt:variant>
    </vt:vector>
  </HeadingPairs>
  <TitlesOfParts>
    <vt:vector size="25" baseType="lpstr">
      <vt:lpstr>Arial</vt:lpstr>
      <vt:lpstr>Avenir Next</vt:lpstr>
      <vt:lpstr>Calibri</vt:lpstr>
      <vt:lpstr>Calibri Light</vt:lpstr>
      <vt:lpstr>Consolas</vt:lpstr>
      <vt:lpstr>DejaVu Sans</vt:lpstr>
      <vt:lpstr>Goudy Old Style</vt:lpstr>
      <vt:lpstr>Helvetica</vt:lpstr>
      <vt:lpstr>Helvetica Neue</vt:lpstr>
      <vt:lpstr>Palatino Linotype</vt:lpstr>
      <vt:lpstr>Times New Roman</vt:lpstr>
      <vt:lpstr>Verdana</vt:lpstr>
      <vt:lpstr>Wingdings</vt:lpstr>
      <vt:lpstr>Office Theme</vt:lpstr>
      <vt:lpstr>1_Larissa-Design</vt:lpstr>
      <vt:lpstr>Default</vt:lpstr>
      <vt:lpstr>Challenges of mapping current CKAN metadata to DCAT</vt:lpstr>
      <vt:lpstr>What we do:</vt:lpstr>
      <vt:lpstr>CKAN (mostly) exports DCAT</vt:lpstr>
      <vt:lpstr>CKAN provides “extra” keys</vt:lpstr>
      <vt:lpstr>What “extra” keys are available?</vt:lpstr>
      <vt:lpstr>Current mapping of “extra” keys</vt:lpstr>
      <vt:lpstr>How to model CKAN resources?</vt:lpstr>
      <vt:lpstr>Summary</vt:lpstr>
      <vt:lpstr>PowerPoint-Präsentation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Multi-level semantic labelling of numerical values</dc:title>
  <dc:creator>Sebastian Neumaier</dc:creator>
  <cp:lastModifiedBy>Sebastian Neumaier</cp:lastModifiedBy>
  <cp:revision>138</cp:revision>
  <dcterms:created xsi:type="dcterms:W3CDTF">2016-09-26T07:48:28Z</dcterms:created>
  <dcterms:modified xsi:type="dcterms:W3CDTF">2016-11-30T11:14:54Z</dcterms:modified>
</cp:coreProperties>
</file>