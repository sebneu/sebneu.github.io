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60" r:id="rId4"/>
  </p:sldMasterIdLst>
  <p:notesMasterIdLst>
    <p:notesMasterId r:id="rId21"/>
  </p:notesMasterIdLst>
  <p:handoutMasterIdLst>
    <p:handoutMasterId r:id="rId22"/>
  </p:handoutMasterIdLst>
  <p:sldIdLst>
    <p:sldId id="256" r:id="rId5"/>
    <p:sldId id="261" r:id="rId6"/>
    <p:sldId id="267" r:id="rId7"/>
    <p:sldId id="257" r:id="rId8"/>
    <p:sldId id="266" r:id="rId9"/>
    <p:sldId id="258" r:id="rId10"/>
    <p:sldId id="262" r:id="rId11"/>
    <p:sldId id="269" r:id="rId12"/>
    <p:sldId id="263" r:id="rId13"/>
    <p:sldId id="264" r:id="rId14"/>
    <p:sldId id="268" r:id="rId15"/>
    <p:sldId id="272" r:id="rId16"/>
    <p:sldId id="270" r:id="rId17"/>
    <p:sldId id="259" r:id="rId18"/>
    <p:sldId id="271" r:id="rId19"/>
    <p:sldId id="260" r:id="rId20"/>
  </p:sldIdLst>
  <p:sldSz cx="9144000" cy="5715000" type="screen16x10"/>
  <p:notesSz cx="6858000" cy="9144000"/>
  <p:custDataLst>
    <p:tags r:id="rId23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>
          <p15:clr>
            <a:srgbClr val="A4A3A4"/>
          </p15:clr>
        </p15:guide>
        <p15:guide id="2" pos="5465">
          <p15:clr>
            <a:srgbClr val="A4A3A4"/>
          </p15:clr>
        </p15:guide>
        <p15:guide id="3" pos="4241">
          <p15:clr>
            <a:srgbClr val="A4A3A4"/>
          </p15:clr>
        </p15:guide>
        <p15:guide id="4" pos="469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1" name="Autor" initials="A" lastIdx="0" clrIdx="1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6D3"/>
    <a:srgbClr val="E7EFF7"/>
    <a:srgbClr val="CBDDEF"/>
    <a:srgbClr val="0C94B7"/>
    <a:srgbClr val="41B4CE"/>
    <a:srgbClr val="73BAD1"/>
    <a:srgbClr val="65B4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Helle Formatvorlage 1 - Akz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ittlere Formatvorlage 1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0" autoAdjust="0"/>
    <p:restoredTop sz="88339" autoAdjust="0"/>
  </p:normalViewPr>
  <p:slideViewPr>
    <p:cSldViewPr snapToGrid="0" showGuides="1">
      <p:cViewPr varScale="1">
        <p:scale>
          <a:sx n="102" d="100"/>
          <a:sy n="102" d="100"/>
        </p:scale>
        <p:origin x="1608" y="108"/>
      </p:cViewPr>
      <p:guideLst>
        <p:guide orient="horz" pos="1800"/>
        <p:guide pos="5465"/>
        <p:guide pos="4241"/>
        <p:guide pos="469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7" d="100"/>
          <a:sy n="87" d="100"/>
        </p:scale>
        <p:origin x="3678" y="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gs" Target="tags/tag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8817FD-8155-4502-AF78-DBC2EA4B168F}" type="datetimeFigureOut">
              <a:rPr lang="en-GB" sz="1000" smtClean="0">
                <a:latin typeface="Verdana" pitchFamily="34" charset="0"/>
                <a:ea typeface="Verdana" pitchFamily="34" charset="0"/>
                <a:cs typeface="Verdana" pitchFamily="34" charset="0"/>
              </a:rPr>
              <a:t>19/04/2018</a:t>
            </a:fld>
            <a:endParaRPr lang="en-GB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7F6F62-1C91-45E7-BAED-FBFBF67C82BC}" type="slidenum">
              <a:rPr lang="en-GB" sz="1000" smtClean="0">
                <a:latin typeface="Verdana" pitchFamily="34" charset="0"/>
                <a:ea typeface="Verdana" pitchFamily="34" charset="0"/>
                <a:cs typeface="Verdana" pitchFamily="34" charset="0"/>
              </a:rPr>
              <a:t>‹Nr.›</a:t>
            </a:fld>
            <a:endParaRPr lang="en-GB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43456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C0A972FC-F5E0-4F80-B169-F0B5EFC71333}" type="datetimeFigureOut">
              <a:rPr lang="en-GB" smtClean="0"/>
              <a:pPr/>
              <a:t>19/04/2018</a:t>
            </a:fld>
            <a:endParaRPr lang="en-GB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 err="1"/>
              <a:t>Textmasterformat</a:t>
            </a:r>
            <a:r>
              <a:rPr lang="en-GB" dirty="0"/>
              <a:t> </a:t>
            </a:r>
            <a:r>
              <a:rPr lang="en-GB" dirty="0" err="1"/>
              <a:t>bearbeiten</a:t>
            </a:r>
            <a:endParaRPr lang="en-GB" dirty="0"/>
          </a:p>
          <a:p>
            <a:pPr lvl="1"/>
            <a:r>
              <a:rPr lang="en-GB" dirty="0" err="1"/>
              <a:t>Zweite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2"/>
            <a:r>
              <a:rPr lang="en-GB" dirty="0" err="1"/>
              <a:t>Dritte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3"/>
            <a:r>
              <a:rPr lang="en-GB" dirty="0" err="1"/>
              <a:t>Vierte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4"/>
            <a:r>
              <a:rPr lang="en-GB" dirty="0" err="1"/>
              <a:t>Fünfte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219CC2FD-B32F-4992-A15B-F95E2E35C81B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5136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Verdana" pitchFamily="34" charset="0"/>
        <a:ea typeface="Verdana" pitchFamily="34" charset="0"/>
        <a:cs typeface="Verdana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 smtClean="0"/>
              <a:t>An </a:t>
            </a:r>
            <a:r>
              <a:rPr lang="de-DE" dirty="0" err="1" smtClean="0"/>
              <a:t>increasing</a:t>
            </a:r>
            <a:r>
              <a:rPr lang="de-DE" dirty="0" smtClean="0"/>
              <a:t> </a:t>
            </a:r>
            <a:r>
              <a:rPr lang="de-DE" dirty="0" err="1" smtClean="0"/>
              <a:t>amount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Open Data </a:t>
            </a:r>
            <a:r>
              <a:rPr lang="de-DE" dirty="0" err="1" smtClean="0"/>
              <a:t>becomes</a:t>
            </a:r>
            <a:r>
              <a:rPr lang="de-DE" dirty="0" smtClean="0"/>
              <a:t> </a:t>
            </a:r>
            <a:r>
              <a:rPr lang="de-DE" dirty="0" err="1" smtClean="0"/>
              <a:t>available</a:t>
            </a:r>
            <a:r>
              <a:rPr lang="de-DE" dirty="0" smtClean="0"/>
              <a:t> </a:t>
            </a:r>
            <a:r>
              <a:rPr lang="de-DE" dirty="0" err="1" smtClean="0"/>
              <a:t>as</a:t>
            </a:r>
            <a:r>
              <a:rPr lang="de-DE" dirty="0" smtClean="0"/>
              <a:t> an </a:t>
            </a:r>
            <a:r>
              <a:rPr lang="de-DE" dirty="0" err="1" smtClean="0"/>
              <a:t>important</a:t>
            </a:r>
            <a:r>
              <a:rPr lang="de-DE" dirty="0" smtClean="0"/>
              <a:t> </a:t>
            </a:r>
            <a:r>
              <a:rPr lang="de-DE" dirty="0" err="1" smtClean="0"/>
              <a:t>resource</a:t>
            </a:r>
            <a:r>
              <a:rPr lang="de-DE" dirty="0" smtClean="0"/>
              <a:t> </a:t>
            </a:r>
            <a:r>
              <a:rPr lang="de-DE" dirty="0" err="1" smtClean="0"/>
              <a:t>for</a:t>
            </a:r>
            <a:r>
              <a:rPr lang="de-DE" dirty="0" smtClean="0"/>
              <a:t> </a:t>
            </a:r>
            <a:r>
              <a:rPr lang="de-DE" dirty="0" err="1" smtClean="0"/>
              <a:t>emerging</a:t>
            </a:r>
            <a:r>
              <a:rPr lang="de-DE" dirty="0" smtClean="0"/>
              <a:t> </a:t>
            </a:r>
            <a:r>
              <a:rPr lang="de-DE" dirty="0" err="1" smtClean="0"/>
              <a:t>businesses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further</a:t>
            </a:r>
            <a:r>
              <a:rPr lang="de-DE" dirty="0" smtClean="0"/>
              <a:t> on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integration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such open, </a:t>
            </a:r>
            <a:r>
              <a:rPr lang="de-DE" dirty="0" err="1" smtClean="0"/>
              <a:t>freely</a:t>
            </a:r>
            <a:r>
              <a:rPr lang="de-DE" dirty="0" smtClean="0"/>
              <a:t> </a:t>
            </a:r>
            <a:r>
              <a:rPr lang="de-DE" dirty="0" err="1" smtClean="0"/>
              <a:t>re-usable</a:t>
            </a:r>
            <a:r>
              <a:rPr lang="de-DE" dirty="0" smtClean="0"/>
              <a:t> </a:t>
            </a:r>
            <a:r>
              <a:rPr lang="de-DE" dirty="0" err="1" smtClean="0"/>
              <a:t>data</a:t>
            </a:r>
            <a:r>
              <a:rPr lang="de-DE" dirty="0" smtClean="0"/>
              <a:t> </a:t>
            </a:r>
            <a:r>
              <a:rPr lang="de-DE" dirty="0" err="1" smtClean="0"/>
              <a:t>sources</a:t>
            </a:r>
            <a:r>
              <a:rPr lang="de-DE" dirty="0" smtClean="0"/>
              <a:t> </a:t>
            </a:r>
            <a:r>
              <a:rPr lang="de-DE" dirty="0" err="1" smtClean="0"/>
              <a:t>into</a:t>
            </a:r>
            <a:r>
              <a:rPr lang="de-DE" dirty="0" smtClean="0"/>
              <a:t> </a:t>
            </a:r>
            <a:r>
              <a:rPr lang="de-DE" dirty="0" err="1" smtClean="0"/>
              <a:t>organisations</a:t>
            </a:r>
            <a:r>
              <a:rPr lang="de-DE" dirty="0" smtClean="0"/>
              <a:t>’ </a:t>
            </a:r>
            <a:r>
              <a:rPr lang="de-DE" dirty="0" err="1" smtClean="0"/>
              <a:t>data</a:t>
            </a:r>
            <a:r>
              <a:rPr lang="de-DE" dirty="0" smtClean="0"/>
              <a:t> </a:t>
            </a:r>
            <a:r>
              <a:rPr lang="de-DE" dirty="0" err="1" smtClean="0"/>
              <a:t>warehouse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data</a:t>
            </a:r>
            <a:r>
              <a:rPr lang="de-DE" dirty="0" smtClean="0"/>
              <a:t> </a:t>
            </a:r>
            <a:r>
              <a:rPr lang="de-DE" dirty="0" err="1" smtClean="0"/>
              <a:t>management</a:t>
            </a:r>
            <a:r>
              <a:rPr lang="de-DE" dirty="0" smtClean="0"/>
              <a:t> </a:t>
            </a:r>
            <a:r>
              <a:rPr lang="de-DE" dirty="0" err="1" smtClean="0"/>
              <a:t>systems</a:t>
            </a:r>
            <a:r>
              <a:rPr lang="de-DE" dirty="0" smtClean="0"/>
              <a:t> </a:t>
            </a:r>
            <a:r>
              <a:rPr lang="de-DE" dirty="0" err="1" smtClean="0"/>
              <a:t>is</a:t>
            </a:r>
            <a:r>
              <a:rPr lang="de-DE" dirty="0" smtClean="0"/>
              <a:t> </a:t>
            </a:r>
            <a:r>
              <a:rPr lang="de-DE" dirty="0" err="1" smtClean="0"/>
              <a:t>seen</a:t>
            </a:r>
            <a:r>
              <a:rPr lang="de-DE" dirty="0" smtClean="0"/>
              <a:t> </a:t>
            </a:r>
            <a:r>
              <a:rPr lang="de-DE" dirty="0" err="1" smtClean="0"/>
              <a:t>as</a:t>
            </a:r>
            <a:r>
              <a:rPr lang="de-DE" dirty="0" smtClean="0"/>
              <a:t> a </a:t>
            </a:r>
            <a:r>
              <a:rPr lang="de-DE" dirty="0" err="1" smtClean="0"/>
              <a:t>key</a:t>
            </a:r>
            <a:r>
              <a:rPr lang="de-DE" dirty="0" smtClean="0"/>
              <a:t> </a:t>
            </a:r>
            <a:r>
              <a:rPr lang="de-DE" dirty="0" err="1" smtClean="0"/>
              <a:t>success</a:t>
            </a:r>
            <a:r>
              <a:rPr lang="de-DE" dirty="0" smtClean="0"/>
              <a:t> </a:t>
            </a:r>
            <a:r>
              <a:rPr lang="de-DE" dirty="0" err="1" smtClean="0"/>
              <a:t>factor</a:t>
            </a:r>
            <a:r>
              <a:rPr lang="de-DE" dirty="0" smtClean="0"/>
              <a:t> </a:t>
            </a:r>
            <a:r>
              <a:rPr lang="de-DE" dirty="0" err="1" smtClean="0"/>
              <a:t>for</a:t>
            </a:r>
            <a:r>
              <a:rPr lang="de-DE" dirty="0" smtClean="0"/>
              <a:t> </a:t>
            </a:r>
            <a:r>
              <a:rPr lang="de-DE" dirty="0" err="1" smtClean="0"/>
              <a:t>competitive</a:t>
            </a:r>
            <a:r>
              <a:rPr lang="de-DE" dirty="0" smtClean="0"/>
              <a:t> </a:t>
            </a:r>
            <a:r>
              <a:rPr lang="de-DE" dirty="0" err="1" smtClean="0"/>
              <a:t>advantages</a:t>
            </a:r>
            <a:r>
              <a:rPr lang="de-DE" dirty="0" smtClean="0"/>
              <a:t> in a </a:t>
            </a:r>
            <a:r>
              <a:rPr lang="de-DE" dirty="0" err="1" smtClean="0"/>
              <a:t>data-driven</a:t>
            </a:r>
            <a:r>
              <a:rPr lang="de-DE" dirty="0" smtClean="0"/>
              <a:t> </a:t>
            </a:r>
            <a:r>
              <a:rPr lang="de-DE" dirty="0" err="1" smtClean="0"/>
              <a:t>economy</a:t>
            </a:r>
            <a:r>
              <a:rPr lang="de-DE" dirty="0" smtClean="0"/>
              <a:t>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 smtClean="0"/>
          </a:p>
          <a:p>
            <a:r>
              <a:rPr lang="de-DE" dirty="0" smtClean="0"/>
              <a:t>The </a:t>
            </a:r>
            <a:r>
              <a:rPr lang="de-DE" dirty="0" err="1" smtClean="0"/>
              <a:t>project</a:t>
            </a:r>
            <a:r>
              <a:rPr lang="de-DE" dirty="0" smtClean="0"/>
              <a:t> </a:t>
            </a:r>
            <a:r>
              <a:rPr lang="de-DE" dirty="0" err="1" smtClean="0"/>
              <a:t>now</a:t>
            </a:r>
            <a:r>
              <a:rPr lang="de-DE" dirty="0" smtClean="0"/>
              <a:t> </a:t>
            </a:r>
            <a:r>
              <a:rPr lang="de-DE" dirty="0" err="1" smtClean="0"/>
              <a:t>identifies</a:t>
            </a:r>
            <a:r>
              <a:rPr lang="de-DE" dirty="0" smtClean="0"/>
              <a:t> </a:t>
            </a:r>
            <a:r>
              <a:rPr lang="de-DE" dirty="0" err="1" smtClean="0"/>
              <a:t>crucial</a:t>
            </a:r>
            <a:r>
              <a:rPr lang="de-DE" dirty="0" smtClean="0"/>
              <a:t> </a:t>
            </a:r>
            <a:r>
              <a:rPr lang="de-DE" dirty="0" err="1" smtClean="0"/>
              <a:t>issues</a:t>
            </a:r>
            <a:r>
              <a:rPr lang="de-DE" dirty="0" smtClean="0"/>
              <a:t> </a:t>
            </a:r>
            <a:r>
              <a:rPr lang="de-DE" dirty="0" err="1" smtClean="0"/>
              <a:t>which</a:t>
            </a:r>
            <a:r>
              <a:rPr lang="de-DE" dirty="0" smtClean="0"/>
              <a:t> </a:t>
            </a:r>
            <a:r>
              <a:rPr lang="de-DE" dirty="0" err="1" smtClean="0"/>
              <a:t>have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be</a:t>
            </a:r>
            <a:r>
              <a:rPr lang="de-DE" dirty="0" smtClean="0"/>
              <a:t> </a:t>
            </a:r>
            <a:r>
              <a:rPr lang="de-DE" dirty="0" err="1" smtClean="0"/>
              <a:t>tackled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fully</a:t>
            </a:r>
            <a:r>
              <a:rPr lang="de-DE" dirty="0" smtClean="0"/>
              <a:t> </a:t>
            </a:r>
            <a:r>
              <a:rPr lang="de-DE" dirty="0" err="1" smtClean="0"/>
              <a:t>exploit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value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open </a:t>
            </a:r>
            <a:r>
              <a:rPr lang="de-DE" dirty="0" err="1" smtClean="0"/>
              <a:t>data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efficient</a:t>
            </a:r>
            <a:r>
              <a:rPr lang="de-DE" dirty="0" smtClean="0"/>
              <a:t> </a:t>
            </a:r>
            <a:r>
              <a:rPr lang="de-DE" dirty="0" err="1" smtClean="0"/>
              <a:t>integration</a:t>
            </a:r>
            <a:r>
              <a:rPr lang="de-DE" dirty="0" smtClean="0"/>
              <a:t> </a:t>
            </a:r>
            <a:r>
              <a:rPr lang="de-DE" dirty="0" err="1" smtClean="0"/>
              <a:t>with</a:t>
            </a:r>
            <a:r>
              <a:rPr lang="de-DE" dirty="0" smtClean="0"/>
              <a:t> </a:t>
            </a:r>
            <a:r>
              <a:rPr lang="de-DE" dirty="0" err="1" smtClean="0"/>
              <a:t>other</a:t>
            </a:r>
            <a:r>
              <a:rPr lang="de-DE" dirty="0" smtClean="0"/>
              <a:t> </a:t>
            </a:r>
            <a:r>
              <a:rPr lang="de-DE" dirty="0" err="1" smtClean="0"/>
              <a:t>data</a:t>
            </a:r>
            <a:r>
              <a:rPr lang="de-DE" dirty="0" smtClean="0"/>
              <a:t> </a:t>
            </a:r>
            <a:r>
              <a:rPr lang="de-DE" dirty="0" err="1" smtClean="0"/>
              <a:t>sources</a:t>
            </a:r>
            <a:r>
              <a:rPr lang="de-DE" dirty="0" smtClean="0"/>
              <a:t>:</a:t>
            </a:r>
          </a:p>
          <a:p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overall</a:t>
            </a:r>
            <a:r>
              <a:rPr lang="de-DE" dirty="0" smtClean="0"/>
              <a:t> </a:t>
            </a:r>
            <a:r>
              <a:rPr lang="de-DE" dirty="0" err="1" smtClean="0"/>
              <a:t>quality</a:t>
            </a:r>
            <a:r>
              <a:rPr lang="de-DE" dirty="0" smtClean="0"/>
              <a:t> </a:t>
            </a:r>
            <a:r>
              <a:rPr lang="de-DE" dirty="0" err="1" smtClean="0"/>
              <a:t>issues</a:t>
            </a:r>
            <a:r>
              <a:rPr lang="de-DE" dirty="0" smtClean="0"/>
              <a:t> </a:t>
            </a:r>
            <a:r>
              <a:rPr lang="de-DE" dirty="0" err="1" smtClean="0"/>
              <a:t>with</a:t>
            </a:r>
            <a:r>
              <a:rPr lang="de-DE" dirty="0" smtClean="0"/>
              <a:t> </a:t>
            </a:r>
            <a:r>
              <a:rPr lang="de-DE" dirty="0" err="1" smtClean="0"/>
              <a:t>metadata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data</a:t>
            </a:r>
            <a:r>
              <a:rPr lang="de-DE" dirty="0" smtClean="0"/>
              <a:t> </a:t>
            </a:r>
            <a:r>
              <a:rPr lang="de-DE" dirty="0" err="1" smtClean="0"/>
              <a:t>itself</a:t>
            </a:r>
            <a:endParaRPr lang="de-DE" dirty="0" smtClean="0"/>
          </a:p>
          <a:p>
            <a:r>
              <a:rPr lang="de-DE" dirty="0" err="1" smtClean="0"/>
              <a:t>the</a:t>
            </a:r>
            <a:r>
              <a:rPr lang="de-DE" dirty="0" smtClean="0"/>
              <a:t> lack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interoperability</a:t>
            </a:r>
            <a:r>
              <a:rPr lang="de-DE" dirty="0" smtClean="0"/>
              <a:t> </a:t>
            </a:r>
            <a:r>
              <a:rPr lang="de-DE" dirty="0" err="1" smtClean="0"/>
              <a:t>between</a:t>
            </a:r>
            <a:r>
              <a:rPr lang="de-DE" dirty="0" smtClean="0"/>
              <a:t> </a:t>
            </a:r>
            <a:r>
              <a:rPr lang="de-DE" dirty="0" err="1" smtClean="0"/>
              <a:t>data</a:t>
            </a:r>
            <a:r>
              <a:rPr lang="de-DE" dirty="0" smtClean="0"/>
              <a:t> </a:t>
            </a:r>
            <a:r>
              <a:rPr lang="de-DE" dirty="0" err="1" smtClean="0"/>
              <a:t>sources</a:t>
            </a:r>
            <a:endParaRPr lang="de-DE" dirty="0" smtClean="0"/>
          </a:p>
          <a:p>
            <a:r>
              <a:rPr lang="de-DE" dirty="0" smtClean="0"/>
              <a:t>The </a:t>
            </a:r>
            <a:r>
              <a:rPr lang="de-DE" dirty="0" err="1" smtClean="0"/>
              <a:t>project's</a:t>
            </a:r>
            <a:r>
              <a:rPr lang="de-DE" dirty="0" smtClean="0"/>
              <a:t> </a:t>
            </a:r>
            <a:r>
              <a:rPr lang="de-DE" dirty="0" err="1" smtClean="0"/>
              <a:t>approach</a:t>
            </a:r>
            <a:r>
              <a:rPr lang="de-DE" dirty="0" smtClean="0"/>
              <a:t> </a:t>
            </a:r>
            <a:r>
              <a:rPr lang="de-DE" dirty="0" err="1" smtClean="0"/>
              <a:t>is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address</a:t>
            </a:r>
            <a:r>
              <a:rPr lang="de-DE" dirty="0" smtClean="0"/>
              <a:t> </a:t>
            </a:r>
            <a:r>
              <a:rPr lang="de-DE" dirty="0" err="1" smtClean="0"/>
              <a:t>this</a:t>
            </a:r>
            <a:r>
              <a:rPr lang="de-DE" dirty="0" smtClean="0"/>
              <a:t> </a:t>
            </a:r>
            <a:r>
              <a:rPr lang="de-DE" dirty="0" err="1" smtClean="0"/>
              <a:t>points</a:t>
            </a:r>
            <a:r>
              <a:rPr lang="de-DE" dirty="0" smtClean="0"/>
              <a:t> </a:t>
            </a:r>
            <a:r>
              <a:rPr lang="de-DE" dirty="0" err="1" smtClean="0"/>
              <a:t>already</a:t>
            </a:r>
            <a:r>
              <a:rPr lang="de-DE" dirty="0" smtClean="0"/>
              <a:t> in an </a:t>
            </a:r>
            <a:r>
              <a:rPr lang="de-DE" dirty="0" err="1" smtClean="0"/>
              <a:t>early</a:t>
            </a:r>
            <a:r>
              <a:rPr lang="de-DE" dirty="0" smtClean="0"/>
              <a:t> </a:t>
            </a:r>
            <a:r>
              <a:rPr lang="de-DE" dirty="0" err="1" smtClean="0"/>
              <a:t>stage</a:t>
            </a:r>
            <a:r>
              <a:rPr lang="de-DE" dirty="0" smtClean="0"/>
              <a:t> – </a:t>
            </a:r>
            <a:r>
              <a:rPr lang="de-DE" dirty="0" err="1" smtClean="0"/>
              <a:t>when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open </a:t>
            </a:r>
            <a:r>
              <a:rPr lang="de-DE" dirty="0" err="1" smtClean="0"/>
              <a:t>data</a:t>
            </a:r>
            <a:r>
              <a:rPr lang="de-DE" dirty="0" smtClean="0"/>
              <a:t> </a:t>
            </a:r>
            <a:r>
              <a:rPr lang="de-DE" dirty="0" err="1" smtClean="0"/>
              <a:t>is</a:t>
            </a:r>
            <a:r>
              <a:rPr lang="de-DE" dirty="0" smtClean="0"/>
              <a:t> </a:t>
            </a:r>
            <a:r>
              <a:rPr lang="de-DE" dirty="0" err="1" smtClean="0"/>
              <a:t>freshly</a:t>
            </a:r>
            <a:r>
              <a:rPr lang="de-DE" dirty="0" smtClean="0"/>
              <a:t> </a:t>
            </a:r>
            <a:r>
              <a:rPr lang="de-DE" dirty="0" err="1" smtClean="0"/>
              <a:t>provided</a:t>
            </a:r>
            <a:r>
              <a:rPr lang="de-DE" dirty="0" smtClean="0"/>
              <a:t> </a:t>
            </a:r>
            <a:r>
              <a:rPr lang="de-DE" dirty="0" err="1" smtClean="0"/>
              <a:t>by</a:t>
            </a:r>
            <a:r>
              <a:rPr lang="de-DE" dirty="0" smtClean="0"/>
              <a:t> </a:t>
            </a:r>
            <a:r>
              <a:rPr lang="de-DE" dirty="0" err="1" smtClean="0"/>
              <a:t>either</a:t>
            </a:r>
            <a:r>
              <a:rPr lang="de-DE" dirty="0" smtClean="0"/>
              <a:t> </a:t>
            </a:r>
            <a:r>
              <a:rPr lang="de-DE" dirty="0" err="1" smtClean="0"/>
              <a:t>governmental</a:t>
            </a:r>
            <a:r>
              <a:rPr lang="de-DE" dirty="0" smtClean="0"/>
              <a:t> </a:t>
            </a:r>
            <a:r>
              <a:rPr lang="de-DE" dirty="0" err="1" smtClean="0"/>
              <a:t>organisations</a:t>
            </a:r>
            <a:r>
              <a:rPr lang="de-DE" dirty="0" smtClean="0"/>
              <a:t> </a:t>
            </a:r>
            <a:r>
              <a:rPr lang="de-DE" dirty="0" err="1" smtClean="0"/>
              <a:t>or</a:t>
            </a:r>
            <a:r>
              <a:rPr lang="de-DE" dirty="0" smtClean="0"/>
              <a:t> </a:t>
            </a:r>
            <a:r>
              <a:rPr lang="de-DE" dirty="0" err="1" smtClean="0"/>
              <a:t>others</a:t>
            </a:r>
            <a:r>
              <a:rPr lang="de-DE" dirty="0" smtClean="0"/>
              <a:t>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 smtClean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9CC2FD-B32F-4992-A15B-F95E2E35C81B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84148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 smtClean="0"/>
              <a:t>An </a:t>
            </a:r>
            <a:r>
              <a:rPr lang="de-DE" dirty="0" err="1" smtClean="0"/>
              <a:t>increasing</a:t>
            </a:r>
            <a:r>
              <a:rPr lang="de-DE" dirty="0" smtClean="0"/>
              <a:t> </a:t>
            </a:r>
            <a:r>
              <a:rPr lang="de-DE" dirty="0" err="1" smtClean="0"/>
              <a:t>amount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Open Data </a:t>
            </a:r>
            <a:r>
              <a:rPr lang="de-DE" dirty="0" err="1" smtClean="0"/>
              <a:t>becomes</a:t>
            </a:r>
            <a:r>
              <a:rPr lang="de-DE" dirty="0" smtClean="0"/>
              <a:t> </a:t>
            </a:r>
            <a:r>
              <a:rPr lang="de-DE" dirty="0" err="1" smtClean="0"/>
              <a:t>available</a:t>
            </a:r>
            <a:r>
              <a:rPr lang="de-DE" dirty="0" smtClean="0"/>
              <a:t> </a:t>
            </a:r>
            <a:r>
              <a:rPr lang="de-DE" dirty="0" err="1" smtClean="0"/>
              <a:t>as</a:t>
            </a:r>
            <a:r>
              <a:rPr lang="de-DE" dirty="0" smtClean="0"/>
              <a:t> an </a:t>
            </a:r>
            <a:r>
              <a:rPr lang="de-DE" dirty="0" err="1" smtClean="0"/>
              <a:t>important</a:t>
            </a:r>
            <a:r>
              <a:rPr lang="de-DE" dirty="0" smtClean="0"/>
              <a:t> </a:t>
            </a:r>
            <a:r>
              <a:rPr lang="de-DE" dirty="0" err="1" smtClean="0"/>
              <a:t>resource</a:t>
            </a:r>
            <a:r>
              <a:rPr lang="de-DE" dirty="0" smtClean="0"/>
              <a:t> </a:t>
            </a:r>
            <a:r>
              <a:rPr lang="de-DE" dirty="0" err="1" smtClean="0"/>
              <a:t>for</a:t>
            </a:r>
            <a:r>
              <a:rPr lang="de-DE" dirty="0" smtClean="0"/>
              <a:t> </a:t>
            </a:r>
            <a:r>
              <a:rPr lang="de-DE" dirty="0" err="1" smtClean="0"/>
              <a:t>emerging</a:t>
            </a:r>
            <a:r>
              <a:rPr lang="de-DE" dirty="0" smtClean="0"/>
              <a:t> </a:t>
            </a:r>
            <a:r>
              <a:rPr lang="de-DE" dirty="0" err="1" smtClean="0"/>
              <a:t>businesses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further</a:t>
            </a:r>
            <a:r>
              <a:rPr lang="de-DE" dirty="0" smtClean="0"/>
              <a:t> on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integration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such open, </a:t>
            </a:r>
            <a:r>
              <a:rPr lang="de-DE" dirty="0" err="1" smtClean="0"/>
              <a:t>freely</a:t>
            </a:r>
            <a:r>
              <a:rPr lang="de-DE" dirty="0" smtClean="0"/>
              <a:t> </a:t>
            </a:r>
            <a:r>
              <a:rPr lang="de-DE" dirty="0" err="1" smtClean="0"/>
              <a:t>re-usable</a:t>
            </a:r>
            <a:r>
              <a:rPr lang="de-DE" dirty="0" smtClean="0"/>
              <a:t> </a:t>
            </a:r>
            <a:r>
              <a:rPr lang="de-DE" dirty="0" err="1" smtClean="0"/>
              <a:t>data</a:t>
            </a:r>
            <a:r>
              <a:rPr lang="de-DE" dirty="0" smtClean="0"/>
              <a:t> </a:t>
            </a:r>
            <a:r>
              <a:rPr lang="de-DE" dirty="0" err="1" smtClean="0"/>
              <a:t>sources</a:t>
            </a:r>
            <a:r>
              <a:rPr lang="de-DE" dirty="0" smtClean="0"/>
              <a:t> </a:t>
            </a:r>
            <a:r>
              <a:rPr lang="de-DE" dirty="0" err="1" smtClean="0"/>
              <a:t>into</a:t>
            </a:r>
            <a:r>
              <a:rPr lang="de-DE" dirty="0" smtClean="0"/>
              <a:t> </a:t>
            </a:r>
            <a:r>
              <a:rPr lang="de-DE" dirty="0" err="1" smtClean="0"/>
              <a:t>organisations</a:t>
            </a:r>
            <a:r>
              <a:rPr lang="de-DE" dirty="0" smtClean="0"/>
              <a:t>’ </a:t>
            </a:r>
            <a:r>
              <a:rPr lang="de-DE" dirty="0" err="1" smtClean="0"/>
              <a:t>data</a:t>
            </a:r>
            <a:r>
              <a:rPr lang="de-DE" dirty="0" smtClean="0"/>
              <a:t> </a:t>
            </a:r>
            <a:r>
              <a:rPr lang="de-DE" dirty="0" err="1" smtClean="0"/>
              <a:t>warehouse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data</a:t>
            </a:r>
            <a:r>
              <a:rPr lang="de-DE" dirty="0" smtClean="0"/>
              <a:t> </a:t>
            </a:r>
            <a:r>
              <a:rPr lang="de-DE" dirty="0" err="1" smtClean="0"/>
              <a:t>management</a:t>
            </a:r>
            <a:r>
              <a:rPr lang="de-DE" dirty="0" smtClean="0"/>
              <a:t> </a:t>
            </a:r>
            <a:r>
              <a:rPr lang="de-DE" dirty="0" err="1" smtClean="0"/>
              <a:t>systems</a:t>
            </a:r>
            <a:r>
              <a:rPr lang="de-DE" dirty="0" smtClean="0"/>
              <a:t> </a:t>
            </a:r>
            <a:r>
              <a:rPr lang="de-DE" dirty="0" err="1" smtClean="0"/>
              <a:t>is</a:t>
            </a:r>
            <a:r>
              <a:rPr lang="de-DE" dirty="0" smtClean="0"/>
              <a:t> </a:t>
            </a:r>
            <a:r>
              <a:rPr lang="de-DE" dirty="0" err="1" smtClean="0"/>
              <a:t>seen</a:t>
            </a:r>
            <a:r>
              <a:rPr lang="de-DE" dirty="0" smtClean="0"/>
              <a:t> </a:t>
            </a:r>
            <a:r>
              <a:rPr lang="de-DE" dirty="0" err="1" smtClean="0"/>
              <a:t>as</a:t>
            </a:r>
            <a:r>
              <a:rPr lang="de-DE" dirty="0" smtClean="0"/>
              <a:t> a </a:t>
            </a:r>
            <a:r>
              <a:rPr lang="de-DE" dirty="0" err="1" smtClean="0"/>
              <a:t>key</a:t>
            </a:r>
            <a:r>
              <a:rPr lang="de-DE" dirty="0" smtClean="0"/>
              <a:t> </a:t>
            </a:r>
            <a:r>
              <a:rPr lang="de-DE" dirty="0" err="1" smtClean="0"/>
              <a:t>success</a:t>
            </a:r>
            <a:r>
              <a:rPr lang="de-DE" dirty="0" smtClean="0"/>
              <a:t> </a:t>
            </a:r>
            <a:r>
              <a:rPr lang="de-DE" dirty="0" err="1" smtClean="0"/>
              <a:t>factor</a:t>
            </a:r>
            <a:r>
              <a:rPr lang="de-DE" dirty="0" smtClean="0"/>
              <a:t> </a:t>
            </a:r>
            <a:r>
              <a:rPr lang="de-DE" dirty="0" err="1" smtClean="0"/>
              <a:t>for</a:t>
            </a:r>
            <a:r>
              <a:rPr lang="de-DE" dirty="0" smtClean="0"/>
              <a:t> </a:t>
            </a:r>
            <a:r>
              <a:rPr lang="de-DE" dirty="0" err="1" smtClean="0"/>
              <a:t>competitive</a:t>
            </a:r>
            <a:r>
              <a:rPr lang="de-DE" dirty="0" smtClean="0"/>
              <a:t> </a:t>
            </a:r>
            <a:r>
              <a:rPr lang="de-DE" dirty="0" err="1" smtClean="0"/>
              <a:t>advantages</a:t>
            </a:r>
            <a:r>
              <a:rPr lang="de-DE" dirty="0" smtClean="0"/>
              <a:t> in a </a:t>
            </a:r>
            <a:r>
              <a:rPr lang="de-DE" dirty="0" err="1" smtClean="0"/>
              <a:t>data-driven</a:t>
            </a:r>
            <a:r>
              <a:rPr lang="de-DE" dirty="0" smtClean="0"/>
              <a:t> </a:t>
            </a:r>
            <a:r>
              <a:rPr lang="de-DE" dirty="0" err="1" smtClean="0"/>
              <a:t>economy</a:t>
            </a:r>
            <a:r>
              <a:rPr lang="de-DE" dirty="0" smtClean="0"/>
              <a:t>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 smtClean="0"/>
          </a:p>
          <a:p>
            <a:r>
              <a:rPr lang="de-DE" dirty="0" smtClean="0"/>
              <a:t>The </a:t>
            </a:r>
            <a:r>
              <a:rPr lang="de-DE" dirty="0" err="1" smtClean="0"/>
              <a:t>project</a:t>
            </a:r>
            <a:r>
              <a:rPr lang="de-DE" dirty="0" smtClean="0"/>
              <a:t> </a:t>
            </a:r>
            <a:r>
              <a:rPr lang="de-DE" dirty="0" err="1" smtClean="0"/>
              <a:t>now</a:t>
            </a:r>
            <a:r>
              <a:rPr lang="de-DE" dirty="0" smtClean="0"/>
              <a:t> </a:t>
            </a:r>
            <a:r>
              <a:rPr lang="de-DE" dirty="0" err="1" smtClean="0"/>
              <a:t>identifies</a:t>
            </a:r>
            <a:r>
              <a:rPr lang="de-DE" dirty="0" smtClean="0"/>
              <a:t> </a:t>
            </a:r>
            <a:r>
              <a:rPr lang="de-DE" dirty="0" err="1" smtClean="0"/>
              <a:t>crucial</a:t>
            </a:r>
            <a:r>
              <a:rPr lang="de-DE" dirty="0" smtClean="0"/>
              <a:t> </a:t>
            </a:r>
            <a:r>
              <a:rPr lang="de-DE" dirty="0" err="1" smtClean="0"/>
              <a:t>issues</a:t>
            </a:r>
            <a:r>
              <a:rPr lang="de-DE" dirty="0" smtClean="0"/>
              <a:t> </a:t>
            </a:r>
            <a:r>
              <a:rPr lang="de-DE" dirty="0" err="1" smtClean="0"/>
              <a:t>which</a:t>
            </a:r>
            <a:r>
              <a:rPr lang="de-DE" dirty="0" smtClean="0"/>
              <a:t> </a:t>
            </a:r>
            <a:r>
              <a:rPr lang="de-DE" dirty="0" err="1" smtClean="0"/>
              <a:t>have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be</a:t>
            </a:r>
            <a:r>
              <a:rPr lang="de-DE" dirty="0" smtClean="0"/>
              <a:t> </a:t>
            </a:r>
            <a:r>
              <a:rPr lang="de-DE" dirty="0" err="1" smtClean="0"/>
              <a:t>tackled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fully</a:t>
            </a:r>
            <a:r>
              <a:rPr lang="de-DE" dirty="0" smtClean="0"/>
              <a:t> </a:t>
            </a:r>
            <a:r>
              <a:rPr lang="de-DE" dirty="0" err="1" smtClean="0"/>
              <a:t>exploit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value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open </a:t>
            </a:r>
            <a:r>
              <a:rPr lang="de-DE" dirty="0" err="1" smtClean="0"/>
              <a:t>data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efficient</a:t>
            </a:r>
            <a:r>
              <a:rPr lang="de-DE" dirty="0" smtClean="0"/>
              <a:t> </a:t>
            </a:r>
            <a:r>
              <a:rPr lang="de-DE" dirty="0" err="1" smtClean="0"/>
              <a:t>integration</a:t>
            </a:r>
            <a:r>
              <a:rPr lang="de-DE" dirty="0" smtClean="0"/>
              <a:t> </a:t>
            </a:r>
            <a:r>
              <a:rPr lang="de-DE" dirty="0" err="1" smtClean="0"/>
              <a:t>with</a:t>
            </a:r>
            <a:r>
              <a:rPr lang="de-DE" dirty="0" smtClean="0"/>
              <a:t> </a:t>
            </a:r>
            <a:r>
              <a:rPr lang="de-DE" dirty="0" err="1" smtClean="0"/>
              <a:t>other</a:t>
            </a:r>
            <a:r>
              <a:rPr lang="de-DE" dirty="0" smtClean="0"/>
              <a:t> </a:t>
            </a:r>
            <a:r>
              <a:rPr lang="de-DE" dirty="0" err="1" smtClean="0"/>
              <a:t>data</a:t>
            </a:r>
            <a:r>
              <a:rPr lang="de-DE" dirty="0" smtClean="0"/>
              <a:t> </a:t>
            </a:r>
            <a:r>
              <a:rPr lang="de-DE" dirty="0" err="1" smtClean="0"/>
              <a:t>sources</a:t>
            </a:r>
            <a:r>
              <a:rPr lang="de-DE" dirty="0" smtClean="0"/>
              <a:t>:</a:t>
            </a:r>
          </a:p>
          <a:p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overall</a:t>
            </a:r>
            <a:r>
              <a:rPr lang="de-DE" dirty="0" smtClean="0"/>
              <a:t> </a:t>
            </a:r>
            <a:r>
              <a:rPr lang="de-DE" dirty="0" err="1" smtClean="0"/>
              <a:t>quality</a:t>
            </a:r>
            <a:r>
              <a:rPr lang="de-DE" dirty="0" smtClean="0"/>
              <a:t> </a:t>
            </a:r>
            <a:r>
              <a:rPr lang="de-DE" dirty="0" err="1" smtClean="0"/>
              <a:t>issues</a:t>
            </a:r>
            <a:r>
              <a:rPr lang="de-DE" dirty="0" smtClean="0"/>
              <a:t> </a:t>
            </a:r>
            <a:r>
              <a:rPr lang="de-DE" dirty="0" err="1" smtClean="0"/>
              <a:t>with</a:t>
            </a:r>
            <a:r>
              <a:rPr lang="de-DE" dirty="0" smtClean="0"/>
              <a:t> </a:t>
            </a:r>
            <a:r>
              <a:rPr lang="de-DE" dirty="0" err="1" smtClean="0"/>
              <a:t>metadata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data</a:t>
            </a:r>
            <a:r>
              <a:rPr lang="de-DE" dirty="0" smtClean="0"/>
              <a:t> </a:t>
            </a:r>
            <a:r>
              <a:rPr lang="de-DE" dirty="0" err="1" smtClean="0"/>
              <a:t>itself</a:t>
            </a:r>
            <a:endParaRPr lang="de-DE" dirty="0" smtClean="0"/>
          </a:p>
          <a:p>
            <a:r>
              <a:rPr lang="de-DE" dirty="0" err="1" smtClean="0"/>
              <a:t>the</a:t>
            </a:r>
            <a:r>
              <a:rPr lang="de-DE" dirty="0" smtClean="0"/>
              <a:t> lack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interoperability</a:t>
            </a:r>
            <a:r>
              <a:rPr lang="de-DE" dirty="0" smtClean="0"/>
              <a:t> </a:t>
            </a:r>
            <a:r>
              <a:rPr lang="de-DE" dirty="0" err="1" smtClean="0"/>
              <a:t>between</a:t>
            </a:r>
            <a:r>
              <a:rPr lang="de-DE" dirty="0" smtClean="0"/>
              <a:t> </a:t>
            </a:r>
            <a:r>
              <a:rPr lang="de-DE" dirty="0" err="1" smtClean="0"/>
              <a:t>data</a:t>
            </a:r>
            <a:r>
              <a:rPr lang="de-DE" dirty="0" smtClean="0"/>
              <a:t> </a:t>
            </a:r>
            <a:r>
              <a:rPr lang="de-DE" dirty="0" err="1" smtClean="0"/>
              <a:t>sources</a:t>
            </a:r>
            <a:endParaRPr lang="de-DE" dirty="0" smtClean="0"/>
          </a:p>
          <a:p>
            <a:r>
              <a:rPr lang="de-DE" dirty="0" smtClean="0"/>
              <a:t>The </a:t>
            </a:r>
            <a:r>
              <a:rPr lang="de-DE" dirty="0" err="1" smtClean="0"/>
              <a:t>project's</a:t>
            </a:r>
            <a:r>
              <a:rPr lang="de-DE" dirty="0" smtClean="0"/>
              <a:t> </a:t>
            </a:r>
            <a:r>
              <a:rPr lang="de-DE" dirty="0" err="1" smtClean="0"/>
              <a:t>approach</a:t>
            </a:r>
            <a:r>
              <a:rPr lang="de-DE" dirty="0" smtClean="0"/>
              <a:t> </a:t>
            </a:r>
            <a:r>
              <a:rPr lang="de-DE" dirty="0" err="1" smtClean="0"/>
              <a:t>is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address</a:t>
            </a:r>
            <a:r>
              <a:rPr lang="de-DE" dirty="0" smtClean="0"/>
              <a:t> </a:t>
            </a:r>
            <a:r>
              <a:rPr lang="de-DE" dirty="0" err="1" smtClean="0"/>
              <a:t>this</a:t>
            </a:r>
            <a:r>
              <a:rPr lang="de-DE" dirty="0" smtClean="0"/>
              <a:t> </a:t>
            </a:r>
            <a:r>
              <a:rPr lang="de-DE" dirty="0" err="1" smtClean="0"/>
              <a:t>points</a:t>
            </a:r>
            <a:r>
              <a:rPr lang="de-DE" dirty="0" smtClean="0"/>
              <a:t> </a:t>
            </a:r>
            <a:r>
              <a:rPr lang="de-DE" dirty="0" err="1" smtClean="0"/>
              <a:t>already</a:t>
            </a:r>
            <a:r>
              <a:rPr lang="de-DE" dirty="0" smtClean="0"/>
              <a:t> in an </a:t>
            </a:r>
            <a:r>
              <a:rPr lang="de-DE" dirty="0" err="1" smtClean="0"/>
              <a:t>early</a:t>
            </a:r>
            <a:r>
              <a:rPr lang="de-DE" dirty="0" smtClean="0"/>
              <a:t> </a:t>
            </a:r>
            <a:r>
              <a:rPr lang="de-DE" dirty="0" err="1" smtClean="0"/>
              <a:t>stage</a:t>
            </a:r>
            <a:r>
              <a:rPr lang="de-DE" dirty="0" smtClean="0"/>
              <a:t> – </a:t>
            </a:r>
            <a:r>
              <a:rPr lang="de-DE" dirty="0" err="1" smtClean="0"/>
              <a:t>when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open </a:t>
            </a:r>
            <a:r>
              <a:rPr lang="de-DE" dirty="0" err="1" smtClean="0"/>
              <a:t>data</a:t>
            </a:r>
            <a:r>
              <a:rPr lang="de-DE" dirty="0" smtClean="0"/>
              <a:t> </a:t>
            </a:r>
            <a:r>
              <a:rPr lang="de-DE" dirty="0" err="1" smtClean="0"/>
              <a:t>is</a:t>
            </a:r>
            <a:r>
              <a:rPr lang="de-DE" dirty="0" smtClean="0"/>
              <a:t> </a:t>
            </a:r>
            <a:r>
              <a:rPr lang="de-DE" dirty="0" err="1" smtClean="0"/>
              <a:t>freshly</a:t>
            </a:r>
            <a:r>
              <a:rPr lang="de-DE" dirty="0" smtClean="0"/>
              <a:t> </a:t>
            </a:r>
            <a:r>
              <a:rPr lang="de-DE" dirty="0" err="1" smtClean="0"/>
              <a:t>provided</a:t>
            </a:r>
            <a:r>
              <a:rPr lang="de-DE" dirty="0" smtClean="0"/>
              <a:t> </a:t>
            </a:r>
            <a:r>
              <a:rPr lang="de-DE" dirty="0" err="1" smtClean="0"/>
              <a:t>by</a:t>
            </a:r>
            <a:r>
              <a:rPr lang="de-DE" dirty="0" smtClean="0"/>
              <a:t> </a:t>
            </a:r>
            <a:r>
              <a:rPr lang="de-DE" dirty="0" err="1" smtClean="0"/>
              <a:t>either</a:t>
            </a:r>
            <a:r>
              <a:rPr lang="de-DE" dirty="0" smtClean="0"/>
              <a:t> </a:t>
            </a:r>
            <a:r>
              <a:rPr lang="de-DE" dirty="0" err="1" smtClean="0"/>
              <a:t>governmental</a:t>
            </a:r>
            <a:r>
              <a:rPr lang="de-DE" dirty="0" smtClean="0"/>
              <a:t> </a:t>
            </a:r>
            <a:r>
              <a:rPr lang="de-DE" dirty="0" err="1" smtClean="0"/>
              <a:t>organisations</a:t>
            </a:r>
            <a:r>
              <a:rPr lang="de-DE" dirty="0" smtClean="0"/>
              <a:t> </a:t>
            </a:r>
            <a:r>
              <a:rPr lang="de-DE" dirty="0" err="1" smtClean="0"/>
              <a:t>or</a:t>
            </a:r>
            <a:r>
              <a:rPr lang="de-DE" dirty="0" smtClean="0"/>
              <a:t> </a:t>
            </a:r>
            <a:r>
              <a:rPr lang="de-DE" dirty="0" err="1" smtClean="0"/>
              <a:t>others</a:t>
            </a:r>
            <a:r>
              <a:rPr lang="de-DE" dirty="0" smtClean="0"/>
              <a:t>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 smtClean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9CC2FD-B32F-4992-A15B-F95E2E35C81B}" type="slidenum">
              <a:rPr lang="en-GB" smtClean="0"/>
              <a:pPr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75914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 tool for:</a:t>
            </a:r>
          </a:p>
          <a:p>
            <a:r>
              <a:rPr lang="en-US" dirty="0" smtClean="0"/>
              <a:t>Classification/Disambiguation/Relation discovery</a:t>
            </a:r>
          </a:p>
          <a:p>
            <a:r>
              <a:rPr lang="en-US" dirty="0" smtClean="0"/>
              <a:t>Has UI - to see results, provide feedback, export!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9CC2FD-B32F-4992-A15B-F95E2E35C81B}" type="slidenum">
              <a:rPr lang="en-GB" smtClean="0"/>
              <a:pPr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62279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Bild 3 kurz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6685846" y="5127682"/>
            <a:ext cx="1749600" cy="401894"/>
          </a:xfrm>
          <a:prstGeom prst="rect">
            <a:avLst/>
          </a:prstGeom>
        </p:spPr>
      </p:pic>
      <p:sp>
        <p:nvSpPr>
          <p:cNvPr id="12" name="Textfeld 8"/>
          <p:cNvSpPr txBox="1"/>
          <p:nvPr userDrawn="1"/>
        </p:nvSpPr>
        <p:spPr>
          <a:xfrm>
            <a:off x="1251237" y="5282380"/>
            <a:ext cx="52137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1100" b="1" kern="1200" dirty="0" smtClean="0">
                <a:solidFill>
                  <a:schemeClr val="bg1"/>
                </a:solidFill>
                <a:latin typeface="Verdana" pitchFamily="34" charset="0"/>
                <a:ea typeface="+mn-ea"/>
                <a:cs typeface="+mn-cs"/>
              </a:rPr>
              <a:t>Institute for Information Business.</a:t>
            </a:r>
            <a:r>
              <a:rPr lang="en-GB" sz="1100" b="1" kern="1200" baseline="0" dirty="0" smtClean="0">
                <a:solidFill>
                  <a:schemeClr val="bg1"/>
                </a:solidFill>
                <a:latin typeface="Verdana" pitchFamily="34" charset="0"/>
                <a:ea typeface="+mn-ea"/>
                <a:cs typeface="+mn-cs"/>
              </a:rPr>
              <a:t>   </a:t>
            </a:r>
            <a:r>
              <a:rPr lang="en-GB" sz="1600" b="0" kern="1200" dirty="0" smtClean="0">
                <a:solidFill>
                  <a:schemeClr val="bg1"/>
                </a:solidFill>
                <a:latin typeface="Verdana" pitchFamily="34" charset="0"/>
                <a:ea typeface="+mn-ea"/>
                <a:cs typeface="+mn-cs"/>
              </a:rPr>
              <a:t>data.wu.ac.at</a:t>
            </a:r>
            <a:endParaRPr lang="en-GB" sz="1200" b="1" kern="1200" baseline="0" dirty="0" smtClean="0">
              <a:solidFill>
                <a:schemeClr val="bg1"/>
              </a:solidFill>
              <a:latin typeface="Verdana" pitchFamily="34" charset="0"/>
              <a:ea typeface="+mn-ea"/>
              <a:cs typeface="+mn-cs"/>
            </a:endParaRPr>
          </a:p>
        </p:txBody>
      </p:sp>
      <p:grpSp>
        <p:nvGrpSpPr>
          <p:cNvPr id="18" name="Gruppieren 17"/>
          <p:cNvGrpSpPr/>
          <p:nvPr userDrawn="1"/>
        </p:nvGrpSpPr>
        <p:grpSpPr>
          <a:xfrm>
            <a:off x="295575" y="625621"/>
            <a:ext cx="8552850" cy="2037600"/>
            <a:chOff x="287338" y="603319"/>
            <a:chExt cx="8552850" cy="2037600"/>
          </a:xfrm>
        </p:grpSpPr>
        <p:sp>
          <p:nvSpPr>
            <p:cNvPr id="21" name="Rechteck 20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Rechteck 21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>
                <a:alpha val="89804"/>
              </a:srgb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pic>
        <p:nvPicPr>
          <p:cNvPr id="23" name="Bild 1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556993" y="1066425"/>
            <a:ext cx="1874020" cy="975100"/>
          </a:xfrm>
          <a:prstGeom prst="rect">
            <a:avLst/>
          </a:prstGeom>
        </p:spPr>
      </p:pic>
      <p:sp>
        <p:nvSpPr>
          <p:cNvPr id="30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05406" y="993080"/>
            <a:ext cx="5436000" cy="351533"/>
          </a:xfrm>
        </p:spPr>
        <p:txBody>
          <a:bodyPr t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 baseline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Add subtitle here if required</a:t>
            </a:r>
          </a:p>
        </p:txBody>
      </p:sp>
      <p:sp>
        <p:nvSpPr>
          <p:cNvPr id="31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05406" y="1301365"/>
            <a:ext cx="5436000" cy="1026000"/>
          </a:xfrm>
          <a:prstGeom prst="rect">
            <a:avLst/>
          </a:prstGeom>
        </p:spPr>
        <p:txBody>
          <a:bodyPr tIns="0" anchor="ctr" anchorCtr="0">
            <a:noAutofit/>
          </a:bodyPr>
          <a:lstStyle>
            <a:lvl1pPr algn="l">
              <a:lnSpc>
                <a:spcPct val="100000"/>
              </a:lnSpc>
              <a:defRPr sz="32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GB" dirty="0"/>
              <a:t>Max. 2 lines of text for header</a:t>
            </a:r>
          </a:p>
        </p:txBody>
      </p:sp>
      <p:pic>
        <p:nvPicPr>
          <p:cNvPr id="4" name="Grafik 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575" y="5023009"/>
            <a:ext cx="779371" cy="548479"/>
          </a:xfrm>
          <a:prstGeom prst="rect">
            <a:avLst/>
          </a:prstGeom>
        </p:spPr>
      </p:pic>
      <p:sp>
        <p:nvSpPr>
          <p:cNvPr id="17" name="Textplatzhalter 9"/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287338" y="2941638"/>
            <a:ext cx="4284662" cy="805551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>
              <a:buNone/>
              <a:defRPr lang="de-DE" sz="1200" dirty="0" smtClean="0"/>
            </a:lvl1pPr>
          </a:lstStyle>
          <a:p>
            <a:r>
              <a:rPr lang="en-GB" dirty="0"/>
              <a:t>Information about presentation (author, version No. etc.)</a:t>
            </a:r>
          </a:p>
        </p:txBody>
      </p:sp>
    </p:spTree>
    <p:extLst>
      <p:ext uri="{BB962C8B-B14F-4D97-AF65-F5344CB8AC3E}">
        <p14:creationId xmlns:p14="http://schemas.microsoft.com/office/powerpoint/2010/main" val="38395811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ohne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/>
          <p:cNvGrpSpPr/>
          <p:nvPr userDrawn="1"/>
        </p:nvGrpSpPr>
        <p:grpSpPr>
          <a:xfrm>
            <a:off x="287338" y="603319"/>
            <a:ext cx="8552850" cy="2037600"/>
            <a:chOff x="287338" y="603319"/>
            <a:chExt cx="8552850" cy="2037600"/>
          </a:xfrm>
        </p:grpSpPr>
        <p:sp>
          <p:nvSpPr>
            <p:cNvPr id="16" name="Rechteck 15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Rechteck 16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/>
            </a:solidFill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pic>
        <p:nvPicPr>
          <p:cNvPr id="5" name="Grafik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4183" y="5129960"/>
            <a:ext cx="1749556" cy="402337"/>
          </a:xfrm>
          <a:prstGeom prst="rect">
            <a:avLst/>
          </a:prstGeom>
        </p:spPr>
      </p:pic>
      <p:pic>
        <p:nvPicPr>
          <p:cNvPr id="20" name="Bild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56993" y="1066425"/>
            <a:ext cx="1874020" cy="975100"/>
          </a:xfrm>
          <a:prstGeom prst="rect">
            <a:avLst/>
          </a:prstGeom>
        </p:spPr>
      </p:pic>
      <p:sp>
        <p:nvSpPr>
          <p:cNvPr id="14" name="Textplatzhalter 9"/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287338" y="2941638"/>
            <a:ext cx="4284662" cy="805551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>
              <a:buNone/>
              <a:defRPr lang="de-DE" sz="1200" dirty="0" smtClean="0"/>
            </a:lvl1pPr>
          </a:lstStyle>
          <a:p>
            <a:r>
              <a:rPr lang="en-GB" dirty="0"/>
              <a:t>Information about presentation (author, version No. etc.)</a:t>
            </a:r>
          </a:p>
        </p:txBody>
      </p:sp>
      <p:sp>
        <p:nvSpPr>
          <p:cNvPr id="13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05406" y="1301365"/>
            <a:ext cx="5436000" cy="1026000"/>
          </a:xfrm>
          <a:prstGeom prst="rect">
            <a:avLst/>
          </a:prstGeom>
        </p:spPr>
        <p:txBody>
          <a:bodyPr tIns="0" anchor="ctr" anchorCtr="0">
            <a:noAutofit/>
          </a:bodyPr>
          <a:lstStyle>
            <a:lvl1pPr algn="l">
              <a:lnSpc>
                <a:spcPct val="100000"/>
              </a:lnSpc>
              <a:defRPr sz="32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GB" dirty="0"/>
              <a:t>Max. 2 lines of text for header</a:t>
            </a:r>
          </a:p>
        </p:txBody>
      </p:sp>
      <p:sp>
        <p:nvSpPr>
          <p:cNvPr id="15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05406" y="993080"/>
            <a:ext cx="5436000" cy="351533"/>
          </a:xfrm>
        </p:spPr>
        <p:txBody>
          <a:bodyPr t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Add subtitle here if required</a:t>
            </a:r>
          </a:p>
        </p:txBody>
      </p:sp>
      <p:sp>
        <p:nvSpPr>
          <p:cNvPr id="18" name="Textfeld 8"/>
          <p:cNvSpPr txBox="1"/>
          <p:nvPr userDrawn="1"/>
        </p:nvSpPr>
        <p:spPr>
          <a:xfrm>
            <a:off x="1473301" y="5349196"/>
            <a:ext cx="32816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1200" b="1" kern="1200" dirty="0" smtClean="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rPr>
              <a:t>Institute for Information Business.</a:t>
            </a:r>
            <a:r>
              <a:rPr lang="en-GB" sz="1200" b="1" kern="1200" baseline="0" dirty="0" smtClean="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rPr>
              <a:t>    </a:t>
            </a:r>
          </a:p>
        </p:txBody>
      </p: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026" y="5032465"/>
            <a:ext cx="843671" cy="593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79611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62019" y="1344613"/>
            <a:ext cx="7759644" cy="3587051"/>
          </a:xfrm>
        </p:spPr>
        <p:txBody>
          <a:bodyPr lIns="0" rIns="0">
            <a:normAutofit/>
          </a:bodyPr>
          <a:lstStyle>
            <a:lvl1pPr>
              <a:defRPr sz="16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 err="1"/>
              <a:t>Textmasterformat</a:t>
            </a:r>
            <a:r>
              <a:rPr lang="en-GB" dirty="0"/>
              <a:t> </a:t>
            </a:r>
            <a:r>
              <a:rPr lang="en-GB" dirty="0" err="1"/>
              <a:t>durch</a:t>
            </a:r>
            <a:r>
              <a:rPr lang="en-GB" dirty="0"/>
              <a:t> </a:t>
            </a:r>
            <a:r>
              <a:rPr lang="en-GB" dirty="0" err="1"/>
              <a:t>Klicken</a:t>
            </a:r>
            <a:r>
              <a:rPr lang="en-GB" dirty="0"/>
              <a:t> </a:t>
            </a:r>
            <a:r>
              <a:rPr lang="en-GB" dirty="0" err="1"/>
              <a:t>bearbeiten</a:t>
            </a:r>
            <a:endParaRPr lang="en-GB" dirty="0"/>
          </a:p>
          <a:p>
            <a:pPr lvl="1"/>
            <a:r>
              <a:rPr lang="en-GB" dirty="0" err="1"/>
              <a:t>Zweite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2"/>
            <a:r>
              <a:rPr lang="en-GB" dirty="0" err="1"/>
              <a:t>Dritte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3"/>
            <a:r>
              <a:rPr lang="en-GB" dirty="0" err="1"/>
              <a:t>Vierte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4"/>
            <a:r>
              <a:rPr lang="en-GB" dirty="0" err="1"/>
              <a:t>Fünfte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6" name="Foliennummernplatzhalter 9"/>
          <p:cNvSpPr>
            <a:spLocks noGrp="1"/>
          </p:cNvSpPr>
          <p:nvPr>
            <p:ph type="sldNum" sz="quarter" idx="12"/>
          </p:nvPr>
        </p:nvSpPr>
        <p:spPr>
          <a:xfrm>
            <a:off x="7939878" y="5232755"/>
            <a:ext cx="563569" cy="258085"/>
          </a:xfrm>
        </p:spPr>
        <p:txBody>
          <a:bodyPr/>
          <a:lstStyle>
            <a:lvl1pPr>
              <a:defRPr sz="1050"/>
            </a:lvl1pPr>
          </a:lstStyle>
          <a:p>
            <a:fld id="{BE3DC40E-DBBE-4E2D-9EEC-FBF0DA0E9179}" type="slidenum">
              <a:rPr lang="en-GB" smtClean="0"/>
              <a:pPr/>
              <a:t>‹Nr.›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haltsplatzhalter 6"/>
          <p:cNvSpPr>
            <a:spLocks noGrp="1"/>
          </p:cNvSpPr>
          <p:nvPr>
            <p:ph sz="quarter" idx="10" hasCustomPrompt="1"/>
          </p:nvPr>
        </p:nvSpPr>
        <p:spPr>
          <a:xfrm>
            <a:off x="462408" y="1265366"/>
            <a:ext cx="8210547" cy="3814940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Placeholder for objects</a:t>
            </a:r>
          </a:p>
        </p:txBody>
      </p:sp>
      <p:sp>
        <p:nvSpPr>
          <p:cNvPr id="8" name="Rechteck 7"/>
          <p:cNvSpPr/>
          <p:nvPr userDrawn="1"/>
        </p:nvSpPr>
        <p:spPr bwMode="gray">
          <a:xfrm>
            <a:off x="0" y="1043522"/>
            <a:ext cx="9144000" cy="25200"/>
          </a:xfrm>
          <a:prstGeom prst="rect">
            <a:avLst/>
          </a:prstGeom>
          <a:solidFill>
            <a:srgbClr val="0C94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     </a:t>
            </a:r>
          </a:p>
        </p:txBody>
      </p:sp>
      <p:pic>
        <p:nvPicPr>
          <p:cNvPr id="12" name="Bild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11621" y="289576"/>
            <a:ext cx="1168210" cy="60785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>
          <a:xfrm>
            <a:off x="8351162" y="5276950"/>
            <a:ext cx="528669" cy="258085"/>
          </a:xfrm>
        </p:spPr>
        <p:txBody>
          <a:bodyPr/>
          <a:lstStyle>
            <a:lvl1pPr>
              <a:defRPr sz="1050"/>
            </a:lvl1pPr>
          </a:lstStyle>
          <a:p>
            <a:fld id="{BE3DC40E-DBBE-4E2D-9EEC-FBF0DA0E9179}" type="slidenum">
              <a:rPr lang="en-GB" smtClean="0"/>
              <a:pPr/>
              <a:t>‹Nr.›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462405" y="1344612"/>
            <a:ext cx="3960000" cy="3715067"/>
          </a:xfrm>
        </p:spPr>
        <p:txBody>
          <a:bodyPr>
            <a:normAutofit/>
          </a:bodyPr>
          <a:lstStyle>
            <a:lvl1pPr>
              <a:defRPr sz="1600"/>
            </a:lvl1pPr>
            <a:lvl2pPr marL="541312" indent="-285750">
              <a:buClr>
                <a:schemeClr val="accent1"/>
              </a:buClr>
              <a:buFont typeface="Wingdings" charset="2"/>
              <a:buChar char="§"/>
              <a:defRPr sz="1500"/>
            </a:lvl2pPr>
            <a:lvl3pPr>
              <a:defRPr sz="1400"/>
            </a:lvl3pPr>
            <a:lvl4pPr>
              <a:buClr>
                <a:schemeClr val="accent1"/>
              </a:buCl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 err="1"/>
              <a:t>Textmasterformat</a:t>
            </a:r>
            <a:r>
              <a:rPr lang="en-GB" dirty="0"/>
              <a:t> </a:t>
            </a:r>
            <a:r>
              <a:rPr lang="en-GB" dirty="0" err="1"/>
              <a:t>bearbeiten</a:t>
            </a:r>
            <a:endParaRPr lang="en-GB" dirty="0"/>
          </a:p>
          <a:p>
            <a:pPr lvl="1"/>
            <a:r>
              <a:rPr lang="en-GB" dirty="0" err="1"/>
              <a:t>Zweite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2"/>
            <a:r>
              <a:rPr lang="en-GB" dirty="0" err="1"/>
              <a:t>Dritte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715688" y="1344613"/>
            <a:ext cx="3960000" cy="3715067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1600"/>
            </a:lvl1pPr>
            <a:lvl2pPr marL="541312" indent="-285750">
              <a:buClr>
                <a:schemeClr val="accent1"/>
              </a:buClr>
              <a:buFont typeface="Wingdings" charset="2"/>
              <a:buChar char="§"/>
              <a:defRPr sz="1500"/>
            </a:lvl2pPr>
            <a:lvl3pPr>
              <a:defRPr sz="1400"/>
            </a:lvl3pPr>
            <a:lvl4pPr>
              <a:buClr>
                <a:schemeClr val="accent1"/>
              </a:buClr>
              <a:defRPr sz="1200"/>
            </a:lvl4pPr>
            <a:lvl5pPr>
              <a:buClr>
                <a:schemeClr val="accent1"/>
              </a:buCl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 err="1"/>
              <a:t>Textmasterformat</a:t>
            </a:r>
            <a:r>
              <a:rPr lang="en-GB" dirty="0"/>
              <a:t> </a:t>
            </a:r>
            <a:r>
              <a:rPr lang="en-GB" dirty="0" err="1"/>
              <a:t>bearbeiten</a:t>
            </a:r>
            <a:endParaRPr lang="en-GB" dirty="0"/>
          </a:p>
          <a:p>
            <a:pPr lvl="1"/>
            <a:r>
              <a:rPr lang="en-GB" dirty="0" err="1"/>
              <a:t>Zweite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2"/>
            <a:r>
              <a:rPr lang="en-GB" dirty="0" err="1"/>
              <a:t>Dritte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>
          <a:xfrm>
            <a:off x="8315185" y="5231728"/>
            <a:ext cx="549609" cy="258085"/>
          </a:xfrm>
          <a:prstGeom prst="rect">
            <a:avLst/>
          </a:prstGeom>
        </p:spPr>
        <p:txBody>
          <a:bodyPr/>
          <a:lstStyle>
            <a:lvl1pPr>
              <a:defRPr sz="1050"/>
            </a:lvl1pPr>
          </a:lstStyle>
          <a:p>
            <a:fld id="{BE3DC40E-DBBE-4E2D-9EEC-FBF0DA0E9179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462405" y="1935991"/>
            <a:ext cx="3960000" cy="316951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5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 err="1"/>
              <a:t>Textmasterformat</a:t>
            </a:r>
            <a:r>
              <a:rPr lang="en-GB" dirty="0"/>
              <a:t> </a:t>
            </a:r>
            <a:r>
              <a:rPr lang="en-GB" dirty="0" err="1"/>
              <a:t>bearbeiten</a:t>
            </a:r>
            <a:endParaRPr lang="en-GB" dirty="0"/>
          </a:p>
          <a:p>
            <a:pPr lvl="1"/>
            <a:r>
              <a:rPr lang="en-GB" dirty="0" err="1"/>
              <a:t>Zweite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2"/>
            <a:r>
              <a:rPr lang="en-GB" dirty="0" err="1"/>
              <a:t>Dritte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715688" y="1935991"/>
            <a:ext cx="3960000" cy="316951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5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 err="1"/>
              <a:t>Textmasterformat</a:t>
            </a:r>
            <a:r>
              <a:rPr lang="en-GB" dirty="0"/>
              <a:t> </a:t>
            </a:r>
            <a:r>
              <a:rPr lang="en-GB" dirty="0" err="1"/>
              <a:t>bearbeiten</a:t>
            </a:r>
            <a:endParaRPr lang="en-GB" dirty="0"/>
          </a:p>
          <a:p>
            <a:pPr lvl="1"/>
            <a:r>
              <a:rPr lang="en-GB" dirty="0" err="1"/>
              <a:t>Zweite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2"/>
            <a:r>
              <a:rPr lang="en-GB" dirty="0" err="1"/>
              <a:t>Dritte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</p:txBody>
      </p:sp>
      <p:sp>
        <p:nvSpPr>
          <p:cNvPr id="8" name="Textplatzhalter 2"/>
          <p:cNvSpPr>
            <a:spLocks noGrp="1"/>
          </p:cNvSpPr>
          <p:nvPr>
            <p:ph type="body" idx="13" hasCustomPrompt="1"/>
          </p:nvPr>
        </p:nvSpPr>
        <p:spPr bwMode="gray">
          <a:xfrm>
            <a:off x="468314" y="1344613"/>
            <a:ext cx="3960811" cy="533136"/>
          </a:xfr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none"/>
        </p:style>
        <p:txBody>
          <a:bodyPr anchor="ctr" anchorCtr="0">
            <a:noAutofit/>
          </a:bodyPr>
          <a:lstStyle>
            <a:lvl1pPr marL="92066" indent="0">
              <a:buNone/>
              <a:tabLst/>
              <a:defRPr sz="1800" b="1" baseline="0">
                <a:solidFill>
                  <a:schemeClr val="bg1"/>
                </a:solidFill>
                <a:latin typeface="+mj-lt"/>
              </a:defRPr>
            </a:lvl1pPr>
            <a:lvl2pPr marL="457153" indent="0">
              <a:buNone/>
              <a:defRPr sz="2000" b="1"/>
            </a:lvl2pPr>
            <a:lvl3pPr marL="914306" indent="0">
              <a:buNone/>
              <a:defRPr sz="1800" b="1"/>
            </a:lvl3pPr>
            <a:lvl4pPr marL="1371460" indent="0">
              <a:buNone/>
              <a:defRPr sz="1600" b="1"/>
            </a:lvl4pPr>
            <a:lvl5pPr marL="1828613" indent="0">
              <a:buNone/>
              <a:defRPr sz="1600" b="1"/>
            </a:lvl5pPr>
            <a:lvl6pPr marL="2285767" indent="0">
              <a:buNone/>
              <a:defRPr sz="1600" b="1"/>
            </a:lvl6pPr>
            <a:lvl7pPr marL="2742920" indent="0">
              <a:buNone/>
              <a:defRPr sz="1600" b="1"/>
            </a:lvl7pPr>
            <a:lvl8pPr marL="3200073" indent="0">
              <a:buNone/>
              <a:defRPr sz="1600" b="1"/>
            </a:lvl8pPr>
            <a:lvl9pPr marL="3657227" indent="0">
              <a:buNone/>
              <a:defRPr sz="1600" b="1"/>
            </a:lvl9pPr>
          </a:lstStyle>
          <a:p>
            <a:pPr lvl="0"/>
            <a:r>
              <a:rPr lang="en-GB" dirty="0"/>
              <a:t>Subtitle 1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14" name="Textplatzhalter 2"/>
          <p:cNvSpPr>
            <a:spLocks noGrp="1"/>
          </p:cNvSpPr>
          <p:nvPr>
            <p:ph type="body" idx="17" hasCustomPrompt="1"/>
          </p:nvPr>
        </p:nvSpPr>
        <p:spPr bwMode="gray">
          <a:xfrm>
            <a:off x="4727894" y="1344613"/>
            <a:ext cx="3960811" cy="533136"/>
          </a:xfr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none"/>
        </p:style>
        <p:txBody>
          <a:bodyPr anchor="ctr" anchorCtr="0">
            <a:noAutofit/>
          </a:bodyPr>
          <a:lstStyle>
            <a:lvl1pPr marL="92066" indent="0">
              <a:buNone/>
              <a:tabLst/>
              <a:defRPr sz="1800" b="1" baseline="0">
                <a:solidFill>
                  <a:schemeClr val="bg1"/>
                </a:solidFill>
                <a:latin typeface="+mj-lt"/>
              </a:defRPr>
            </a:lvl1pPr>
            <a:lvl2pPr marL="457153" indent="0">
              <a:buNone/>
              <a:defRPr sz="2000" b="1"/>
            </a:lvl2pPr>
            <a:lvl3pPr marL="914306" indent="0">
              <a:buNone/>
              <a:defRPr sz="1800" b="1"/>
            </a:lvl3pPr>
            <a:lvl4pPr marL="1371460" indent="0">
              <a:buNone/>
              <a:defRPr sz="1600" b="1"/>
            </a:lvl4pPr>
            <a:lvl5pPr marL="1828613" indent="0">
              <a:buNone/>
              <a:defRPr sz="1600" b="1"/>
            </a:lvl5pPr>
            <a:lvl6pPr marL="2285767" indent="0">
              <a:buNone/>
              <a:defRPr sz="1600" b="1"/>
            </a:lvl6pPr>
            <a:lvl7pPr marL="2742920" indent="0">
              <a:buNone/>
              <a:defRPr sz="1600" b="1"/>
            </a:lvl7pPr>
            <a:lvl8pPr marL="3200073" indent="0">
              <a:buNone/>
              <a:defRPr sz="1600" b="1"/>
            </a:lvl8pPr>
            <a:lvl9pPr marL="3657227" indent="0">
              <a:buNone/>
              <a:defRPr sz="1600" b="1"/>
            </a:lvl9pPr>
          </a:lstStyle>
          <a:p>
            <a:pPr lvl="0"/>
            <a:r>
              <a:rPr lang="en-GB" dirty="0"/>
              <a:t>Subtitle 2</a:t>
            </a:r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>
          <a:xfrm>
            <a:off x="8322165" y="5289339"/>
            <a:ext cx="563569" cy="258085"/>
          </a:xfrm>
          <a:prstGeom prst="rect">
            <a:avLst/>
          </a:prstGeom>
        </p:spPr>
        <p:txBody>
          <a:bodyPr/>
          <a:lstStyle>
            <a:lvl1pPr>
              <a:defRPr sz="1050"/>
            </a:lvl1pPr>
          </a:lstStyle>
          <a:p>
            <a:fld id="{BE3DC40E-DBBE-4E2D-9EEC-FBF0DA0E9179}" type="slidenum">
              <a:rPr lang="en-GB" smtClean="0"/>
              <a:pPr/>
              <a:t>‹Nr.›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467543" y="1964530"/>
            <a:ext cx="5060737" cy="2716954"/>
          </a:xfrm>
          <a:prstGeom prst="rect">
            <a:avLst/>
          </a:prstGeom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31" tIns="45715" rIns="91431" bIns="45715" rtlCol="0" anchor="ctr"/>
          <a:lstStyle/>
          <a:p>
            <a:pPr algn="ctr"/>
            <a:endParaRPr lang="en-GB" dirty="0"/>
          </a:p>
        </p:txBody>
      </p:sp>
      <p:pic>
        <p:nvPicPr>
          <p:cNvPr id="7" name="Grafik 6" descr="Logo-für-VK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11560" y="2127250"/>
            <a:ext cx="492443" cy="2252663"/>
          </a:xfrm>
          <a:prstGeom prst="rect">
            <a:avLst/>
          </a:prstGeom>
        </p:spPr>
      </p:pic>
      <p:sp>
        <p:nvSpPr>
          <p:cNvPr id="11" name="Textplatzhalt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1684019" y="2559843"/>
            <a:ext cx="3383571" cy="1811291"/>
          </a:xfrm>
        </p:spPr>
        <p:txBody>
          <a:bodyPr>
            <a:normAutofit/>
          </a:bodyPr>
          <a:lstStyle>
            <a:lvl1pPr marL="0" marR="0" indent="0" algn="l" defTabSz="9143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2582"/>
              </a:buClr>
              <a:buSzTx/>
              <a:buFont typeface="Wingdings" pitchFamily="2" charset="2"/>
              <a:buNone/>
              <a:tabLst/>
              <a:defRPr sz="1100" baseline="0"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marL="0" marR="0" lvl="0" indent="0" algn="l" defTabSz="9143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2582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Hier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Adressdaten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eingeben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Foliennummernplatzhalter 9"/>
          <p:cNvSpPr>
            <a:spLocks noGrp="1"/>
          </p:cNvSpPr>
          <p:nvPr>
            <p:ph type="sldNum" sz="quarter" idx="12"/>
          </p:nvPr>
        </p:nvSpPr>
        <p:spPr>
          <a:xfrm>
            <a:off x="8168602" y="5296319"/>
            <a:ext cx="570549" cy="258085"/>
          </a:xfrm>
          <a:prstGeom prst="rect">
            <a:avLst/>
          </a:prstGeom>
        </p:spPr>
        <p:txBody>
          <a:bodyPr/>
          <a:lstStyle>
            <a:lvl1pPr>
              <a:defRPr sz="1050"/>
            </a:lvl1pPr>
          </a:lstStyle>
          <a:p>
            <a:fld id="{BE3DC40E-DBBE-4E2D-9EEC-FBF0DA0E9179}" type="slidenum">
              <a:rPr lang="en-GB" smtClean="0"/>
              <a:pPr/>
              <a:t>‹Nr.›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344613"/>
            <a:ext cx="7764463" cy="3715067"/>
          </a:xfrm>
          <a:prstGeom prst="rect">
            <a:avLst/>
          </a:prstGeom>
        </p:spPr>
        <p:txBody>
          <a:bodyPr vert="horz" lIns="0" tIns="45715" rIns="0" bIns="45715" rtlCol="0">
            <a:normAutofit/>
          </a:bodyPr>
          <a:lstStyle/>
          <a:p>
            <a:pPr lvl="0"/>
            <a:r>
              <a:rPr lang="en-GB" dirty="0" err="1"/>
              <a:t>Textmasterformate</a:t>
            </a:r>
            <a:r>
              <a:rPr lang="en-GB" dirty="0"/>
              <a:t> </a:t>
            </a:r>
            <a:r>
              <a:rPr lang="en-GB" dirty="0" err="1"/>
              <a:t>durch</a:t>
            </a:r>
            <a:r>
              <a:rPr lang="en-GB" dirty="0"/>
              <a:t> </a:t>
            </a:r>
            <a:r>
              <a:rPr lang="en-GB" dirty="0" err="1"/>
              <a:t>Klicken</a:t>
            </a:r>
            <a:r>
              <a:rPr lang="en-GB" dirty="0"/>
              <a:t> </a:t>
            </a:r>
            <a:r>
              <a:rPr lang="en-GB" dirty="0" err="1"/>
              <a:t>bearbeiten</a:t>
            </a:r>
            <a:endParaRPr lang="en-GB" dirty="0"/>
          </a:p>
          <a:p>
            <a:pPr lvl="1"/>
            <a:r>
              <a:rPr lang="en-GB" dirty="0" err="1"/>
              <a:t>Zweite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2"/>
            <a:r>
              <a:rPr lang="en-GB" dirty="0" err="1"/>
              <a:t>Dritte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3"/>
            <a:r>
              <a:rPr lang="en-GB" dirty="0" err="1"/>
              <a:t>Vierte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4"/>
            <a:r>
              <a:rPr lang="en-GB" dirty="0" err="1"/>
              <a:t>Fünfte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</p:txBody>
      </p:sp>
      <p:sp>
        <p:nvSpPr>
          <p:cNvPr id="18" name="Rechteck 17"/>
          <p:cNvSpPr/>
          <p:nvPr userDrawn="1"/>
        </p:nvSpPr>
        <p:spPr bwMode="gray">
          <a:xfrm>
            <a:off x="0" y="1043522"/>
            <a:ext cx="9144000" cy="25200"/>
          </a:xfrm>
          <a:prstGeom prst="rect">
            <a:avLst/>
          </a:prstGeom>
          <a:solidFill>
            <a:srgbClr val="0C94B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     </a:t>
            </a:r>
          </a:p>
        </p:txBody>
      </p:sp>
      <p:pic>
        <p:nvPicPr>
          <p:cNvPr id="20" name="Bild 19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711621" y="289576"/>
            <a:ext cx="1168210" cy="607850"/>
          </a:xfrm>
          <a:prstGeom prst="rect">
            <a:avLst/>
          </a:prstGeom>
        </p:spPr>
      </p:pic>
      <p:sp>
        <p:nvSpPr>
          <p:cNvPr id="15" name="Titelplatzhalter 14"/>
          <p:cNvSpPr>
            <a:spLocks noGrp="1"/>
          </p:cNvSpPr>
          <p:nvPr userDrawn="1">
            <p:ph type="title"/>
          </p:nvPr>
        </p:nvSpPr>
        <p:spPr bwMode="auto">
          <a:xfrm>
            <a:off x="462408" y="139700"/>
            <a:ext cx="6840000" cy="90382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GB" dirty="0" err="1"/>
              <a:t>Titelmasterformat</a:t>
            </a:r>
            <a:r>
              <a:rPr lang="en-GB" dirty="0"/>
              <a:t> </a:t>
            </a:r>
            <a:r>
              <a:rPr lang="en-GB" dirty="0" err="1"/>
              <a:t>durch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 err="1"/>
              <a:t>Klicken</a:t>
            </a:r>
            <a:r>
              <a:rPr lang="en-GB" dirty="0"/>
              <a:t> </a:t>
            </a:r>
            <a:r>
              <a:rPr lang="en-GB" dirty="0" err="1"/>
              <a:t>bearbeiten</a:t>
            </a:r>
            <a:endParaRPr lang="en-GB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4"/>
          </p:nvPr>
        </p:nvSpPr>
        <p:spPr>
          <a:xfrm>
            <a:off x="7849651" y="5335571"/>
            <a:ext cx="892150" cy="258085"/>
          </a:xfrm>
          <a:prstGeom prst="rect">
            <a:avLst/>
          </a:prstGeom>
        </p:spPr>
        <p:txBody>
          <a:bodyPr/>
          <a:lstStyle>
            <a:lvl1pPr>
              <a:defRPr sz="1050"/>
            </a:lvl1pPr>
          </a:lstStyle>
          <a:p>
            <a:r>
              <a:rPr lang="en-GB" dirty="0" smtClean="0"/>
              <a:t>Page </a:t>
            </a:r>
            <a:fld id="{BE3DC40E-DBBE-4E2D-9EEC-FBF0DA0E9179}" type="slidenum">
              <a:rPr lang="en-GB" smtClean="0"/>
              <a:pPr/>
              <a:t>‹Nr.›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75" r:id="rId2"/>
    <p:sldLayoutId id="2147483663" r:id="rId3"/>
    <p:sldLayoutId id="2147483664" r:id="rId4"/>
    <p:sldLayoutId id="2147483667" r:id="rId5"/>
    <p:sldLayoutId id="2147483668" r:id="rId6"/>
    <p:sldLayoutId id="2147483670" r:id="rId7"/>
  </p:sldLayoutIdLst>
  <p:transition>
    <p:fade/>
  </p:transition>
  <p:hf hdr="0" dt="0"/>
  <p:txStyles>
    <p:titleStyle>
      <a:lvl1pPr algn="l" defTabSz="914306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1"/>
          </a:solidFill>
          <a:latin typeface="Georgia" charset="0"/>
          <a:ea typeface="Georgia" charset="0"/>
          <a:cs typeface="Georgia" charset="0"/>
        </a:defRPr>
      </a:lvl1pPr>
    </p:titleStyle>
    <p:bodyStyle>
      <a:lvl1pPr marL="266700" indent="-266700" algn="l" defTabSz="914306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39750" indent="-273050" algn="l" defTabSz="914306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accent1"/>
        </a:buClr>
        <a:buSzPct val="100000"/>
        <a:buFont typeface="Wingdings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14388" indent="-273050" algn="l" defTabSz="914306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accent1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74738" indent="-266700" algn="l" defTabSz="914306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accent1"/>
        </a:buClr>
        <a:buFont typeface="Wingdings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41438" indent="-263525" algn="l" defTabSz="914306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accent1"/>
        </a:buClr>
        <a:buFont typeface="Wingdings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43" indent="-228577" algn="l" defTabSz="91430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96" indent="-228577" algn="l" defTabSz="91430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0" indent="-228577" algn="l" defTabSz="91430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03" indent="-228577" algn="l" defTabSz="91430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3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6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0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3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67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0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73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27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2" pos="2880" userDrawn="1">
          <p15:clr>
            <a:srgbClr val="F26B43"/>
          </p15:clr>
        </p15:guide>
        <p15:guide id="3" pos="288" userDrawn="1">
          <p15:clr>
            <a:srgbClr val="F26B43"/>
          </p15:clr>
        </p15:guide>
        <p15:guide id="4" pos="5179" userDrawn="1">
          <p15:clr>
            <a:srgbClr val="F26B43"/>
          </p15:clr>
        </p15:guide>
        <p15:guide id="5" pos="5467" userDrawn="1">
          <p15:clr>
            <a:srgbClr val="F26B43"/>
          </p15:clr>
        </p15:guide>
        <p15:guide id="7" orient="horz" pos="3278" userDrawn="1">
          <p15:clr>
            <a:srgbClr val="F26B43"/>
          </p15:clr>
        </p15:guide>
        <p15:guide id="9" orient="horz" pos="182" userDrawn="1">
          <p15:clr>
            <a:srgbClr val="F26B43"/>
          </p15:clr>
        </p15:guide>
        <p15:guide id="10" orient="horz" pos="847" userDrawn="1">
          <p15:clr>
            <a:srgbClr val="F26B43"/>
          </p15:clr>
        </p15:guide>
        <p15:guide id="11" orient="horz" pos="3522" userDrawn="1">
          <p15:clr>
            <a:srgbClr val="F26B43"/>
          </p15:clr>
        </p15:guide>
        <p15:guide id="12" orient="horz" pos="109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hyperlink" Target="http://data.wu.ac.at/portalwatch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ommunidata.at/" TargetMode="External"/><Relationship Id="rId2" Type="http://schemas.openxmlformats.org/officeDocument/2006/relationships/hyperlink" Target="http://www.adequate.at/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tertitel 1"/>
          <p:cNvSpPr>
            <a:spLocks noGrp="1"/>
          </p:cNvSpPr>
          <p:nvPr>
            <p:ph type="subTitle" idx="1"/>
          </p:nvPr>
        </p:nvSpPr>
        <p:spPr>
          <a:xfrm>
            <a:off x="605406" y="887570"/>
            <a:ext cx="5436000" cy="351533"/>
          </a:xfrm>
        </p:spPr>
        <p:txBody>
          <a:bodyPr/>
          <a:lstStyle/>
          <a:p>
            <a:r>
              <a:rPr lang="en-US" sz="1600" dirty="0"/>
              <a:t>The </a:t>
            </a:r>
            <a:r>
              <a:rPr lang="en-US" sz="1600" dirty="0" err="1"/>
              <a:t>ADEQUATe</a:t>
            </a:r>
            <a:r>
              <a:rPr lang="en-US" sz="1600" dirty="0"/>
              <a:t> platform: data- and community-driven quality improvements</a:t>
            </a:r>
            <a:endParaRPr lang="de-DE" sz="1600" dirty="0"/>
          </a:p>
        </p:txBody>
      </p:sp>
      <p:sp>
        <p:nvSpPr>
          <p:cNvPr id="3" name="Titel 2"/>
          <p:cNvSpPr>
            <a:spLocks noGrp="1"/>
          </p:cNvSpPr>
          <p:nvPr>
            <p:ph type="ctrTitle"/>
          </p:nvPr>
        </p:nvSpPr>
        <p:spPr>
          <a:xfrm>
            <a:off x="605406" y="1463147"/>
            <a:ext cx="5436000" cy="1026000"/>
          </a:xfrm>
        </p:spPr>
        <p:txBody>
          <a:bodyPr/>
          <a:lstStyle/>
          <a:p>
            <a:r>
              <a:rPr lang="en-US" dirty="0"/>
              <a:t>Search, Filter, Fork,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and </a:t>
            </a:r>
            <a:r>
              <a:rPr lang="en-US" dirty="0"/>
              <a:t>Link Open Data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1"/>
          </p:nvPr>
        </p:nvSpPr>
        <p:spPr>
          <a:xfrm>
            <a:off x="287338" y="2941637"/>
            <a:ext cx="5604580" cy="1089673"/>
          </a:xfrm>
        </p:spPr>
        <p:txBody>
          <a:bodyPr/>
          <a:lstStyle/>
          <a:p>
            <a:r>
              <a:rPr lang="de-DE" sz="1800" u="sng" dirty="0"/>
              <a:t>Sebastian </a:t>
            </a:r>
            <a:r>
              <a:rPr lang="de-DE" sz="1800" u="sng" dirty="0" smtClean="0"/>
              <a:t>Neumaier</a:t>
            </a:r>
            <a:r>
              <a:rPr lang="de-DE" sz="1800" dirty="0" smtClean="0"/>
              <a:t>, </a:t>
            </a:r>
            <a:r>
              <a:rPr lang="de-DE" sz="1800" dirty="0" err="1" smtClean="0"/>
              <a:t>Lőrinc</a:t>
            </a:r>
            <a:r>
              <a:rPr lang="de-DE" sz="1800" dirty="0" smtClean="0"/>
              <a:t> </a:t>
            </a:r>
            <a:r>
              <a:rPr lang="de-DE" sz="1800" dirty="0" err="1" smtClean="0"/>
              <a:t>Thurnay</a:t>
            </a:r>
            <a:r>
              <a:rPr lang="de-DE" sz="1800" dirty="0"/>
              <a:t>, </a:t>
            </a:r>
            <a:endParaRPr lang="de-DE" sz="1800" dirty="0" smtClean="0"/>
          </a:p>
          <a:p>
            <a:r>
              <a:rPr lang="de-DE" sz="1800" dirty="0" smtClean="0"/>
              <a:t>Thomas </a:t>
            </a:r>
            <a:r>
              <a:rPr lang="de-DE" sz="1800" dirty="0"/>
              <a:t>J. </a:t>
            </a:r>
            <a:r>
              <a:rPr lang="de-DE" sz="1800" dirty="0" err="1" smtClean="0"/>
              <a:t>Lampoltshammer</a:t>
            </a:r>
            <a:r>
              <a:rPr lang="de-DE" sz="1800" dirty="0"/>
              <a:t>, </a:t>
            </a:r>
            <a:r>
              <a:rPr lang="de-DE" sz="1800" dirty="0" err="1" smtClean="0"/>
              <a:t>Tomáš</a:t>
            </a:r>
            <a:r>
              <a:rPr lang="de-DE" sz="1800" dirty="0" smtClean="0"/>
              <a:t> </a:t>
            </a:r>
            <a:r>
              <a:rPr lang="de-DE" sz="1800" dirty="0" err="1" smtClean="0"/>
              <a:t>Knap</a:t>
            </a:r>
            <a:endParaRPr lang="de-DE" sz="1800" dirty="0" smtClean="0"/>
          </a:p>
        </p:txBody>
      </p:sp>
    </p:spTree>
    <p:extLst>
      <p:ext uri="{BB962C8B-B14F-4D97-AF65-F5344CB8AC3E}">
        <p14:creationId xmlns:p14="http://schemas.microsoft.com/office/powerpoint/2010/main" val="356807411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nhaltsplatzhalter 11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329" y="460228"/>
            <a:ext cx="3196730" cy="877152"/>
          </a:xfrm>
        </p:spPr>
      </p:pic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DC40E-DBBE-4E2D-9EEC-FBF0DA0E9179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14" name="Rechteck 13"/>
          <p:cNvSpPr/>
          <p:nvPr/>
        </p:nvSpPr>
        <p:spPr>
          <a:xfrm>
            <a:off x="344329" y="1616134"/>
            <a:ext cx="806631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i="1" dirty="0" smtClean="0">
                <a:latin typeface="+mj-lt"/>
              </a:rPr>
              <a:t>The </a:t>
            </a:r>
            <a:r>
              <a:rPr lang="de-DE" i="1" dirty="0" err="1" smtClean="0">
                <a:latin typeface="+mj-lt"/>
              </a:rPr>
              <a:t>project</a:t>
            </a:r>
            <a:r>
              <a:rPr lang="de-DE" i="1" dirty="0" smtClean="0">
                <a:latin typeface="+mj-lt"/>
              </a:rPr>
              <a:t> </a:t>
            </a:r>
            <a:r>
              <a:rPr lang="de-DE" i="1" dirty="0" err="1" smtClean="0">
                <a:latin typeface="+mj-lt"/>
              </a:rPr>
              <a:t>is</a:t>
            </a:r>
            <a:r>
              <a:rPr lang="de-DE" i="1" dirty="0" smtClean="0">
                <a:latin typeface="+mj-lt"/>
              </a:rPr>
              <a:t> </a:t>
            </a:r>
            <a:r>
              <a:rPr lang="de-DE" i="1" dirty="0" err="1" smtClean="0">
                <a:latin typeface="+mj-lt"/>
              </a:rPr>
              <a:t>based</a:t>
            </a:r>
            <a:r>
              <a:rPr lang="de-DE" i="1" dirty="0" smtClean="0">
                <a:latin typeface="+mj-lt"/>
              </a:rPr>
              <a:t> on </a:t>
            </a:r>
            <a:r>
              <a:rPr lang="de-DE" i="1" dirty="0" err="1" smtClean="0">
                <a:latin typeface="+mj-lt"/>
              </a:rPr>
              <a:t>two</a:t>
            </a:r>
            <a:r>
              <a:rPr lang="de-DE" i="1" dirty="0" smtClean="0">
                <a:latin typeface="+mj-lt"/>
              </a:rPr>
              <a:t> </a:t>
            </a:r>
            <a:r>
              <a:rPr lang="de-DE" i="1" dirty="0" err="1" smtClean="0">
                <a:latin typeface="+mj-lt"/>
              </a:rPr>
              <a:t>oberservations</a:t>
            </a:r>
            <a:r>
              <a:rPr lang="de-DE" i="1" dirty="0" smtClean="0">
                <a:latin typeface="+mj-lt"/>
              </a:rPr>
              <a:t>…</a:t>
            </a:r>
            <a:endParaRPr lang="de-DE" b="1" dirty="0" smtClean="0">
              <a:latin typeface="+mj-lt"/>
            </a:endParaRPr>
          </a:p>
          <a:p>
            <a:pPr marL="742950" lvl="1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de-DE" dirty="0" smtClean="0">
                <a:latin typeface="+mj-lt"/>
              </a:rPr>
              <a:t>An </a:t>
            </a:r>
            <a:r>
              <a:rPr lang="de-DE" dirty="0" err="1" smtClean="0">
                <a:latin typeface="+mj-lt"/>
              </a:rPr>
              <a:t>increasing</a:t>
            </a:r>
            <a:r>
              <a:rPr lang="de-DE" dirty="0" smtClean="0">
                <a:latin typeface="+mj-lt"/>
              </a:rPr>
              <a:t> </a:t>
            </a:r>
            <a:r>
              <a:rPr lang="de-DE" dirty="0" err="1">
                <a:latin typeface="+mj-lt"/>
              </a:rPr>
              <a:t>amount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of</a:t>
            </a:r>
            <a:r>
              <a:rPr lang="de-DE" dirty="0">
                <a:latin typeface="+mj-lt"/>
              </a:rPr>
              <a:t> Open Data </a:t>
            </a:r>
            <a:r>
              <a:rPr lang="de-DE" dirty="0" err="1">
                <a:latin typeface="+mj-lt"/>
              </a:rPr>
              <a:t>becomes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available</a:t>
            </a:r>
            <a:r>
              <a:rPr lang="de-DE" dirty="0">
                <a:latin typeface="+mj-lt"/>
              </a:rPr>
              <a:t> </a:t>
            </a:r>
            <a:endParaRPr lang="de-DE" dirty="0" smtClean="0">
              <a:latin typeface="+mj-lt"/>
            </a:endParaRPr>
          </a:p>
          <a:p>
            <a:pPr marL="742950" lvl="1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de-DE" dirty="0" smtClean="0">
                <a:latin typeface="+mj-lt"/>
              </a:rPr>
              <a:t>The </a:t>
            </a:r>
            <a:r>
              <a:rPr lang="de-DE" dirty="0" err="1" smtClean="0">
                <a:latin typeface="+mj-lt"/>
              </a:rPr>
              <a:t>integration</a:t>
            </a:r>
            <a:r>
              <a:rPr lang="de-DE" dirty="0" smtClean="0">
                <a:latin typeface="+mj-lt"/>
              </a:rPr>
              <a:t> </a:t>
            </a:r>
            <a:r>
              <a:rPr lang="de-DE" dirty="0" err="1">
                <a:latin typeface="+mj-lt"/>
              </a:rPr>
              <a:t>of</a:t>
            </a:r>
            <a:r>
              <a:rPr lang="de-DE" dirty="0">
                <a:latin typeface="+mj-lt"/>
              </a:rPr>
              <a:t> such open, </a:t>
            </a:r>
            <a:r>
              <a:rPr lang="de-DE" dirty="0" err="1">
                <a:latin typeface="+mj-lt"/>
              </a:rPr>
              <a:t>freely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re-usable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data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sources</a:t>
            </a:r>
            <a:r>
              <a:rPr lang="de-DE" dirty="0">
                <a:latin typeface="+mj-lt"/>
              </a:rPr>
              <a:t> </a:t>
            </a:r>
            <a:r>
              <a:rPr lang="de-DE" dirty="0" err="1" smtClean="0">
                <a:latin typeface="+mj-lt"/>
              </a:rPr>
              <a:t>is</a:t>
            </a:r>
            <a:r>
              <a:rPr lang="de-DE" dirty="0" smtClean="0">
                <a:latin typeface="+mj-lt"/>
              </a:rPr>
              <a:t> a </a:t>
            </a:r>
            <a:r>
              <a:rPr lang="de-DE" dirty="0" err="1">
                <a:latin typeface="+mj-lt"/>
              </a:rPr>
              <a:t>key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success</a:t>
            </a:r>
            <a:r>
              <a:rPr lang="de-DE" dirty="0">
                <a:latin typeface="+mj-lt"/>
              </a:rPr>
              <a:t> </a:t>
            </a:r>
            <a:r>
              <a:rPr lang="de-DE" dirty="0" err="1" smtClean="0">
                <a:latin typeface="+mj-lt"/>
              </a:rPr>
              <a:t>factor</a:t>
            </a:r>
            <a:endParaRPr lang="de-DE" dirty="0">
              <a:latin typeface="+mj-lt"/>
            </a:endParaRPr>
          </a:p>
          <a:p>
            <a:endParaRPr lang="de-DE" dirty="0" smtClean="0">
              <a:latin typeface="+mj-lt"/>
            </a:endParaRPr>
          </a:p>
          <a:p>
            <a:r>
              <a:rPr lang="de-DE" i="1" dirty="0" smtClean="0">
                <a:latin typeface="+mj-lt"/>
              </a:rPr>
              <a:t>… </a:t>
            </a:r>
            <a:r>
              <a:rPr lang="de-DE" i="1" dirty="0" err="1" smtClean="0">
                <a:latin typeface="+mj-lt"/>
              </a:rPr>
              <a:t>and</a:t>
            </a:r>
            <a:r>
              <a:rPr lang="de-DE" i="1" dirty="0" smtClean="0">
                <a:latin typeface="+mj-lt"/>
              </a:rPr>
              <a:t> </a:t>
            </a:r>
            <a:r>
              <a:rPr lang="de-DE" i="1" dirty="0" err="1" smtClean="0">
                <a:latin typeface="+mj-lt"/>
              </a:rPr>
              <a:t>two</a:t>
            </a:r>
            <a:r>
              <a:rPr lang="de-DE" i="1" dirty="0" smtClean="0">
                <a:latin typeface="+mj-lt"/>
              </a:rPr>
              <a:t> </a:t>
            </a:r>
            <a:r>
              <a:rPr lang="de-DE" i="1" dirty="0" err="1">
                <a:latin typeface="+mj-lt"/>
              </a:rPr>
              <a:t>i</a:t>
            </a:r>
            <a:r>
              <a:rPr lang="de-DE" i="1" dirty="0" err="1" smtClean="0">
                <a:latin typeface="+mj-lt"/>
              </a:rPr>
              <a:t>dentified</a:t>
            </a:r>
            <a:r>
              <a:rPr lang="de-DE" i="1" dirty="0" smtClean="0">
                <a:latin typeface="+mj-lt"/>
              </a:rPr>
              <a:t> </a:t>
            </a:r>
            <a:r>
              <a:rPr lang="de-DE" i="1" dirty="0" err="1" smtClean="0">
                <a:latin typeface="+mj-lt"/>
              </a:rPr>
              <a:t>issues</a:t>
            </a:r>
            <a:r>
              <a:rPr lang="de-DE" i="1" dirty="0" smtClean="0">
                <a:latin typeface="+mj-lt"/>
              </a:rPr>
              <a:t>:</a:t>
            </a:r>
            <a:endParaRPr lang="de-DE" b="1" dirty="0" smtClean="0">
              <a:latin typeface="+mj-lt"/>
            </a:endParaRPr>
          </a:p>
          <a:p>
            <a:pPr marL="742950" lvl="1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de-DE" dirty="0" smtClean="0">
                <a:latin typeface="+mj-lt"/>
              </a:rPr>
              <a:t>The </a:t>
            </a:r>
            <a:r>
              <a:rPr lang="de-DE" dirty="0" err="1" smtClean="0">
                <a:latin typeface="+mj-lt"/>
              </a:rPr>
              <a:t>quality</a:t>
            </a:r>
            <a:r>
              <a:rPr lang="de-DE" dirty="0" smtClean="0">
                <a:latin typeface="+mj-lt"/>
              </a:rPr>
              <a:t> </a:t>
            </a:r>
            <a:r>
              <a:rPr lang="de-DE" dirty="0" err="1">
                <a:latin typeface="+mj-lt"/>
              </a:rPr>
              <a:t>issues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with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metadata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and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the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data</a:t>
            </a:r>
            <a:r>
              <a:rPr lang="de-DE" dirty="0">
                <a:latin typeface="+mj-lt"/>
              </a:rPr>
              <a:t> </a:t>
            </a:r>
            <a:r>
              <a:rPr lang="de-DE" dirty="0" err="1" smtClean="0">
                <a:latin typeface="+mj-lt"/>
              </a:rPr>
              <a:t>itself</a:t>
            </a:r>
            <a:endParaRPr lang="de-DE" dirty="0" smtClean="0">
              <a:latin typeface="+mj-lt"/>
            </a:endParaRPr>
          </a:p>
          <a:p>
            <a:pPr marL="742950" lvl="1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de-DE" dirty="0" smtClean="0">
                <a:latin typeface="+mj-lt"/>
              </a:rPr>
              <a:t>The lack </a:t>
            </a:r>
            <a:r>
              <a:rPr lang="de-DE" dirty="0" err="1">
                <a:latin typeface="+mj-lt"/>
              </a:rPr>
              <a:t>of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interoperability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between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data</a:t>
            </a:r>
            <a:r>
              <a:rPr lang="de-DE" dirty="0">
                <a:latin typeface="+mj-lt"/>
              </a:rPr>
              <a:t> </a:t>
            </a:r>
            <a:r>
              <a:rPr lang="de-DE" dirty="0" err="1" smtClean="0">
                <a:latin typeface="+mj-lt"/>
              </a:rPr>
              <a:t>sources</a:t>
            </a:r>
            <a:endParaRPr lang="de-DE" dirty="0">
              <a:latin typeface="+mj-lt"/>
            </a:endParaRPr>
          </a:p>
        </p:txBody>
      </p:sp>
      <p:sp>
        <p:nvSpPr>
          <p:cNvPr id="16" name="Rechteck 15"/>
          <p:cNvSpPr/>
          <p:nvPr/>
        </p:nvSpPr>
        <p:spPr>
          <a:xfrm>
            <a:off x="3810006" y="397000"/>
            <a:ext cx="49265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de-DE" b="1" dirty="0">
                <a:solidFill>
                  <a:srgbClr val="000000"/>
                </a:solidFill>
                <a:latin typeface="Georgia"/>
              </a:rPr>
              <a:t>A</a:t>
            </a:r>
            <a:r>
              <a:rPr lang="de-DE" dirty="0">
                <a:solidFill>
                  <a:srgbClr val="000000"/>
                </a:solidFill>
                <a:latin typeface="Georgia"/>
              </a:rPr>
              <a:t>nalytics &amp; </a:t>
            </a:r>
            <a:r>
              <a:rPr lang="de-DE" b="1" dirty="0">
                <a:solidFill>
                  <a:srgbClr val="000000"/>
                </a:solidFill>
                <a:latin typeface="Georgia"/>
              </a:rPr>
              <a:t>D</a:t>
            </a:r>
            <a:r>
              <a:rPr lang="de-DE" dirty="0">
                <a:solidFill>
                  <a:srgbClr val="000000"/>
                </a:solidFill>
                <a:latin typeface="Georgia"/>
              </a:rPr>
              <a:t>ata </a:t>
            </a:r>
            <a:r>
              <a:rPr lang="de-DE" b="1" dirty="0" err="1">
                <a:solidFill>
                  <a:srgbClr val="000000"/>
                </a:solidFill>
                <a:latin typeface="Georgia"/>
              </a:rPr>
              <a:t>E</a:t>
            </a:r>
            <a:r>
              <a:rPr lang="de-DE" dirty="0" err="1">
                <a:solidFill>
                  <a:srgbClr val="000000"/>
                </a:solidFill>
                <a:latin typeface="Georgia"/>
              </a:rPr>
              <a:t>nrichment</a:t>
            </a:r>
            <a:r>
              <a:rPr lang="de-DE" dirty="0">
                <a:solidFill>
                  <a:srgbClr val="000000"/>
                </a:solidFill>
                <a:latin typeface="Georgia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Georgia"/>
              </a:rPr>
              <a:t>to</a:t>
            </a:r>
            <a:r>
              <a:rPr lang="de-DE" dirty="0">
                <a:solidFill>
                  <a:srgbClr val="000000"/>
                </a:solidFill>
                <a:latin typeface="Georgia"/>
              </a:rPr>
              <a:t> </a:t>
            </a:r>
            <a:r>
              <a:rPr lang="de-DE" dirty="0" smtClean="0">
                <a:solidFill>
                  <a:srgbClr val="000000"/>
                </a:solidFill>
                <a:latin typeface="Georgia"/>
              </a:rPr>
              <a:t/>
            </a:r>
            <a:br>
              <a:rPr lang="de-DE" dirty="0" smtClean="0">
                <a:solidFill>
                  <a:srgbClr val="000000"/>
                </a:solidFill>
                <a:latin typeface="Georgia"/>
              </a:rPr>
            </a:br>
            <a:r>
              <a:rPr lang="de-DE" dirty="0" err="1" smtClean="0">
                <a:solidFill>
                  <a:srgbClr val="000000"/>
                </a:solidFill>
                <a:latin typeface="Georgia"/>
              </a:rPr>
              <a:t>improve</a:t>
            </a:r>
            <a:r>
              <a:rPr lang="de-DE" dirty="0" smtClean="0">
                <a:solidFill>
                  <a:srgbClr val="000000"/>
                </a:solidFill>
                <a:latin typeface="Georgia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Georgia"/>
              </a:rPr>
              <a:t>the</a:t>
            </a:r>
            <a:r>
              <a:rPr lang="de-DE" dirty="0">
                <a:solidFill>
                  <a:srgbClr val="000000"/>
                </a:solidFill>
                <a:latin typeface="Georgia"/>
              </a:rPr>
              <a:t> </a:t>
            </a:r>
            <a:r>
              <a:rPr lang="de-DE" b="1" dirty="0" err="1">
                <a:solidFill>
                  <a:srgbClr val="000000"/>
                </a:solidFill>
                <a:latin typeface="Georgia"/>
              </a:rPr>
              <a:t>QUA</a:t>
            </a:r>
            <a:r>
              <a:rPr lang="de-DE" dirty="0" err="1">
                <a:solidFill>
                  <a:srgbClr val="000000"/>
                </a:solidFill>
                <a:latin typeface="Georgia"/>
              </a:rPr>
              <a:t>li</a:t>
            </a:r>
            <a:r>
              <a:rPr lang="de-DE" b="1" dirty="0" err="1">
                <a:solidFill>
                  <a:srgbClr val="000000"/>
                </a:solidFill>
                <a:latin typeface="Georgia"/>
              </a:rPr>
              <a:t>T</a:t>
            </a:r>
            <a:r>
              <a:rPr lang="de-DE" dirty="0" err="1">
                <a:solidFill>
                  <a:srgbClr val="000000"/>
                </a:solidFill>
                <a:latin typeface="Georgia"/>
              </a:rPr>
              <a:t>y</a:t>
            </a:r>
            <a:r>
              <a:rPr lang="de-DE" dirty="0">
                <a:solidFill>
                  <a:srgbClr val="000000"/>
                </a:solidFill>
                <a:latin typeface="Georgia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Georgia"/>
              </a:rPr>
              <a:t>of</a:t>
            </a:r>
            <a:r>
              <a:rPr lang="de-DE" dirty="0">
                <a:solidFill>
                  <a:srgbClr val="000000"/>
                </a:solidFill>
                <a:latin typeface="Georgia"/>
              </a:rPr>
              <a:t> Open Data</a:t>
            </a:r>
            <a:endParaRPr lang="de-DE" sz="160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" name="Rechteck 1"/>
          <p:cNvSpPr/>
          <p:nvPr/>
        </p:nvSpPr>
        <p:spPr>
          <a:xfrm>
            <a:off x="115083" y="5130964"/>
            <a:ext cx="73898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200" dirty="0" err="1">
                <a:latin typeface="+mj-lt"/>
              </a:rPr>
              <a:t>ADEQUATe</a:t>
            </a:r>
            <a:r>
              <a:rPr lang="de-DE" sz="1200" dirty="0">
                <a:latin typeface="+mj-lt"/>
              </a:rPr>
              <a:t> </a:t>
            </a:r>
            <a:r>
              <a:rPr lang="de-DE" sz="1200" dirty="0" err="1">
                <a:latin typeface="+mj-lt"/>
              </a:rPr>
              <a:t>is</a:t>
            </a:r>
            <a:r>
              <a:rPr lang="de-DE" sz="1200" dirty="0">
                <a:latin typeface="+mj-lt"/>
              </a:rPr>
              <a:t> </a:t>
            </a:r>
            <a:r>
              <a:rPr lang="de-DE" sz="1200" dirty="0" err="1">
                <a:latin typeface="+mj-lt"/>
              </a:rPr>
              <a:t>funded</a:t>
            </a:r>
            <a:r>
              <a:rPr lang="de-DE" sz="1200" dirty="0">
                <a:latin typeface="+mj-lt"/>
              </a:rPr>
              <a:t> </a:t>
            </a:r>
            <a:r>
              <a:rPr lang="de-DE" sz="1200" dirty="0" err="1">
                <a:latin typeface="+mj-lt"/>
              </a:rPr>
              <a:t>by</a:t>
            </a:r>
            <a:r>
              <a:rPr lang="de-DE" sz="1200" dirty="0">
                <a:latin typeface="+mj-lt"/>
              </a:rPr>
              <a:t> </a:t>
            </a:r>
            <a:r>
              <a:rPr lang="de-DE" sz="1200" dirty="0" err="1">
                <a:latin typeface="+mj-lt"/>
              </a:rPr>
              <a:t>the</a:t>
            </a:r>
            <a:r>
              <a:rPr lang="de-DE" sz="1200" dirty="0">
                <a:latin typeface="+mj-lt"/>
              </a:rPr>
              <a:t> Austrian Federal </a:t>
            </a:r>
            <a:r>
              <a:rPr lang="de-DE" sz="1200" dirty="0" err="1">
                <a:latin typeface="+mj-lt"/>
              </a:rPr>
              <a:t>Ministry</a:t>
            </a:r>
            <a:r>
              <a:rPr lang="de-DE" sz="1200" dirty="0">
                <a:latin typeface="+mj-lt"/>
              </a:rPr>
              <a:t> </a:t>
            </a:r>
            <a:r>
              <a:rPr lang="de-DE" sz="1200" dirty="0" err="1">
                <a:latin typeface="+mj-lt"/>
              </a:rPr>
              <a:t>of</a:t>
            </a:r>
            <a:r>
              <a:rPr lang="de-DE" sz="1200" dirty="0">
                <a:latin typeface="+mj-lt"/>
              </a:rPr>
              <a:t> </a:t>
            </a:r>
            <a:r>
              <a:rPr lang="de-DE" sz="1200" dirty="0" smtClean="0">
                <a:latin typeface="+mj-lt"/>
              </a:rPr>
              <a:t>Transport, Innovation </a:t>
            </a:r>
            <a:r>
              <a:rPr lang="de-DE" sz="1200" dirty="0" err="1">
                <a:latin typeface="+mj-lt"/>
              </a:rPr>
              <a:t>and</a:t>
            </a:r>
            <a:r>
              <a:rPr lang="de-DE" sz="1200" dirty="0">
                <a:latin typeface="+mj-lt"/>
              </a:rPr>
              <a:t> Technology (BMVIT) </a:t>
            </a:r>
            <a:r>
              <a:rPr lang="de-DE" sz="1200" dirty="0" err="1">
                <a:latin typeface="+mj-lt"/>
              </a:rPr>
              <a:t>under</a:t>
            </a:r>
            <a:r>
              <a:rPr lang="de-DE" sz="1200" dirty="0">
                <a:latin typeface="+mj-lt"/>
              </a:rPr>
              <a:t> </a:t>
            </a:r>
            <a:r>
              <a:rPr lang="de-DE" sz="1200" dirty="0" err="1">
                <a:latin typeface="+mj-lt"/>
              </a:rPr>
              <a:t>the</a:t>
            </a:r>
            <a:r>
              <a:rPr lang="de-DE" sz="1200" dirty="0">
                <a:latin typeface="+mj-lt"/>
              </a:rPr>
              <a:t> </a:t>
            </a:r>
            <a:r>
              <a:rPr lang="de-DE" sz="1200" dirty="0" err="1">
                <a:latin typeface="+mj-lt"/>
              </a:rPr>
              <a:t>program</a:t>
            </a:r>
            <a:r>
              <a:rPr lang="de-DE" sz="1200" dirty="0">
                <a:latin typeface="+mj-lt"/>
              </a:rPr>
              <a:t> “ICT </a:t>
            </a:r>
            <a:r>
              <a:rPr lang="de-DE" sz="1200" dirty="0" err="1" smtClean="0">
                <a:latin typeface="+mj-lt"/>
              </a:rPr>
              <a:t>of</a:t>
            </a:r>
            <a:r>
              <a:rPr lang="de-DE" sz="1200" dirty="0" smtClean="0">
                <a:latin typeface="+mj-lt"/>
              </a:rPr>
              <a:t> </a:t>
            </a:r>
            <a:r>
              <a:rPr lang="de-DE" sz="1200" dirty="0" err="1" smtClean="0">
                <a:latin typeface="+mj-lt"/>
              </a:rPr>
              <a:t>the</a:t>
            </a:r>
            <a:r>
              <a:rPr lang="de-DE" sz="1200" dirty="0" smtClean="0">
                <a:latin typeface="+mj-lt"/>
              </a:rPr>
              <a:t> </a:t>
            </a:r>
            <a:r>
              <a:rPr lang="de-DE" sz="1200" dirty="0">
                <a:latin typeface="+mj-lt"/>
              </a:rPr>
              <a:t>Future” (</a:t>
            </a:r>
            <a:r>
              <a:rPr lang="de-DE" sz="1200" dirty="0" err="1">
                <a:latin typeface="+mj-lt"/>
              </a:rPr>
              <a:t>grant</a:t>
            </a:r>
            <a:r>
              <a:rPr lang="de-DE" sz="1200" dirty="0">
                <a:latin typeface="+mj-lt"/>
              </a:rPr>
              <a:t> </a:t>
            </a:r>
            <a:r>
              <a:rPr lang="de-DE" sz="1200" dirty="0" err="1">
                <a:latin typeface="+mj-lt"/>
              </a:rPr>
              <a:t>no</a:t>
            </a:r>
            <a:r>
              <a:rPr lang="de-DE" sz="1200" dirty="0">
                <a:latin typeface="+mj-lt"/>
              </a:rPr>
              <a:t>. 849982) </a:t>
            </a:r>
            <a:r>
              <a:rPr lang="de-DE" sz="1200" dirty="0" err="1">
                <a:latin typeface="+mj-lt"/>
              </a:rPr>
              <a:t>between</a:t>
            </a:r>
            <a:r>
              <a:rPr lang="de-DE" sz="1200" dirty="0">
                <a:latin typeface="+mj-lt"/>
              </a:rPr>
              <a:t> </a:t>
            </a:r>
            <a:r>
              <a:rPr lang="de-DE" sz="1200" dirty="0" err="1">
                <a:latin typeface="+mj-lt"/>
              </a:rPr>
              <a:t>October</a:t>
            </a:r>
            <a:r>
              <a:rPr lang="de-DE" sz="1200" dirty="0">
                <a:latin typeface="+mj-lt"/>
              </a:rPr>
              <a:t> 2015 </a:t>
            </a:r>
            <a:r>
              <a:rPr lang="de-DE" sz="1200" dirty="0" err="1">
                <a:latin typeface="+mj-lt"/>
              </a:rPr>
              <a:t>and</a:t>
            </a:r>
            <a:r>
              <a:rPr lang="de-DE" sz="1200" dirty="0">
                <a:latin typeface="+mj-lt"/>
              </a:rPr>
              <a:t> June 2018.</a:t>
            </a:r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5745" y="5225029"/>
            <a:ext cx="1170789" cy="308308"/>
          </a:xfrm>
          <a:prstGeom prst="rect">
            <a:avLst/>
          </a:prstGeom>
        </p:spPr>
      </p:pic>
      <p:sp>
        <p:nvSpPr>
          <p:cNvPr id="6" name="Rechteck 5"/>
          <p:cNvSpPr/>
          <p:nvPr/>
        </p:nvSpPr>
        <p:spPr>
          <a:xfrm>
            <a:off x="344329" y="4286556"/>
            <a:ext cx="67740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Clr>
                <a:srgbClr val="0096D3"/>
              </a:buClr>
              <a:buFont typeface="Wingdings" panose="05000000000000000000" pitchFamily="2" charset="2"/>
              <a:buChar char="ü"/>
            </a:pPr>
            <a:r>
              <a:rPr lang="en-US" i="1" dirty="0" smtClean="0">
                <a:solidFill>
                  <a:srgbClr val="000000"/>
                </a:solidFill>
                <a:latin typeface="Georgia"/>
              </a:rPr>
              <a:t>2 </a:t>
            </a:r>
            <a:r>
              <a:rPr lang="en-US" b="1" i="1" dirty="0" smtClean="0">
                <a:solidFill>
                  <a:srgbClr val="000000"/>
                </a:solidFill>
                <a:latin typeface="Georgia"/>
              </a:rPr>
              <a:t>Austrian</a:t>
            </a:r>
            <a:r>
              <a:rPr lang="en-US" i="1" dirty="0" smtClean="0">
                <a:solidFill>
                  <a:srgbClr val="000000"/>
                </a:solidFill>
                <a:latin typeface="Georgia"/>
              </a:rPr>
              <a:t> </a:t>
            </a:r>
            <a:r>
              <a:rPr lang="en-US" i="1" dirty="0">
                <a:solidFill>
                  <a:srgbClr val="000000"/>
                </a:solidFill>
                <a:latin typeface="Georgia"/>
              </a:rPr>
              <a:t>Use Case </a:t>
            </a:r>
            <a:r>
              <a:rPr lang="en-US" i="1" dirty="0" smtClean="0">
                <a:solidFill>
                  <a:srgbClr val="000000"/>
                </a:solidFill>
                <a:latin typeface="Georgia"/>
              </a:rPr>
              <a:t>Portals:</a:t>
            </a:r>
            <a:r>
              <a:rPr lang="en-US" dirty="0" smtClean="0">
                <a:solidFill>
                  <a:srgbClr val="000000"/>
                </a:solidFill>
                <a:latin typeface="Georgia"/>
              </a:rPr>
              <a:t> </a:t>
            </a:r>
            <a:r>
              <a:rPr lang="en-US" dirty="0">
                <a:solidFill>
                  <a:srgbClr val="000000"/>
                </a:solidFill>
                <a:latin typeface="Georgia"/>
              </a:rPr>
              <a:t>data.gv.at &amp; opendataportal.at</a:t>
            </a:r>
          </a:p>
        </p:txBody>
      </p:sp>
    </p:spTree>
    <p:extLst>
      <p:ext uri="{BB962C8B-B14F-4D97-AF65-F5344CB8AC3E}">
        <p14:creationId xmlns:p14="http://schemas.microsoft.com/office/powerpoint/2010/main" val="239990732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DC40E-DBBE-4E2D-9EEC-FBF0DA0E9179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14" name="Rechteck 13"/>
          <p:cNvSpPr/>
          <p:nvPr/>
        </p:nvSpPr>
        <p:spPr>
          <a:xfrm>
            <a:off x="407412" y="1257539"/>
            <a:ext cx="8066312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en-US" i="1" dirty="0">
                <a:latin typeface="+mj-lt"/>
              </a:rPr>
              <a:t>3 Partners:</a:t>
            </a:r>
          </a:p>
          <a:p>
            <a:pPr marL="742950" lvl="1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Semantic Web </a:t>
            </a:r>
            <a:r>
              <a:rPr lang="en-US" dirty="0" smtClean="0">
                <a:latin typeface="+mj-lt"/>
              </a:rPr>
              <a:t>Company</a:t>
            </a:r>
          </a:p>
          <a:p>
            <a:pPr marL="742950" lvl="1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 smtClean="0">
                <a:latin typeface="+mj-lt"/>
              </a:rPr>
              <a:t>Danube </a:t>
            </a:r>
            <a:r>
              <a:rPr lang="en-US" dirty="0">
                <a:latin typeface="+mj-lt"/>
              </a:rPr>
              <a:t>University </a:t>
            </a:r>
            <a:r>
              <a:rPr lang="en-US" dirty="0" err="1" smtClean="0">
                <a:latin typeface="+mj-lt"/>
              </a:rPr>
              <a:t>Krems</a:t>
            </a:r>
            <a:endParaRPr lang="en-US" dirty="0" smtClean="0">
              <a:latin typeface="+mj-lt"/>
            </a:endParaRPr>
          </a:p>
          <a:p>
            <a:pPr marL="742950" lvl="1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 smtClean="0">
                <a:latin typeface="+mj-lt"/>
              </a:rPr>
              <a:t>University </a:t>
            </a:r>
            <a:r>
              <a:rPr lang="en-US" dirty="0">
                <a:latin typeface="+mj-lt"/>
              </a:rPr>
              <a:t>of Economics Vienna</a:t>
            </a: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ü"/>
            </a:pPr>
            <a:endParaRPr lang="en-US" dirty="0">
              <a:latin typeface="+mj-lt"/>
            </a:endParaRP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en-US" i="1" dirty="0">
                <a:latin typeface="+mj-lt"/>
              </a:rPr>
              <a:t>33 </a:t>
            </a:r>
            <a:r>
              <a:rPr lang="en-US" i="1" dirty="0" smtClean="0">
                <a:latin typeface="+mj-lt"/>
              </a:rPr>
              <a:t>Months </a:t>
            </a:r>
            <a:r>
              <a:rPr lang="en-US" i="1" dirty="0">
                <a:latin typeface="+mj-lt"/>
              </a:rPr>
              <a:t>project </a:t>
            </a:r>
            <a:r>
              <a:rPr lang="en-US" i="1" dirty="0" smtClean="0">
                <a:latin typeface="+mj-lt"/>
              </a:rPr>
              <a:t>duration: </a:t>
            </a:r>
            <a:r>
              <a:rPr lang="en-US" dirty="0">
                <a:latin typeface="+mj-lt"/>
              </a:rPr>
              <a:t>Oct. 2015 - June 2018</a:t>
            </a: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ü"/>
            </a:pPr>
            <a:endParaRPr lang="en-US" dirty="0">
              <a:latin typeface="+mj-lt"/>
            </a:endParaRP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en-US" i="1" dirty="0">
                <a:latin typeface="+mj-lt"/>
              </a:rPr>
              <a:t>2 Use Case Partners:</a:t>
            </a:r>
            <a:r>
              <a:rPr lang="en-US" dirty="0">
                <a:latin typeface="+mj-lt"/>
              </a:rPr>
              <a:t> data.gv.at &amp; opendataportal.at</a:t>
            </a: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ü"/>
            </a:pPr>
            <a:endParaRPr lang="en-US" dirty="0">
              <a:latin typeface="+mj-lt"/>
            </a:endParaRP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en-US" i="1" dirty="0">
                <a:latin typeface="+mj-lt"/>
              </a:rPr>
              <a:t>Objective: </a:t>
            </a:r>
            <a:r>
              <a:rPr lang="en-US" dirty="0">
                <a:latin typeface="+mj-lt"/>
              </a:rPr>
              <a:t>Improvement of Data Quality </a:t>
            </a:r>
            <a:r>
              <a:rPr lang="en-US" dirty="0" smtClean="0">
                <a:latin typeface="+mj-lt"/>
              </a:rPr>
              <a:t>through</a:t>
            </a:r>
          </a:p>
          <a:p>
            <a:pPr marL="742950" lvl="1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 smtClean="0">
                <a:latin typeface="+mj-lt"/>
              </a:rPr>
              <a:t>Quality </a:t>
            </a:r>
            <a:r>
              <a:rPr lang="en-US" dirty="0">
                <a:latin typeface="+mj-lt"/>
              </a:rPr>
              <a:t>Assessment and </a:t>
            </a:r>
            <a:r>
              <a:rPr lang="en-US" dirty="0" smtClean="0">
                <a:latin typeface="+mj-lt"/>
              </a:rPr>
              <a:t>Monitoring</a:t>
            </a:r>
          </a:p>
          <a:p>
            <a:pPr marL="742950" lvl="1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 smtClean="0">
                <a:latin typeface="+mj-lt"/>
              </a:rPr>
              <a:t>Quality Improvement Algorithms</a:t>
            </a:r>
          </a:p>
          <a:p>
            <a:pPr marL="742950" lvl="1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 smtClean="0">
                <a:latin typeface="+mj-lt"/>
              </a:rPr>
              <a:t>Data Linkage</a:t>
            </a:r>
          </a:p>
          <a:p>
            <a:pPr marL="742950" lvl="1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 smtClean="0">
                <a:latin typeface="+mj-lt"/>
              </a:rPr>
              <a:t>Improvements </a:t>
            </a:r>
            <a:r>
              <a:rPr lang="en-US" dirty="0">
                <a:latin typeface="+mj-lt"/>
              </a:rPr>
              <a:t>of the data by the user (community)</a:t>
            </a: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ü"/>
            </a:pPr>
            <a:endParaRPr lang="en-US" dirty="0">
              <a:latin typeface="+mj-lt"/>
            </a:endParaRPr>
          </a:p>
        </p:txBody>
      </p:sp>
      <p:pic>
        <p:nvPicPr>
          <p:cNvPr id="7" name="Inhaltsplatzhalter 1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803"/>
          <a:stretch/>
        </p:blipFill>
        <p:spPr>
          <a:xfrm>
            <a:off x="344329" y="460228"/>
            <a:ext cx="3196730" cy="624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59478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354828" y="1326782"/>
            <a:ext cx="8341322" cy="3941834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de-DE" sz="1800" i="1" dirty="0" err="1" smtClean="0">
                <a:latin typeface="+mj-lt"/>
              </a:rPr>
              <a:t>Four</a:t>
            </a:r>
            <a:r>
              <a:rPr lang="de-DE" sz="1800" i="1" dirty="0" smtClean="0">
                <a:latin typeface="+mj-lt"/>
              </a:rPr>
              <a:t> </a:t>
            </a:r>
            <a:r>
              <a:rPr lang="de-DE" sz="1800" i="1" dirty="0" err="1" smtClean="0">
                <a:latin typeface="+mj-lt"/>
              </a:rPr>
              <a:t>focus</a:t>
            </a:r>
            <a:r>
              <a:rPr lang="de-DE" sz="1800" i="1" dirty="0" smtClean="0">
                <a:latin typeface="+mj-lt"/>
              </a:rPr>
              <a:t> </a:t>
            </a:r>
            <a:r>
              <a:rPr lang="de-DE" sz="1800" i="1" dirty="0" err="1" smtClean="0">
                <a:latin typeface="+mj-lt"/>
              </a:rPr>
              <a:t>group</a:t>
            </a:r>
            <a:r>
              <a:rPr lang="de-DE" sz="1800" i="1" dirty="0" smtClean="0">
                <a:latin typeface="+mj-lt"/>
              </a:rPr>
              <a:t> </a:t>
            </a:r>
            <a:r>
              <a:rPr lang="de-DE" sz="1800" i="1" dirty="0" err="1" smtClean="0">
                <a:latin typeface="+mj-lt"/>
              </a:rPr>
              <a:t>interviews</a:t>
            </a:r>
            <a:r>
              <a:rPr lang="de-DE" sz="1800" i="1" dirty="0" smtClean="0">
                <a:latin typeface="+mj-lt"/>
              </a:rPr>
              <a:t>, </a:t>
            </a:r>
            <a:r>
              <a:rPr lang="de-DE" sz="1800" i="1" dirty="0" err="1" smtClean="0">
                <a:latin typeface="+mj-lt"/>
              </a:rPr>
              <a:t>addressing</a:t>
            </a:r>
            <a:r>
              <a:rPr lang="de-DE" sz="1800" i="1" dirty="0" smtClean="0">
                <a:latin typeface="+mj-lt"/>
              </a:rPr>
              <a:t> different </a:t>
            </a:r>
            <a:r>
              <a:rPr lang="de-DE" sz="1800" i="1" dirty="0" err="1" smtClean="0">
                <a:latin typeface="+mj-lt"/>
              </a:rPr>
              <a:t>stakeholder</a:t>
            </a:r>
            <a:endParaRPr lang="de-DE" sz="1800" i="1" dirty="0" smtClean="0">
              <a:latin typeface="+mj-lt"/>
            </a:endParaRPr>
          </a:p>
          <a:p>
            <a:pPr marL="0" indent="0">
              <a:buNone/>
            </a:pPr>
            <a:endParaRPr lang="de-DE" sz="500" dirty="0" smtClean="0">
              <a:latin typeface="+mj-lt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de-DE" sz="1700" dirty="0" smtClean="0">
                <a:latin typeface="+mj-lt"/>
              </a:rPr>
              <a:t>Lay-</a:t>
            </a:r>
            <a:r>
              <a:rPr lang="de-DE" sz="1700" dirty="0" err="1" smtClean="0">
                <a:latin typeface="+mj-lt"/>
              </a:rPr>
              <a:t>persons</a:t>
            </a:r>
            <a:r>
              <a:rPr lang="de-DE" sz="1700" dirty="0" smtClean="0">
                <a:latin typeface="+mj-lt"/>
              </a:rPr>
              <a:t> 		</a:t>
            </a:r>
            <a:r>
              <a:rPr lang="de-DE" sz="1700" dirty="0">
                <a:latin typeface="+mj-lt"/>
              </a:rPr>
              <a:t>	</a:t>
            </a:r>
            <a:r>
              <a:rPr lang="de-DE" sz="1700" dirty="0" smtClean="0">
                <a:latin typeface="+mj-lt"/>
              </a:rPr>
              <a:t>		</a:t>
            </a:r>
            <a:r>
              <a:rPr lang="de-DE" sz="1300" dirty="0" smtClean="0">
                <a:latin typeface="+mj-lt"/>
              </a:rPr>
              <a:t>@ Vienna Open Data </a:t>
            </a:r>
            <a:r>
              <a:rPr lang="de-DE" sz="1300" dirty="0" err="1" smtClean="0">
                <a:latin typeface="+mj-lt"/>
              </a:rPr>
              <a:t>meet-up</a:t>
            </a:r>
            <a:endParaRPr lang="de-DE" sz="1700" dirty="0" smtClean="0">
              <a:latin typeface="+mj-lt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de-DE" sz="1700" dirty="0" smtClean="0">
                <a:latin typeface="+mj-lt"/>
              </a:rPr>
              <a:t>Open  (</a:t>
            </a:r>
            <a:r>
              <a:rPr lang="de-DE" sz="1700" dirty="0" err="1" smtClean="0">
                <a:latin typeface="+mj-lt"/>
              </a:rPr>
              <a:t>Government</a:t>
            </a:r>
            <a:r>
              <a:rPr lang="de-DE" sz="1700" dirty="0" smtClean="0">
                <a:latin typeface="+mj-lt"/>
              </a:rPr>
              <a:t>) Data </a:t>
            </a:r>
            <a:r>
              <a:rPr lang="de-DE" sz="1700" dirty="0" err="1" smtClean="0">
                <a:latin typeface="+mj-lt"/>
              </a:rPr>
              <a:t>interested</a:t>
            </a:r>
            <a:r>
              <a:rPr lang="de-DE" sz="1700" dirty="0" smtClean="0">
                <a:latin typeface="+mj-lt"/>
              </a:rPr>
              <a:t>      		</a:t>
            </a:r>
            <a:r>
              <a:rPr lang="de-DE" sz="1300" dirty="0" smtClean="0">
                <a:latin typeface="+mj-lt"/>
              </a:rPr>
              <a:t>@ </a:t>
            </a:r>
            <a:r>
              <a:rPr lang="de-DE" sz="1300" dirty="0" err="1">
                <a:latin typeface="+mj-lt"/>
              </a:rPr>
              <a:t>GovCamp</a:t>
            </a:r>
            <a:r>
              <a:rPr lang="de-DE" sz="1300" dirty="0">
                <a:latin typeface="+mj-lt"/>
              </a:rPr>
              <a:t> Vienna</a:t>
            </a:r>
            <a:endParaRPr lang="de-DE" sz="1700" i="1" dirty="0" smtClean="0">
              <a:latin typeface="+mj-lt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de-DE" sz="1700" dirty="0" err="1" smtClean="0">
                <a:latin typeface="+mj-lt"/>
              </a:rPr>
              <a:t>Platform</a:t>
            </a:r>
            <a:r>
              <a:rPr lang="de-DE" sz="1700" dirty="0" smtClean="0">
                <a:latin typeface="+mj-lt"/>
              </a:rPr>
              <a:t> </a:t>
            </a:r>
            <a:r>
              <a:rPr lang="de-DE" sz="1700" dirty="0" err="1" smtClean="0">
                <a:latin typeface="+mj-lt"/>
              </a:rPr>
              <a:t>providers</a:t>
            </a:r>
            <a:r>
              <a:rPr lang="de-DE" sz="1700" dirty="0" smtClean="0">
                <a:latin typeface="+mj-lt"/>
              </a:rPr>
              <a:t> 		          		</a:t>
            </a:r>
            <a:r>
              <a:rPr lang="de-DE" sz="1300" dirty="0" smtClean="0">
                <a:latin typeface="+mj-lt"/>
              </a:rPr>
              <a:t>@ </a:t>
            </a:r>
            <a:r>
              <a:rPr lang="de-DE" sz="1300" dirty="0">
                <a:latin typeface="+mj-lt"/>
              </a:rPr>
              <a:t>Austrian OGD </a:t>
            </a:r>
            <a:r>
              <a:rPr lang="de-DE" sz="1300" dirty="0" err="1">
                <a:latin typeface="+mj-lt"/>
              </a:rPr>
              <a:t>Plaform</a:t>
            </a:r>
            <a:r>
              <a:rPr lang="de-DE" sz="1300" dirty="0">
                <a:latin typeface="+mj-lt"/>
              </a:rPr>
              <a:t> </a:t>
            </a:r>
            <a:r>
              <a:rPr lang="de-DE" sz="1300" dirty="0" err="1">
                <a:latin typeface="+mj-lt"/>
              </a:rPr>
              <a:t>meeting</a:t>
            </a:r>
            <a:endParaRPr lang="de-DE" sz="1700" i="1" dirty="0" smtClean="0">
              <a:latin typeface="+mj-lt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de-DE" sz="1700" dirty="0" err="1" smtClean="0">
                <a:latin typeface="+mj-lt"/>
              </a:rPr>
              <a:t>Scientists</a:t>
            </a:r>
            <a:r>
              <a:rPr lang="de-DE" sz="1700" dirty="0" smtClean="0">
                <a:latin typeface="+mj-lt"/>
              </a:rPr>
              <a:t> 	</a:t>
            </a:r>
            <a:r>
              <a:rPr lang="de-DE" sz="1700" dirty="0">
                <a:latin typeface="+mj-lt"/>
              </a:rPr>
              <a:t>	</a:t>
            </a:r>
            <a:r>
              <a:rPr lang="de-DE" sz="1700" dirty="0" smtClean="0">
                <a:latin typeface="+mj-lt"/>
              </a:rPr>
              <a:t>			</a:t>
            </a:r>
            <a:r>
              <a:rPr lang="de-DE" sz="1300" dirty="0" smtClean="0">
                <a:latin typeface="+mj-lt"/>
              </a:rPr>
              <a:t>@ IRIS </a:t>
            </a:r>
            <a:r>
              <a:rPr lang="de-DE" sz="1300" dirty="0" err="1" smtClean="0">
                <a:latin typeface="+mj-lt"/>
              </a:rPr>
              <a:t>conference</a:t>
            </a:r>
            <a:r>
              <a:rPr lang="de-DE" sz="1300" dirty="0" smtClean="0">
                <a:latin typeface="+mj-lt"/>
              </a:rPr>
              <a:t> 2016</a:t>
            </a:r>
          </a:p>
          <a:p>
            <a:pPr marL="266700" lvl="1" indent="0">
              <a:buNone/>
            </a:pPr>
            <a:endParaRPr lang="de-DE" sz="500" i="1" dirty="0" smtClean="0">
              <a:latin typeface="+mj-lt"/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de-DE" sz="1500" dirty="0" smtClean="0">
                <a:latin typeface="+mj-lt"/>
              </a:rPr>
              <a:t>106 </a:t>
            </a:r>
            <a:r>
              <a:rPr lang="de-DE" sz="1500" dirty="0" err="1" smtClean="0">
                <a:latin typeface="+mj-lt"/>
              </a:rPr>
              <a:t>attendees</a:t>
            </a:r>
            <a:endParaRPr lang="de-DE" sz="1500" dirty="0" smtClean="0">
              <a:latin typeface="+mj-lt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de-DE" sz="1800" i="1" dirty="0" smtClean="0">
              <a:latin typeface="+mj-lt"/>
            </a:endParaRPr>
          </a:p>
          <a:p>
            <a:pPr marL="336550" indent="-342900">
              <a:buFont typeface="Wingdings" panose="05000000000000000000" pitchFamily="2" charset="2"/>
              <a:buChar char="ü"/>
            </a:pPr>
            <a:r>
              <a:rPr lang="de-DE" sz="1900" i="1" dirty="0" smtClean="0">
                <a:latin typeface="+mj-lt"/>
              </a:rPr>
              <a:t>Online </a:t>
            </a:r>
            <a:r>
              <a:rPr lang="de-DE" sz="1900" i="1" dirty="0" err="1" smtClean="0">
                <a:latin typeface="+mj-lt"/>
              </a:rPr>
              <a:t>based</a:t>
            </a:r>
            <a:r>
              <a:rPr lang="de-DE" sz="1900" i="1" dirty="0" smtClean="0">
                <a:latin typeface="+mj-lt"/>
              </a:rPr>
              <a:t> </a:t>
            </a:r>
            <a:r>
              <a:rPr lang="de-DE" sz="1900" i="1" dirty="0" err="1" smtClean="0">
                <a:latin typeface="+mj-lt"/>
              </a:rPr>
              <a:t>survey</a:t>
            </a:r>
            <a:endParaRPr lang="de-DE" sz="1900" i="1" dirty="0" smtClean="0">
              <a:latin typeface="+mj-lt"/>
            </a:endParaRPr>
          </a:p>
          <a:p>
            <a:pPr marL="0" indent="-6350">
              <a:buNone/>
            </a:pPr>
            <a:endParaRPr lang="de-DE" sz="500" dirty="0">
              <a:latin typeface="+mj-lt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de-DE" sz="1700" dirty="0" smtClean="0">
                <a:latin typeface="+mj-lt"/>
              </a:rPr>
              <a:t>Data </a:t>
            </a:r>
            <a:r>
              <a:rPr lang="de-DE" sz="1700" dirty="0" err="1" smtClean="0">
                <a:latin typeface="+mj-lt"/>
              </a:rPr>
              <a:t>quality</a:t>
            </a:r>
            <a:r>
              <a:rPr lang="de-DE" sz="1700" dirty="0" smtClean="0">
                <a:latin typeface="+mj-lt"/>
              </a:rPr>
              <a:t> </a:t>
            </a:r>
            <a:r>
              <a:rPr lang="de-DE" sz="1700" dirty="0" err="1" smtClean="0">
                <a:latin typeface="+mj-lt"/>
              </a:rPr>
              <a:t>issues</a:t>
            </a:r>
            <a:r>
              <a:rPr lang="de-DE" sz="1700" dirty="0" smtClean="0">
                <a:latin typeface="+mj-lt"/>
              </a:rPr>
              <a:t> on Austrian </a:t>
            </a:r>
            <a:r>
              <a:rPr lang="de-DE" sz="1700" dirty="0" err="1" smtClean="0">
                <a:latin typeface="+mj-lt"/>
              </a:rPr>
              <a:t>data</a:t>
            </a:r>
            <a:r>
              <a:rPr lang="de-DE" sz="1700" dirty="0" smtClean="0">
                <a:latin typeface="+mj-lt"/>
              </a:rPr>
              <a:t> </a:t>
            </a:r>
            <a:r>
              <a:rPr lang="de-DE" sz="1700" dirty="0" err="1" smtClean="0">
                <a:latin typeface="+mj-lt"/>
              </a:rPr>
              <a:t>portals</a:t>
            </a:r>
            <a:endParaRPr lang="de-DE" sz="1700" dirty="0" smtClean="0">
              <a:latin typeface="+mj-lt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de-DE" sz="1700" dirty="0" err="1" smtClean="0">
                <a:latin typeface="+mj-lt"/>
              </a:rPr>
              <a:t>Sent</a:t>
            </a:r>
            <a:r>
              <a:rPr lang="de-DE" sz="1700" dirty="0" smtClean="0">
                <a:latin typeface="+mj-lt"/>
              </a:rPr>
              <a:t> </a:t>
            </a:r>
            <a:r>
              <a:rPr lang="de-DE" sz="1700" dirty="0" err="1" smtClean="0">
                <a:latin typeface="+mj-lt"/>
              </a:rPr>
              <a:t>to</a:t>
            </a:r>
            <a:r>
              <a:rPr lang="de-DE" sz="1700" dirty="0" smtClean="0">
                <a:latin typeface="+mj-lt"/>
              </a:rPr>
              <a:t> </a:t>
            </a:r>
            <a:r>
              <a:rPr lang="de-DE" sz="1700" dirty="0" err="1" smtClean="0">
                <a:latin typeface="+mj-lt"/>
              </a:rPr>
              <a:t>various</a:t>
            </a:r>
            <a:r>
              <a:rPr lang="de-DE" sz="1700" dirty="0" smtClean="0">
                <a:latin typeface="+mj-lt"/>
              </a:rPr>
              <a:t> </a:t>
            </a:r>
            <a:r>
              <a:rPr lang="de-DE" sz="1700" dirty="0" err="1" smtClean="0">
                <a:latin typeface="+mj-lt"/>
              </a:rPr>
              <a:t>channels</a:t>
            </a:r>
            <a:r>
              <a:rPr lang="de-DE" sz="1700" dirty="0" smtClean="0">
                <a:latin typeface="+mj-lt"/>
              </a:rPr>
              <a:t>: </a:t>
            </a:r>
            <a:r>
              <a:rPr lang="de-DE" sz="1700" dirty="0" err="1" smtClean="0">
                <a:latin typeface="+mj-lt"/>
              </a:rPr>
              <a:t>community</a:t>
            </a:r>
            <a:r>
              <a:rPr lang="de-DE" sz="1700" dirty="0" smtClean="0">
                <a:latin typeface="+mj-lt"/>
              </a:rPr>
              <a:t> </a:t>
            </a:r>
            <a:r>
              <a:rPr lang="de-DE" sz="1700" dirty="0" err="1" smtClean="0">
                <a:latin typeface="+mj-lt"/>
              </a:rPr>
              <a:t>mailing</a:t>
            </a:r>
            <a:r>
              <a:rPr lang="de-DE" sz="1700" dirty="0" smtClean="0">
                <a:latin typeface="+mj-lt"/>
              </a:rPr>
              <a:t> </a:t>
            </a:r>
            <a:r>
              <a:rPr lang="de-DE" sz="1700" dirty="0" err="1" smtClean="0">
                <a:latin typeface="+mj-lt"/>
              </a:rPr>
              <a:t>lists</a:t>
            </a:r>
            <a:r>
              <a:rPr lang="de-DE" sz="1700" dirty="0" smtClean="0">
                <a:latin typeface="+mj-lt"/>
              </a:rPr>
              <a:t>, </a:t>
            </a:r>
            <a:r>
              <a:rPr lang="de-DE" sz="1700" dirty="0" err="1" smtClean="0">
                <a:latin typeface="+mj-lt"/>
              </a:rPr>
              <a:t>social</a:t>
            </a:r>
            <a:r>
              <a:rPr lang="de-DE" sz="1700" dirty="0" smtClean="0">
                <a:latin typeface="+mj-lt"/>
              </a:rPr>
              <a:t> </a:t>
            </a:r>
            <a:r>
              <a:rPr lang="de-DE" sz="1700" dirty="0" err="1" smtClean="0">
                <a:latin typeface="+mj-lt"/>
              </a:rPr>
              <a:t>media</a:t>
            </a:r>
            <a:r>
              <a:rPr lang="de-DE" sz="1700" dirty="0" smtClean="0">
                <a:latin typeface="+mj-lt"/>
              </a:rPr>
              <a:t> </a:t>
            </a:r>
            <a:r>
              <a:rPr lang="de-DE" sz="1700" dirty="0" err="1" smtClean="0">
                <a:latin typeface="+mj-lt"/>
              </a:rPr>
              <a:t>groups</a:t>
            </a:r>
            <a:r>
              <a:rPr lang="de-DE" sz="1700" dirty="0" smtClean="0">
                <a:latin typeface="+mj-lt"/>
              </a:rPr>
              <a:t>, etc.</a:t>
            </a:r>
          </a:p>
          <a:p>
            <a:pPr marL="266700" lvl="1" indent="0">
              <a:buNone/>
            </a:pPr>
            <a:endParaRPr lang="de-DE" sz="500" dirty="0" smtClean="0">
              <a:latin typeface="+mj-lt"/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de-DE" sz="1500" dirty="0">
                <a:latin typeface="+mj-lt"/>
              </a:rPr>
              <a:t>183 </a:t>
            </a:r>
            <a:r>
              <a:rPr lang="de-DE" sz="1500" dirty="0" err="1">
                <a:latin typeface="+mj-lt"/>
              </a:rPr>
              <a:t>participants</a:t>
            </a:r>
            <a:endParaRPr lang="de-DE" sz="1500" dirty="0" smtClean="0">
              <a:latin typeface="+mj-lt"/>
            </a:endParaRP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Requirements</a:t>
            </a:r>
            <a:r>
              <a:rPr lang="de-DE" dirty="0"/>
              <a:t> </a:t>
            </a:r>
            <a:r>
              <a:rPr lang="de-DE" dirty="0" err="1" smtClean="0"/>
              <a:t>Elicitation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DC40E-DBBE-4E2D-9EEC-FBF0DA0E9179}" type="slidenum">
              <a:rPr lang="en-GB" smtClean="0"/>
              <a:pPr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3951660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462019" y="1039803"/>
            <a:ext cx="6655957" cy="3711481"/>
          </a:xfrm>
        </p:spPr>
        <p:txBody>
          <a:bodyPr>
            <a:norm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de-DE" sz="1800" i="1" dirty="0" smtClean="0">
                <a:latin typeface="+mj-lt"/>
              </a:rPr>
              <a:t>Users want..</a:t>
            </a:r>
            <a:r>
              <a:rPr lang="de-DE" sz="1800" i="1" baseline="30000" dirty="0" smtClean="0">
                <a:latin typeface="+mj-lt"/>
              </a:rPr>
              <a:t>1</a:t>
            </a:r>
          </a:p>
          <a:p>
            <a:pPr lvl="1"/>
            <a:r>
              <a:rPr lang="de-DE" sz="1800" dirty="0" err="1" smtClean="0">
                <a:latin typeface="+mj-lt"/>
              </a:rPr>
              <a:t>Consistent</a:t>
            </a:r>
            <a:r>
              <a:rPr lang="de-DE" sz="1800" dirty="0" smtClean="0">
                <a:latin typeface="+mj-lt"/>
              </a:rPr>
              <a:t> </a:t>
            </a:r>
            <a:r>
              <a:rPr lang="de-DE" sz="1800" dirty="0" err="1" smtClean="0">
                <a:latin typeface="+mj-lt"/>
              </a:rPr>
              <a:t>data</a:t>
            </a:r>
            <a:r>
              <a:rPr lang="de-DE" sz="1800" dirty="0" smtClean="0">
                <a:latin typeface="+mj-lt"/>
              </a:rPr>
              <a:t> </a:t>
            </a:r>
            <a:r>
              <a:rPr lang="de-DE" sz="1800" dirty="0" err="1" smtClean="0">
                <a:latin typeface="+mj-lt"/>
              </a:rPr>
              <a:t>formats</a:t>
            </a:r>
            <a:r>
              <a:rPr lang="de-DE" sz="1800" dirty="0" smtClean="0">
                <a:latin typeface="+mj-lt"/>
              </a:rPr>
              <a:t>, </a:t>
            </a:r>
            <a:r>
              <a:rPr lang="de-DE" sz="1800" dirty="0" err="1" smtClean="0">
                <a:latin typeface="+mj-lt"/>
              </a:rPr>
              <a:t>complete</a:t>
            </a:r>
            <a:r>
              <a:rPr lang="de-DE" sz="1800" dirty="0" smtClean="0">
                <a:latin typeface="+mj-lt"/>
              </a:rPr>
              <a:t> </a:t>
            </a:r>
            <a:r>
              <a:rPr lang="de-DE" sz="1800" dirty="0" err="1" smtClean="0">
                <a:latin typeface="+mj-lt"/>
              </a:rPr>
              <a:t>and</a:t>
            </a:r>
            <a:r>
              <a:rPr lang="de-DE" sz="1800" dirty="0" smtClean="0">
                <a:latin typeface="+mj-lt"/>
              </a:rPr>
              <a:t> </a:t>
            </a:r>
            <a:r>
              <a:rPr lang="de-DE" sz="1800" dirty="0" err="1" smtClean="0">
                <a:latin typeface="+mj-lt"/>
              </a:rPr>
              <a:t>correct</a:t>
            </a:r>
            <a:r>
              <a:rPr lang="de-DE" sz="1800" dirty="0" smtClean="0">
                <a:latin typeface="+mj-lt"/>
              </a:rPr>
              <a:t> </a:t>
            </a:r>
            <a:r>
              <a:rPr lang="de-DE" sz="1800" dirty="0" err="1" smtClean="0">
                <a:latin typeface="+mj-lt"/>
              </a:rPr>
              <a:t>descriptions</a:t>
            </a:r>
            <a:r>
              <a:rPr lang="de-DE" sz="1800" dirty="0" smtClean="0">
                <a:latin typeface="+mj-lt"/>
              </a:rPr>
              <a:t>, </a:t>
            </a:r>
            <a:r>
              <a:rPr lang="de-DE" sz="1800" dirty="0" err="1" smtClean="0">
                <a:latin typeface="+mj-lt"/>
              </a:rPr>
              <a:t>up</a:t>
            </a:r>
            <a:r>
              <a:rPr lang="de-DE" sz="1800" dirty="0" smtClean="0">
                <a:latin typeface="+mj-lt"/>
              </a:rPr>
              <a:t>-</a:t>
            </a:r>
            <a:r>
              <a:rPr lang="de-DE" sz="1800" dirty="0" err="1" smtClean="0">
                <a:latin typeface="+mj-lt"/>
              </a:rPr>
              <a:t>to</a:t>
            </a:r>
            <a:r>
              <a:rPr lang="de-DE" sz="1800" dirty="0" smtClean="0">
                <a:latin typeface="+mj-lt"/>
              </a:rPr>
              <a:t>-date </a:t>
            </a:r>
            <a:r>
              <a:rPr lang="de-DE" sz="1800" dirty="0" err="1" smtClean="0">
                <a:latin typeface="+mj-lt"/>
              </a:rPr>
              <a:t>data</a:t>
            </a:r>
            <a:r>
              <a:rPr lang="de-DE" sz="1800" dirty="0" smtClean="0">
                <a:latin typeface="+mj-lt"/>
              </a:rPr>
              <a:t>, </a:t>
            </a:r>
            <a:r>
              <a:rPr lang="de-DE" sz="1800" dirty="0" err="1">
                <a:latin typeface="+mj-lt"/>
              </a:rPr>
              <a:t>clarity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 smtClean="0">
                <a:latin typeface="+mj-lt"/>
              </a:rPr>
              <a:t>about</a:t>
            </a:r>
            <a:r>
              <a:rPr lang="de-DE" sz="1800" dirty="0" smtClean="0">
                <a:latin typeface="+mj-lt"/>
              </a:rPr>
              <a:t> legal </a:t>
            </a:r>
            <a:r>
              <a:rPr lang="de-DE" sz="1800" dirty="0" err="1" smtClean="0">
                <a:latin typeface="+mj-lt"/>
              </a:rPr>
              <a:t>aspects</a:t>
            </a:r>
            <a:endParaRPr lang="de-DE" sz="1800" dirty="0" smtClean="0">
              <a:latin typeface="+mj-lt"/>
            </a:endParaRPr>
          </a:p>
          <a:p>
            <a:pPr lvl="1"/>
            <a:endParaRPr lang="de-DE" sz="1800" dirty="0">
              <a:latin typeface="+mj-lt"/>
            </a:endParaRPr>
          </a:p>
          <a:p>
            <a:pPr lvl="1"/>
            <a:r>
              <a:rPr lang="de-DE" sz="1800" dirty="0" smtClean="0">
                <a:latin typeface="+mj-lt"/>
              </a:rPr>
              <a:t>See </a:t>
            </a:r>
            <a:r>
              <a:rPr lang="de-DE" sz="1800" dirty="0" err="1" smtClean="0">
                <a:latin typeface="+mj-lt"/>
              </a:rPr>
              <a:t>issues</a:t>
            </a:r>
            <a:r>
              <a:rPr lang="de-DE" sz="1800" dirty="0" smtClean="0">
                <a:latin typeface="+mj-lt"/>
              </a:rPr>
              <a:t>, </a:t>
            </a:r>
            <a:r>
              <a:rPr lang="de-DE" sz="1800" dirty="0" err="1" smtClean="0">
                <a:latin typeface="+mj-lt"/>
              </a:rPr>
              <a:t>changes</a:t>
            </a:r>
            <a:r>
              <a:rPr lang="de-DE" sz="1800" dirty="0" smtClean="0">
                <a:latin typeface="+mj-lt"/>
              </a:rPr>
              <a:t> </a:t>
            </a:r>
            <a:r>
              <a:rPr lang="de-DE" sz="1800" dirty="0" err="1" smtClean="0">
                <a:latin typeface="+mj-lt"/>
              </a:rPr>
              <a:t>and</a:t>
            </a:r>
            <a:r>
              <a:rPr lang="de-DE" sz="1800" dirty="0" smtClean="0">
                <a:latin typeface="+mj-lt"/>
              </a:rPr>
              <a:t> </a:t>
            </a:r>
            <a:r>
              <a:rPr lang="de-DE" sz="1800" dirty="0" err="1" smtClean="0">
                <a:latin typeface="+mj-lt"/>
              </a:rPr>
              <a:t>development</a:t>
            </a:r>
            <a:r>
              <a:rPr lang="de-DE" sz="1800" dirty="0" smtClean="0">
                <a:latin typeface="+mj-lt"/>
              </a:rPr>
              <a:t> </a:t>
            </a:r>
            <a:r>
              <a:rPr lang="de-DE" sz="1800" dirty="0" err="1" smtClean="0">
                <a:latin typeface="+mj-lt"/>
              </a:rPr>
              <a:t>of</a:t>
            </a:r>
            <a:r>
              <a:rPr lang="de-DE" sz="1800" dirty="0" smtClean="0">
                <a:latin typeface="+mj-lt"/>
              </a:rPr>
              <a:t> </a:t>
            </a:r>
            <a:r>
              <a:rPr lang="de-DE" sz="1800" dirty="0" err="1" smtClean="0">
                <a:latin typeface="+mj-lt"/>
              </a:rPr>
              <a:t>datasets</a:t>
            </a:r>
            <a:r>
              <a:rPr lang="de-DE" sz="1800" dirty="0" smtClean="0">
                <a:latin typeface="+mj-lt"/>
              </a:rPr>
              <a:t> </a:t>
            </a:r>
            <a:r>
              <a:rPr lang="de-DE" sz="1800" dirty="0" err="1" smtClean="0">
                <a:latin typeface="+mj-lt"/>
              </a:rPr>
              <a:t>over</a:t>
            </a:r>
            <a:r>
              <a:rPr lang="de-DE" sz="1800" dirty="0" smtClean="0">
                <a:latin typeface="+mj-lt"/>
              </a:rPr>
              <a:t> time</a:t>
            </a:r>
          </a:p>
          <a:p>
            <a:pPr lvl="1"/>
            <a:endParaRPr lang="de-DE" sz="1800" dirty="0">
              <a:latin typeface="+mj-lt"/>
            </a:endParaRPr>
          </a:p>
          <a:p>
            <a:pPr lvl="1"/>
            <a:r>
              <a:rPr lang="de-DE" sz="1800" dirty="0" smtClean="0">
                <a:latin typeface="+mj-lt"/>
              </a:rPr>
              <a:t>Find all </a:t>
            </a:r>
            <a:r>
              <a:rPr lang="de-DE" sz="1800" dirty="0" err="1" smtClean="0">
                <a:latin typeface="+mj-lt"/>
              </a:rPr>
              <a:t>resources</a:t>
            </a:r>
            <a:r>
              <a:rPr lang="de-DE" sz="1800" dirty="0" smtClean="0">
                <a:latin typeface="+mj-lt"/>
              </a:rPr>
              <a:t> </a:t>
            </a:r>
            <a:r>
              <a:rPr lang="de-DE" sz="1800" dirty="0" err="1" smtClean="0">
                <a:latin typeface="+mj-lt"/>
              </a:rPr>
              <a:t>for</a:t>
            </a:r>
            <a:r>
              <a:rPr lang="de-DE" sz="1800" dirty="0" smtClean="0">
                <a:latin typeface="+mj-lt"/>
              </a:rPr>
              <a:t> a </a:t>
            </a:r>
            <a:r>
              <a:rPr lang="de-DE" sz="1800" dirty="0" err="1" smtClean="0">
                <a:latin typeface="+mj-lt"/>
              </a:rPr>
              <a:t>certain</a:t>
            </a:r>
            <a:r>
              <a:rPr lang="de-DE" sz="1800" dirty="0" smtClean="0">
                <a:latin typeface="+mj-lt"/>
              </a:rPr>
              <a:t> </a:t>
            </a:r>
            <a:r>
              <a:rPr lang="de-DE" sz="1800" dirty="0" err="1" smtClean="0">
                <a:latin typeface="+mj-lt"/>
              </a:rPr>
              <a:t>entity</a:t>
            </a:r>
            <a:r>
              <a:rPr lang="de-DE" sz="1800" dirty="0" smtClean="0">
                <a:latin typeface="+mj-lt"/>
              </a:rPr>
              <a:t> (e.g. </a:t>
            </a:r>
            <a:r>
              <a:rPr lang="de-DE" sz="1800" dirty="0" err="1" smtClean="0">
                <a:latin typeface="+mj-lt"/>
              </a:rPr>
              <a:t>city</a:t>
            </a:r>
            <a:r>
              <a:rPr lang="de-DE" sz="1800" dirty="0" smtClean="0">
                <a:latin typeface="+mj-lt"/>
              </a:rPr>
              <a:t>), </a:t>
            </a:r>
            <a:r>
              <a:rPr lang="de-DE" sz="1800" dirty="0" err="1" smtClean="0">
                <a:latin typeface="+mj-lt"/>
              </a:rPr>
              <a:t>filter</a:t>
            </a:r>
            <a:r>
              <a:rPr lang="de-DE" sz="1800" dirty="0" smtClean="0">
                <a:latin typeface="+mj-lt"/>
              </a:rPr>
              <a:t> </a:t>
            </a:r>
            <a:r>
              <a:rPr lang="de-DE" sz="1800" dirty="0" err="1" smtClean="0">
                <a:latin typeface="+mj-lt"/>
              </a:rPr>
              <a:t>based</a:t>
            </a:r>
            <a:r>
              <a:rPr lang="de-DE" sz="1800" dirty="0" smtClean="0">
                <a:latin typeface="+mj-lt"/>
              </a:rPr>
              <a:t> on </a:t>
            </a:r>
            <a:r>
              <a:rPr lang="de-DE" sz="1800" dirty="0" err="1" smtClean="0">
                <a:latin typeface="+mj-lt"/>
              </a:rPr>
              <a:t>concepts</a:t>
            </a:r>
            <a:endParaRPr lang="de-DE" sz="1800" dirty="0">
              <a:latin typeface="+mj-lt"/>
            </a:endParaRPr>
          </a:p>
          <a:p>
            <a:pPr lvl="1"/>
            <a:endParaRPr lang="de-DE" sz="1800" dirty="0" smtClean="0">
              <a:latin typeface="+mj-lt"/>
            </a:endParaRPr>
          </a:p>
          <a:p>
            <a:pPr lvl="1"/>
            <a:r>
              <a:rPr lang="de-DE" sz="1800" dirty="0" err="1" smtClean="0">
                <a:latin typeface="+mj-lt"/>
              </a:rPr>
              <a:t>Discuss</a:t>
            </a:r>
            <a:r>
              <a:rPr lang="de-DE" sz="1800" dirty="0" smtClean="0">
                <a:latin typeface="+mj-lt"/>
              </a:rPr>
              <a:t> </a:t>
            </a:r>
            <a:r>
              <a:rPr lang="de-DE" sz="1800" dirty="0" err="1" smtClean="0">
                <a:latin typeface="+mj-lt"/>
              </a:rPr>
              <a:t>and</a:t>
            </a:r>
            <a:r>
              <a:rPr lang="de-DE" sz="1800" dirty="0" smtClean="0">
                <a:latin typeface="+mj-lt"/>
              </a:rPr>
              <a:t> </a:t>
            </a:r>
            <a:r>
              <a:rPr lang="de-DE" sz="1800" dirty="0" err="1" smtClean="0">
                <a:latin typeface="+mj-lt"/>
              </a:rPr>
              <a:t>collaborate</a:t>
            </a:r>
            <a:r>
              <a:rPr lang="de-DE" sz="1800" dirty="0" smtClean="0">
                <a:latin typeface="+mj-lt"/>
              </a:rPr>
              <a:t> on </a:t>
            </a:r>
            <a:r>
              <a:rPr lang="de-DE" sz="1800" dirty="0" err="1" smtClean="0">
                <a:latin typeface="+mj-lt"/>
              </a:rPr>
              <a:t>datasets</a:t>
            </a:r>
            <a:r>
              <a:rPr lang="de-DE" sz="1800" dirty="0" smtClean="0">
                <a:latin typeface="+mj-lt"/>
              </a:rPr>
              <a:t>, </a:t>
            </a:r>
            <a:r>
              <a:rPr lang="de-DE" sz="1800" dirty="0" err="1" smtClean="0">
                <a:latin typeface="+mj-lt"/>
              </a:rPr>
              <a:t>fork</a:t>
            </a:r>
            <a:r>
              <a:rPr lang="de-DE" sz="1800" dirty="0" smtClean="0">
                <a:latin typeface="+mj-lt"/>
              </a:rPr>
              <a:t>/</a:t>
            </a:r>
            <a:r>
              <a:rPr lang="de-DE" sz="1800" dirty="0" err="1" smtClean="0">
                <a:latin typeface="+mj-lt"/>
              </a:rPr>
              <a:t>work</a:t>
            </a:r>
            <a:r>
              <a:rPr lang="de-DE" sz="1800" dirty="0" smtClean="0">
                <a:latin typeface="+mj-lt"/>
              </a:rPr>
              <a:t>  on </a:t>
            </a:r>
            <a:r>
              <a:rPr lang="de-DE" sz="1800" dirty="0" err="1" smtClean="0">
                <a:latin typeface="+mj-lt"/>
              </a:rPr>
              <a:t>own</a:t>
            </a:r>
            <a:r>
              <a:rPr lang="de-DE" sz="1800" dirty="0" smtClean="0">
                <a:latin typeface="+mj-lt"/>
              </a:rPr>
              <a:t> </a:t>
            </a:r>
            <a:r>
              <a:rPr lang="de-DE" sz="1800" dirty="0" err="1" smtClean="0">
                <a:latin typeface="+mj-lt"/>
              </a:rPr>
              <a:t>versions</a:t>
            </a:r>
            <a:r>
              <a:rPr lang="de-DE" sz="1800" dirty="0" smtClean="0">
                <a:latin typeface="+mj-lt"/>
              </a:rPr>
              <a:t> </a:t>
            </a:r>
            <a:endParaRPr lang="de-DE" sz="1800" dirty="0">
              <a:latin typeface="+mj-lt"/>
            </a:endParaRP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Survey </a:t>
            </a:r>
            <a:r>
              <a:rPr lang="de-DE" dirty="0" err="1" smtClean="0"/>
              <a:t>Results</a:t>
            </a:r>
            <a:r>
              <a:rPr lang="de-DE" dirty="0" smtClean="0"/>
              <a:t> 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DC40E-DBBE-4E2D-9EEC-FBF0DA0E9179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5" name="Rechteck 4"/>
          <p:cNvSpPr/>
          <p:nvPr/>
        </p:nvSpPr>
        <p:spPr>
          <a:xfrm>
            <a:off x="6818370" y="1920755"/>
            <a:ext cx="168507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600" b="1" dirty="0">
                <a:latin typeface="+mj-lt"/>
              </a:rPr>
              <a:t>Quality </a:t>
            </a:r>
            <a:r>
              <a:rPr lang="de-DE" sz="1600" b="1" dirty="0" err="1">
                <a:latin typeface="+mj-lt"/>
              </a:rPr>
              <a:t>report</a:t>
            </a:r>
            <a:endParaRPr lang="de-DE" sz="1600" b="1" dirty="0">
              <a:latin typeface="+mj-lt"/>
            </a:endParaRPr>
          </a:p>
        </p:txBody>
      </p:sp>
      <p:sp>
        <p:nvSpPr>
          <p:cNvPr id="6" name="Rechteck 5"/>
          <p:cNvSpPr/>
          <p:nvPr/>
        </p:nvSpPr>
        <p:spPr>
          <a:xfrm>
            <a:off x="5955955" y="2791057"/>
            <a:ext cx="254749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600" b="1" dirty="0">
                <a:latin typeface="+mj-lt"/>
              </a:rPr>
              <a:t>Quality </a:t>
            </a:r>
            <a:r>
              <a:rPr lang="de-DE" sz="1600" b="1" dirty="0" err="1" smtClean="0">
                <a:latin typeface="+mj-lt"/>
              </a:rPr>
              <a:t>improvements</a:t>
            </a:r>
            <a:endParaRPr lang="de-DE" sz="1600" b="1" dirty="0">
              <a:latin typeface="+mj-lt"/>
            </a:endParaRPr>
          </a:p>
        </p:txBody>
      </p:sp>
      <p:sp>
        <p:nvSpPr>
          <p:cNvPr id="7" name="Rechteck 6"/>
          <p:cNvSpPr/>
          <p:nvPr/>
        </p:nvSpPr>
        <p:spPr>
          <a:xfrm>
            <a:off x="6480136" y="3517919"/>
            <a:ext cx="202331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600" b="1" dirty="0" err="1" smtClean="0">
                <a:latin typeface="+mj-lt"/>
              </a:rPr>
              <a:t>Linkage</a:t>
            </a:r>
            <a:r>
              <a:rPr lang="de-DE" sz="1600" b="1" dirty="0" smtClean="0">
                <a:latin typeface="+mj-lt"/>
              </a:rPr>
              <a:t> &amp; Search</a:t>
            </a:r>
            <a:endParaRPr lang="de-DE" sz="1600" b="1" dirty="0">
              <a:latin typeface="+mj-lt"/>
            </a:endParaRPr>
          </a:p>
        </p:txBody>
      </p:sp>
      <p:sp>
        <p:nvSpPr>
          <p:cNvPr id="8" name="Rechteck 7"/>
          <p:cNvSpPr/>
          <p:nvPr/>
        </p:nvSpPr>
        <p:spPr>
          <a:xfrm>
            <a:off x="6818370" y="4348105"/>
            <a:ext cx="164179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600" b="1" dirty="0" err="1" smtClean="0">
                <a:latin typeface="+mj-lt"/>
              </a:rPr>
              <a:t>Collaboration</a:t>
            </a:r>
            <a:endParaRPr lang="de-DE" sz="1600" b="1" dirty="0">
              <a:latin typeface="+mj-lt"/>
            </a:endParaRPr>
          </a:p>
        </p:txBody>
      </p:sp>
      <p:sp>
        <p:nvSpPr>
          <p:cNvPr id="9" name="Rechteck 8"/>
          <p:cNvSpPr/>
          <p:nvPr/>
        </p:nvSpPr>
        <p:spPr>
          <a:xfrm>
            <a:off x="134466" y="5231653"/>
            <a:ext cx="7817224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050" i="1" baseline="30000" dirty="0" smtClean="0"/>
              <a:t>1</a:t>
            </a:r>
            <a:r>
              <a:rPr lang="de-DE" sz="1050" i="1" dirty="0" smtClean="0"/>
              <a:t> </a:t>
            </a:r>
            <a:r>
              <a:rPr lang="de-DE" sz="1050" dirty="0" err="1" smtClean="0">
                <a:latin typeface="+mj-lt"/>
              </a:rPr>
              <a:t>We</a:t>
            </a:r>
            <a:r>
              <a:rPr lang="de-DE" sz="1050" dirty="0" smtClean="0">
                <a:latin typeface="+mj-lt"/>
              </a:rPr>
              <a:t> </a:t>
            </a:r>
            <a:r>
              <a:rPr lang="de-DE" sz="1050" dirty="0" err="1">
                <a:latin typeface="+mj-lt"/>
              </a:rPr>
              <a:t>already</a:t>
            </a:r>
            <a:r>
              <a:rPr lang="de-DE" sz="1050" dirty="0">
                <a:latin typeface="+mj-lt"/>
              </a:rPr>
              <a:t> </a:t>
            </a:r>
            <a:r>
              <a:rPr lang="de-DE" sz="1050" dirty="0" err="1">
                <a:latin typeface="+mj-lt"/>
              </a:rPr>
              <a:t>filtered</a:t>
            </a:r>
            <a:r>
              <a:rPr lang="de-DE" sz="1050" dirty="0">
                <a:latin typeface="+mj-lt"/>
              </a:rPr>
              <a:t> out </a:t>
            </a:r>
            <a:r>
              <a:rPr lang="de-DE" sz="1050" dirty="0" err="1">
                <a:latin typeface="+mj-lt"/>
              </a:rPr>
              <a:t>requirements</a:t>
            </a:r>
            <a:r>
              <a:rPr lang="de-DE" sz="1050" dirty="0">
                <a:latin typeface="+mj-lt"/>
              </a:rPr>
              <a:t> </a:t>
            </a:r>
            <a:r>
              <a:rPr lang="de-DE" sz="1050" dirty="0" err="1">
                <a:latin typeface="+mj-lt"/>
              </a:rPr>
              <a:t>that</a:t>
            </a:r>
            <a:r>
              <a:rPr lang="de-DE" sz="1050" dirty="0">
                <a:latin typeface="+mj-lt"/>
              </a:rPr>
              <a:t> </a:t>
            </a:r>
            <a:r>
              <a:rPr lang="de-DE" sz="1050" dirty="0" err="1">
                <a:latin typeface="+mj-lt"/>
              </a:rPr>
              <a:t>are</a:t>
            </a:r>
            <a:r>
              <a:rPr lang="de-DE" sz="1050" dirty="0">
                <a:latin typeface="+mj-lt"/>
              </a:rPr>
              <a:t> </a:t>
            </a:r>
            <a:r>
              <a:rPr lang="de-DE" sz="1050" dirty="0" err="1">
                <a:latin typeface="+mj-lt"/>
              </a:rPr>
              <a:t>beyond</a:t>
            </a:r>
            <a:r>
              <a:rPr lang="de-DE" sz="1050" dirty="0">
                <a:latin typeface="+mj-lt"/>
              </a:rPr>
              <a:t> </a:t>
            </a:r>
            <a:r>
              <a:rPr lang="de-DE" sz="1050" dirty="0" err="1">
                <a:latin typeface="+mj-lt"/>
              </a:rPr>
              <a:t>our</a:t>
            </a:r>
            <a:r>
              <a:rPr lang="de-DE" sz="1050" dirty="0">
                <a:latin typeface="+mj-lt"/>
              </a:rPr>
              <a:t> </a:t>
            </a:r>
            <a:r>
              <a:rPr lang="de-DE" sz="1050" dirty="0" err="1">
                <a:latin typeface="+mj-lt"/>
              </a:rPr>
              <a:t>control</a:t>
            </a:r>
            <a:r>
              <a:rPr lang="de-DE" sz="1050" dirty="0">
                <a:latin typeface="+mj-lt"/>
              </a:rPr>
              <a:t>, e.g., </a:t>
            </a:r>
            <a:r>
              <a:rPr lang="de-DE" sz="1050" dirty="0" err="1">
                <a:latin typeface="+mj-lt"/>
              </a:rPr>
              <a:t>that</a:t>
            </a:r>
            <a:r>
              <a:rPr lang="de-DE" sz="1050" dirty="0">
                <a:latin typeface="+mj-lt"/>
              </a:rPr>
              <a:t> </a:t>
            </a:r>
            <a:r>
              <a:rPr lang="de-DE" sz="1050" dirty="0" err="1">
                <a:latin typeface="+mj-lt"/>
              </a:rPr>
              <a:t>users</a:t>
            </a:r>
            <a:r>
              <a:rPr lang="de-DE" sz="1050" dirty="0">
                <a:latin typeface="+mj-lt"/>
              </a:rPr>
              <a:t> </a:t>
            </a:r>
            <a:r>
              <a:rPr lang="de-DE" sz="1050" dirty="0" err="1">
                <a:latin typeface="+mj-lt"/>
              </a:rPr>
              <a:t>want</a:t>
            </a:r>
            <a:r>
              <a:rPr lang="de-DE" sz="1050" dirty="0">
                <a:latin typeface="+mj-lt"/>
              </a:rPr>
              <a:t> </a:t>
            </a:r>
            <a:r>
              <a:rPr lang="de-DE" sz="1050" dirty="0" err="1">
                <a:latin typeface="+mj-lt"/>
              </a:rPr>
              <a:t>the</a:t>
            </a:r>
            <a:r>
              <a:rPr lang="de-DE" sz="1050" dirty="0">
                <a:latin typeface="+mj-lt"/>
              </a:rPr>
              <a:t> </a:t>
            </a:r>
            <a:r>
              <a:rPr lang="de-DE" sz="1050" dirty="0" err="1">
                <a:latin typeface="+mj-lt"/>
              </a:rPr>
              <a:t>public</a:t>
            </a:r>
            <a:r>
              <a:rPr lang="de-DE" sz="1050" dirty="0">
                <a:latin typeface="+mj-lt"/>
              </a:rPr>
              <a:t> </a:t>
            </a:r>
            <a:r>
              <a:rPr lang="de-DE" sz="1050" dirty="0" err="1">
                <a:latin typeface="+mj-lt"/>
              </a:rPr>
              <a:t>data</a:t>
            </a:r>
            <a:r>
              <a:rPr lang="de-DE" sz="1050" dirty="0">
                <a:latin typeface="+mj-lt"/>
              </a:rPr>
              <a:t> </a:t>
            </a:r>
            <a:r>
              <a:rPr lang="de-DE" sz="1050" dirty="0" err="1">
                <a:latin typeface="+mj-lt"/>
              </a:rPr>
              <a:t>to</a:t>
            </a:r>
            <a:r>
              <a:rPr lang="de-DE" sz="1050" dirty="0">
                <a:latin typeface="+mj-lt"/>
              </a:rPr>
              <a:t> </a:t>
            </a:r>
            <a:r>
              <a:rPr lang="de-DE" sz="1050" dirty="0" err="1">
                <a:latin typeface="+mj-lt"/>
              </a:rPr>
              <a:t>be</a:t>
            </a:r>
            <a:r>
              <a:rPr lang="de-DE" sz="1050" dirty="0">
                <a:latin typeface="+mj-lt"/>
              </a:rPr>
              <a:t> </a:t>
            </a:r>
            <a:r>
              <a:rPr lang="de-DE" sz="1050" dirty="0" err="1">
                <a:latin typeface="+mj-lt"/>
              </a:rPr>
              <a:t>qualified</a:t>
            </a:r>
            <a:r>
              <a:rPr lang="de-DE" sz="1050" dirty="0">
                <a:latin typeface="+mj-lt"/>
              </a:rPr>
              <a:t> </a:t>
            </a:r>
            <a:r>
              <a:rPr lang="de-DE" sz="1050" dirty="0" err="1">
                <a:latin typeface="+mj-lt"/>
              </a:rPr>
              <a:t>as</a:t>
            </a:r>
            <a:r>
              <a:rPr lang="de-DE" sz="1050" dirty="0">
                <a:latin typeface="+mj-lt"/>
              </a:rPr>
              <a:t> </a:t>
            </a:r>
            <a:r>
              <a:rPr lang="de-DE" sz="1050" dirty="0" err="1">
                <a:latin typeface="+mj-lt"/>
              </a:rPr>
              <a:t>correct</a:t>
            </a:r>
            <a:r>
              <a:rPr lang="de-DE" sz="1050" dirty="0"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6277292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bgerundetes Rechteck 15"/>
          <p:cNvSpPr/>
          <p:nvPr/>
        </p:nvSpPr>
        <p:spPr>
          <a:xfrm>
            <a:off x="6223781" y="3736763"/>
            <a:ext cx="307146" cy="305641"/>
          </a:xfrm>
          <a:prstGeom prst="roundRect">
            <a:avLst/>
          </a:prstGeom>
          <a:solidFill>
            <a:schemeClr val="tx1">
              <a:lumMod val="75000"/>
              <a:lumOff val="25000"/>
              <a:alpha val="2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9" name="Abgerundetes Rechteck 18"/>
          <p:cNvSpPr/>
          <p:nvPr/>
        </p:nvSpPr>
        <p:spPr>
          <a:xfrm>
            <a:off x="6223781" y="3066921"/>
            <a:ext cx="307146" cy="305641"/>
          </a:xfrm>
          <a:prstGeom prst="roundRect">
            <a:avLst/>
          </a:prstGeom>
          <a:solidFill>
            <a:schemeClr val="accent5">
              <a:lumMod val="75000"/>
              <a:alpha val="2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9" name="Inhaltsplatzhalter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253" y="1089953"/>
            <a:ext cx="5394960" cy="4409883"/>
          </a:xfrm>
        </p:spPr>
      </p:pic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The </a:t>
            </a:r>
            <a:r>
              <a:rPr lang="de-DE" dirty="0" err="1" smtClean="0"/>
              <a:t>Platform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DC40E-DBBE-4E2D-9EEC-FBF0DA0E9179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10" name="Abgerundetes Rechteck 9"/>
          <p:cNvSpPr/>
          <p:nvPr/>
        </p:nvSpPr>
        <p:spPr>
          <a:xfrm>
            <a:off x="2996418" y="2425295"/>
            <a:ext cx="2307101" cy="1062111"/>
          </a:xfrm>
          <a:prstGeom prst="roundRect">
            <a:avLst/>
          </a:prstGeom>
          <a:solidFill>
            <a:srgbClr val="0096D3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Abgerundetes Rechteck 10"/>
          <p:cNvSpPr/>
          <p:nvPr/>
        </p:nvSpPr>
        <p:spPr>
          <a:xfrm>
            <a:off x="426720" y="2425295"/>
            <a:ext cx="2534530" cy="1062111"/>
          </a:xfrm>
          <a:prstGeom prst="roundRect">
            <a:avLst/>
          </a:prstGeom>
          <a:solidFill>
            <a:schemeClr val="accent5">
              <a:lumMod val="75000"/>
              <a:alpha val="2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Abgerundetes Rechteck 11"/>
          <p:cNvSpPr/>
          <p:nvPr/>
        </p:nvSpPr>
        <p:spPr>
          <a:xfrm>
            <a:off x="1997611" y="1721911"/>
            <a:ext cx="1589650" cy="595071"/>
          </a:xfrm>
          <a:prstGeom prst="roundRect">
            <a:avLst/>
          </a:prstGeom>
          <a:solidFill>
            <a:schemeClr val="tx1">
              <a:lumMod val="75000"/>
              <a:lumOff val="25000"/>
              <a:alpha val="2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Abgerundetes Rechteck 12"/>
          <p:cNvSpPr/>
          <p:nvPr/>
        </p:nvSpPr>
        <p:spPr>
          <a:xfrm>
            <a:off x="3516923" y="4225960"/>
            <a:ext cx="872197" cy="1237600"/>
          </a:xfrm>
          <a:prstGeom prst="roundRect">
            <a:avLst/>
          </a:prstGeom>
          <a:solidFill>
            <a:schemeClr val="bg1">
              <a:lumMod val="85000"/>
              <a:alpha val="2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Abgerundetes Rechteck 13"/>
          <p:cNvSpPr/>
          <p:nvPr/>
        </p:nvSpPr>
        <p:spPr>
          <a:xfrm>
            <a:off x="6223781" y="2383208"/>
            <a:ext cx="307146" cy="319512"/>
          </a:xfrm>
          <a:prstGeom prst="roundRect">
            <a:avLst/>
          </a:prstGeom>
          <a:solidFill>
            <a:srgbClr val="0096D3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Abgerundetes Rechteck 16"/>
          <p:cNvSpPr/>
          <p:nvPr/>
        </p:nvSpPr>
        <p:spPr>
          <a:xfrm>
            <a:off x="6228470" y="1729623"/>
            <a:ext cx="307146" cy="313527"/>
          </a:xfrm>
          <a:prstGeom prst="roundRect">
            <a:avLst/>
          </a:prstGeom>
          <a:solidFill>
            <a:schemeClr val="bg1">
              <a:lumMod val="85000"/>
              <a:alpha val="2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8" name="Titel 2"/>
          <p:cNvSpPr txBox="1">
            <a:spLocks/>
          </p:cNvSpPr>
          <p:nvPr/>
        </p:nvSpPr>
        <p:spPr bwMode="auto">
          <a:xfrm>
            <a:off x="6618849" y="1644799"/>
            <a:ext cx="2103120" cy="472389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30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de-DE" sz="1400" dirty="0" smtClean="0"/>
              <a:t>Data Monitoring</a:t>
            </a:r>
            <a:endParaRPr lang="de-DE" sz="1400" dirty="0"/>
          </a:p>
        </p:txBody>
      </p:sp>
      <p:sp>
        <p:nvSpPr>
          <p:cNvPr id="22" name="Titel 2"/>
          <p:cNvSpPr txBox="1">
            <a:spLocks/>
          </p:cNvSpPr>
          <p:nvPr/>
        </p:nvSpPr>
        <p:spPr bwMode="auto">
          <a:xfrm>
            <a:off x="6618849" y="2306769"/>
            <a:ext cx="2103120" cy="472389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30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de-DE" sz="1400" dirty="0" smtClean="0"/>
              <a:t>QA &amp; QI</a:t>
            </a:r>
            <a:endParaRPr lang="de-DE" sz="1400" dirty="0"/>
          </a:p>
        </p:txBody>
      </p:sp>
      <p:sp>
        <p:nvSpPr>
          <p:cNvPr id="23" name="Titel 2"/>
          <p:cNvSpPr txBox="1">
            <a:spLocks/>
          </p:cNvSpPr>
          <p:nvPr/>
        </p:nvSpPr>
        <p:spPr bwMode="auto">
          <a:xfrm>
            <a:off x="6618849" y="2968739"/>
            <a:ext cx="2103120" cy="472389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30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de-DE" sz="1400" dirty="0" err="1" smtClean="0"/>
              <a:t>Linkage</a:t>
            </a:r>
            <a:r>
              <a:rPr lang="de-DE" sz="1400" dirty="0" smtClean="0"/>
              <a:t> &amp; Search</a:t>
            </a:r>
            <a:endParaRPr lang="de-DE" sz="1400" dirty="0"/>
          </a:p>
        </p:txBody>
      </p:sp>
      <p:sp>
        <p:nvSpPr>
          <p:cNvPr id="24" name="Titel 2"/>
          <p:cNvSpPr txBox="1">
            <a:spLocks/>
          </p:cNvSpPr>
          <p:nvPr/>
        </p:nvSpPr>
        <p:spPr bwMode="auto">
          <a:xfrm>
            <a:off x="6618849" y="3653390"/>
            <a:ext cx="2103120" cy="472389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30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de-DE" sz="1400" dirty="0" smtClean="0"/>
              <a:t>Community Portal</a:t>
            </a: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77087260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nhaltsplatzhalter 6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465"/>
          <a:stretch/>
        </p:blipFill>
        <p:spPr>
          <a:xfrm>
            <a:off x="526011" y="1891137"/>
            <a:ext cx="2687236" cy="3357519"/>
          </a:xfrm>
        </p:spPr>
      </p:pic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(i) Data Monitoring 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DC40E-DBBE-4E2D-9EEC-FBF0DA0E9179}" type="slidenum">
              <a:rPr lang="en-GB" smtClean="0"/>
              <a:pPr/>
              <a:t>7</a:t>
            </a:fld>
            <a:endParaRPr lang="en-GB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3086" y="1885544"/>
            <a:ext cx="2344119" cy="2646699"/>
          </a:xfrm>
          <a:prstGeom prst="rect">
            <a:avLst/>
          </a:prstGeom>
        </p:spPr>
      </p:pic>
      <p:sp>
        <p:nvSpPr>
          <p:cNvPr id="9" name="Rechteck 8"/>
          <p:cNvSpPr/>
          <p:nvPr/>
        </p:nvSpPr>
        <p:spPr>
          <a:xfrm>
            <a:off x="6345455" y="4618418"/>
            <a:ext cx="231175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000" dirty="0">
                <a:hlinkClick r:id="rId4"/>
              </a:rPr>
              <a:t>http://</a:t>
            </a:r>
            <a:r>
              <a:rPr lang="de-DE" sz="1000" dirty="0" smtClean="0">
                <a:hlinkClick r:id="rId4"/>
              </a:rPr>
              <a:t>data.wu.ac.at/portalwatch</a:t>
            </a:r>
            <a:r>
              <a:rPr lang="de-DE" sz="1000" dirty="0" smtClean="0"/>
              <a:t> </a:t>
            </a:r>
            <a:endParaRPr lang="de-DE" sz="1000" dirty="0"/>
          </a:p>
        </p:txBody>
      </p:sp>
      <p:sp>
        <p:nvSpPr>
          <p:cNvPr id="10" name="Rechteck 9"/>
          <p:cNvSpPr/>
          <p:nvPr/>
        </p:nvSpPr>
        <p:spPr>
          <a:xfrm>
            <a:off x="5892401" y="1239402"/>
            <a:ext cx="3185487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300" dirty="0" err="1" smtClean="0">
                <a:latin typeface="+mj-lt"/>
              </a:rPr>
              <a:t>Based</a:t>
            </a:r>
            <a:r>
              <a:rPr lang="de-DE" sz="1300" dirty="0" smtClean="0">
                <a:latin typeface="+mj-lt"/>
              </a:rPr>
              <a:t> on </a:t>
            </a:r>
            <a:r>
              <a:rPr lang="de-DE" sz="1300" b="1" dirty="0" smtClean="0">
                <a:latin typeface="+mj-lt"/>
              </a:rPr>
              <a:t>Open </a:t>
            </a:r>
            <a:r>
              <a:rPr lang="de-DE" sz="1300" b="1" dirty="0">
                <a:latin typeface="+mj-lt"/>
              </a:rPr>
              <a:t>Data Portal </a:t>
            </a:r>
            <a:r>
              <a:rPr lang="de-DE" sz="1300" b="1" dirty="0" smtClean="0">
                <a:latin typeface="+mj-lt"/>
              </a:rPr>
              <a:t>Watch</a:t>
            </a:r>
            <a:br>
              <a:rPr lang="de-DE" sz="1300" b="1" dirty="0" smtClean="0">
                <a:latin typeface="+mj-lt"/>
              </a:rPr>
            </a:br>
            <a:r>
              <a:rPr lang="de-DE" sz="1300" dirty="0" smtClean="0">
                <a:latin typeface="+mj-lt"/>
              </a:rPr>
              <a:t>Monitoring </a:t>
            </a:r>
            <a:r>
              <a:rPr lang="de-DE" sz="1300" dirty="0" err="1" smtClean="0">
                <a:latin typeface="+mj-lt"/>
              </a:rPr>
              <a:t>and</a:t>
            </a:r>
            <a:r>
              <a:rPr lang="de-DE" sz="1300" dirty="0" smtClean="0">
                <a:latin typeface="+mj-lt"/>
              </a:rPr>
              <a:t> QA </a:t>
            </a:r>
            <a:r>
              <a:rPr lang="de-DE" sz="1300" dirty="0" err="1" smtClean="0">
                <a:latin typeface="+mj-lt"/>
              </a:rPr>
              <a:t>of</a:t>
            </a:r>
            <a:r>
              <a:rPr lang="de-DE" sz="1300" dirty="0" smtClean="0">
                <a:latin typeface="+mj-lt"/>
              </a:rPr>
              <a:t> &gt; 250 </a:t>
            </a:r>
            <a:r>
              <a:rPr lang="de-DE" sz="1300" dirty="0" err="1" smtClean="0">
                <a:latin typeface="+mj-lt"/>
              </a:rPr>
              <a:t>data</a:t>
            </a:r>
            <a:r>
              <a:rPr lang="de-DE" sz="1300" dirty="0" smtClean="0">
                <a:latin typeface="+mj-lt"/>
              </a:rPr>
              <a:t> </a:t>
            </a:r>
            <a:r>
              <a:rPr lang="de-DE" sz="1300" dirty="0" err="1" smtClean="0">
                <a:latin typeface="+mj-lt"/>
              </a:rPr>
              <a:t>portals</a:t>
            </a:r>
            <a:endParaRPr lang="de-DE" sz="1300" dirty="0">
              <a:latin typeface="+mj-lt"/>
            </a:endParaRPr>
          </a:p>
        </p:txBody>
      </p:sp>
      <p:cxnSp>
        <p:nvCxnSpPr>
          <p:cNvPr id="12" name="Gerader Verbinder 11"/>
          <p:cNvCxnSpPr/>
          <p:nvPr/>
        </p:nvCxnSpPr>
        <p:spPr>
          <a:xfrm>
            <a:off x="5804454" y="1200647"/>
            <a:ext cx="0" cy="429019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hteck 13"/>
          <p:cNvSpPr/>
          <p:nvPr/>
        </p:nvSpPr>
        <p:spPr>
          <a:xfrm>
            <a:off x="541913" y="1208598"/>
            <a:ext cx="500256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b="1" dirty="0" smtClean="0">
                <a:latin typeface="+mj-lt"/>
              </a:rPr>
              <a:t>Monitors</a:t>
            </a:r>
            <a:r>
              <a:rPr lang="de-DE" sz="1600" dirty="0" smtClean="0">
                <a:latin typeface="+mj-lt"/>
              </a:rPr>
              <a:t> </a:t>
            </a:r>
            <a:r>
              <a:rPr lang="de-DE" sz="1600" dirty="0" err="1" smtClean="0">
                <a:latin typeface="+mj-lt"/>
              </a:rPr>
              <a:t>and</a:t>
            </a:r>
            <a:r>
              <a:rPr lang="de-DE" sz="1600" dirty="0" smtClean="0">
                <a:latin typeface="+mj-lt"/>
              </a:rPr>
              <a:t> </a:t>
            </a:r>
            <a:r>
              <a:rPr lang="de-DE" sz="1600" b="1" dirty="0" err="1">
                <a:latin typeface="+mj-lt"/>
              </a:rPr>
              <a:t>r</a:t>
            </a:r>
            <a:r>
              <a:rPr lang="de-DE" sz="1600" b="1" dirty="0" err="1" smtClean="0">
                <a:latin typeface="+mj-lt"/>
              </a:rPr>
              <a:t>eports</a:t>
            </a:r>
            <a:r>
              <a:rPr lang="de-DE" sz="1600" dirty="0" smtClean="0">
                <a:latin typeface="+mj-lt"/>
              </a:rPr>
              <a:t> </a:t>
            </a:r>
            <a:r>
              <a:rPr lang="de-DE" sz="1600" dirty="0" err="1" smtClean="0">
                <a:latin typeface="+mj-lt"/>
              </a:rPr>
              <a:t>the</a:t>
            </a:r>
            <a:r>
              <a:rPr lang="de-DE" sz="1600" dirty="0" smtClean="0">
                <a:latin typeface="+mj-lt"/>
              </a:rPr>
              <a:t> </a:t>
            </a:r>
            <a:r>
              <a:rPr lang="de-DE" sz="1600" dirty="0" err="1" smtClean="0">
                <a:latin typeface="+mj-lt"/>
              </a:rPr>
              <a:t>quality</a:t>
            </a:r>
            <a:r>
              <a:rPr lang="de-DE" sz="1600" dirty="0" smtClean="0">
                <a:latin typeface="+mj-lt"/>
              </a:rPr>
              <a:t> </a:t>
            </a:r>
            <a:r>
              <a:rPr lang="de-DE" sz="1600" dirty="0" err="1" smtClean="0">
                <a:latin typeface="+mj-lt"/>
              </a:rPr>
              <a:t>of</a:t>
            </a:r>
            <a:r>
              <a:rPr lang="de-DE" sz="1600" dirty="0" smtClean="0">
                <a:latin typeface="+mj-lt"/>
              </a:rPr>
              <a:t> </a:t>
            </a:r>
            <a:r>
              <a:rPr lang="de-DE" sz="1600" dirty="0" err="1" smtClean="0">
                <a:latin typeface="+mj-lt"/>
              </a:rPr>
              <a:t>the</a:t>
            </a:r>
            <a:r>
              <a:rPr lang="de-DE" sz="1600" dirty="0" smtClean="0">
                <a:latin typeface="+mj-lt"/>
              </a:rPr>
              <a:t> </a:t>
            </a:r>
            <a:r>
              <a:rPr lang="de-DE" sz="1600" dirty="0" err="1" smtClean="0">
                <a:latin typeface="+mj-lt"/>
              </a:rPr>
              <a:t>use</a:t>
            </a:r>
            <a:r>
              <a:rPr lang="de-DE" sz="1600" dirty="0" smtClean="0">
                <a:latin typeface="+mj-lt"/>
              </a:rPr>
              <a:t> </a:t>
            </a:r>
            <a:r>
              <a:rPr lang="de-DE" sz="1600" dirty="0" err="1" smtClean="0">
                <a:latin typeface="+mj-lt"/>
              </a:rPr>
              <a:t>case</a:t>
            </a:r>
            <a:r>
              <a:rPr lang="de-DE" sz="1600" dirty="0" smtClean="0">
                <a:latin typeface="+mj-lt"/>
              </a:rPr>
              <a:t> </a:t>
            </a:r>
            <a:r>
              <a:rPr lang="de-DE" sz="1600" dirty="0" err="1" smtClean="0">
                <a:latin typeface="+mj-lt"/>
              </a:rPr>
              <a:t>partner</a:t>
            </a:r>
            <a:r>
              <a:rPr lang="de-DE" sz="1600" dirty="0" smtClean="0">
                <a:latin typeface="+mj-lt"/>
              </a:rPr>
              <a:t> </a:t>
            </a:r>
            <a:r>
              <a:rPr lang="de-DE" sz="1600" dirty="0" err="1" smtClean="0">
                <a:latin typeface="+mj-lt"/>
              </a:rPr>
              <a:t>portals</a:t>
            </a:r>
            <a:endParaRPr lang="de-DE" sz="1600" dirty="0">
              <a:latin typeface="+mj-lt"/>
            </a:endParaRPr>
          </a:p>
        </p:txBody>
      </p:sp>
      <p:pic>
        <p:nvPicPr>
          <p:cNvPr id="15" name="Grafik 1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8785" y="1900369"/>
            <a:ext cx="2169789" cy="336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11363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25"/>
          <a:stretch/>
        </p:blipFill>
        <p:spPr>
          <a:xfrm>
            <a:off x="603811" y="1225538"/>
            <a:ext cx="7861460" cy="4350145"/>
          </a:xfrm>
        </p:spPr>
      </p:pic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(ii) Quality Assessment …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DC40E-DBBE-4E2D-9EEC-FBF0DA0E9179}" type="slidenum">
              <a:rPr lang="en-GB" smtClean="0"/>
              <a:pPr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859362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748" y="1131755"/>
            <a:ext cx="7258308" cy="4258054"/>
          </a:xfrm>
        </p:spPr>
      </p:pic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(ii) … &amp; Quality </a:t>
            </a:r>
            <a:r>
              <a:rPr lang="de-DE" dirty="0" err="1" smtClean="0"/>
              <a:t>Improvements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DC40E-DBBE-4E2D-9EEC-FBF0DA0E9179}" type="slidenum">
              <a:rPr lang="en-GB" smtClean="0"/>
              <a:pPr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747923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977" y="2681363"/>
            <a:ext cx="3531352" cy="2141393"/>
          </a:xfrm>
          <a:prstGeom prst="rect">
            <a:avLst/>
          </a:prstGeom>
        </p:spPr>
      </p:pic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462019" y="1209446"/>
            <a:ext cx="4245153" cy="1899519"/>
          </a:xfrm>
        </p:spPr>
        <p:txBody>
          <a:bodyPr/>
          <a:lstStyle/>
          <a:p>
            <a:pPr marL="0" indent="0">
              <a:buNone/>
            </a:pPr>
            <a:r>
              <a:rPr lang="de-DE" sz="1800" i="1" dirty="0" err="1" smtClean="0">
                <a:latin typeface="+mj-lt"/>
              </a:rPr>
              <a:t>Odalic</a:t>
            </a:r>
            <a:r>
              <a:rPr lang="de-DE" sz="1800" i="1" dirty="0" smtClean="0">
                <a:latin typeface="+mj-lt"/>
              </a:rPr>
              <a:t> [1]: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e-DE" dirty="0" err="1" smtClean="0">
                <a:latin typeface="+mj-lt"/>
              </a:rPr>
              <a:t>Semantic</a:t>
            </a:r>
            <a:r>
              <a:rPr lang="de-DE" dirty="0" smtClean="0">
                <a:latin typeface="+mj-lt"/>
              </a:rPr>
              <a:t> </a:t>
            </a:r>
            <a:r>
              <a:rPr lang="de-DE" dirty="0" err="1" smtClean="0">
                <a:latin typeface="+mj-lt"/>
              </a:rPr>
              <a:t>interpretations</a:t>
            </a:r>
            <a:r>
              <a:rPr lang="de-DE" dirty="0" smtClean="0">
                <a:latin typeface="+mj-lt"/>
              </a:rPr>
              <a:t> </a:t>
            </a:r>
            <a:r>
              <a:rPr lang="de-DE" dirty="0" err="1" smtClean="0">
                <a:latin typeface="+mj-lt"/>
              </a:rPr>
              <a:t>of</a:t>
            </a:r>
            <a:r>
              <a:rPr lang="de-DE" dirty="0" smtClean="0">
                <a:latin typeface="+mj-lt"/>
              </a:rPr>
              <a:t> </a:t>
            </a:r>
            <a:r>
              <a:rPr lang="de-DE" dirty="0" err="1" smtClean="0">
                <a:latin typeface="+mj-lt"/>
              </a:rPr>
              <a:t>tabular</a:t>
            </a:r>
            <a:r>
              <a:rPr lang="de-DE" dirty="0" smtClean="0">
                <a:latin typeface="+mj-lt"/>
              </a:rPr>
              <a:t> </a:t>
            </a:r>
            <a:r>
              <a:rPr lang="de-DE" dirty="0" err="1" smtClean="0">
                <a:latin typeface="+mj-lt"/>
              </a:rPr>
              <a:t>data</a:t>
            </a:r>
            <a:endParaRPr lang="de-DE" dirty="0" smtClean="0">
              <a:latin typeface="+mj-lt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de-DE" dirty="0" err="1" smtClean="0">
                <a:latin typeface="+mj-lt"/>
              </a:rPr>
              <a:t>Annotations</a:t>
            </a:r>
            <a:r>
              <a:rPr lang="de-DE" dirty="0" smtClean="0">
                <a:latin typeface="+mj-lt"/>
              </a:rPr>
              <a:t> </a:t>
            </a:r>
            <a:r>
              <a:rPr lang="de-DE" dirty="0" err="1" smtClean="0">
                <a:latin typeface="+mj-lt"/>
              </a:rPr>
              <a:t>of</a:t>
            </a:r>
            <a:r>
              <a:rPr lang="de-DE" dirty="0" smtClean="0">
                <a:latin typeface="+mj-lt"/>
              </a:rPr>
              <a:t> (i) </a:t>
            </a:r>
            <a:r>
              <a:rPr lang="de-DE" dirty="0" err="1" smtClean="0">
                <a:latin typeface="+mj-lt"/>
              </a:rPr>
              <a:t>columns</a:t>
            </a:r>
            <a:r>
              <a:rPr lang="de-DE" dirty="0" smtClean="0">
                <a:latin typeface="+mj-lt"/>
              </a:rPr>
              <a:t>, (ii) </a:t>
            </a:r>
            <a:r>
              <a:rPr lang="de-DE" dirty="0" err="1" smtClean="0">
                <a:latin typeface="+mj-lt"/>
              </a:rPr>
              <a:t>cell</a:t>
            </a:r>
            <a:r>
              <a:rPr lang="de-DE" dirty="0" smtClean="0">
                <a:latin typeface="+mj-lt"/>
              </a:rPr>
              <a:t> </a:t>
            </a:r>
            <a:r>
              <a:rPr lang="de-DE" dirty="0" err="1" smtClean="0">
                <a:latin typeface="+mj-lt"/>
              </a:rPr>
              <a:t>values</a:t>
            </a:r>
            <a:r>
              <a:rPr lang="de-DE" dirty="0" smtClean="0">
                <a:latin typeface="+mj-lt"/>
              </a:rPr>
              <a:t>, </a:t>
            </a:r>
            <a:r>
              <a:rPr lang="de-DE" dirty="0" err="1" smtClean="0">
                <a:latin typeface="+mj-lt"/>
              </a:rPr>
              <a:t>and</a:t>
            </a:r>
            <a:r>
              <a:rPr lang="de-DE" dirty="0" smtClean="0">
                <a:latin typeface="+mj-lt"/>
              </a:rPr>
              <a:t> (iii) </a:t>
            </a:r>
            <a:r>
              <a:rPr lang="de-DE" dirty="0" err="1" smtClean="0">
                <a:latin typeface="+mj-lt"/>
              </a:rPr>
              <a:t>relations</a:t>
            </a:r>
            <a:r>
              <a:rPr lang="de-DE" dirty="0" smtClean="0">
                <a:latin typeface="+mj-lt"/>
              </a:rPr>
              <a:t> </a:t>
            </a:r>
            <a:r>
              <a:rPr lang="de-DE" dirty="0" err="1" smtClean="0">
                <a:latin typeface="+mj-lt"/>
              </a:rPr>
              <a:t>between</a:t>
            </a:r>
            <a:r>
              <a:rPr lang="de-DE" dirty="0" smtClean="0">
                <a:latin typeface="+mj-lt"/>
              </a:rPr>
              <a:t> </a:t>
            </a:r>
            <a:r>
              <a:rPr lang="de-DE" dirty="0" err="1" smtClean="0">
                <a:latin typeface="+mj-lt"/>
              </a:rPr>
              <a:t>columns</a:t>
            </a:r>
            <a:endParaRPr lang="de-DE" dirty="0" smtClean="0">
              <a:latin typeface="+mj-lt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de-DE" dirty="0" smtClean="0">
                <a:latin typeface="+mj-lt"/>
              </a:rPr>
              <a:t>Re-publishing </a:t>
            </a:r>
            <a:r>
              <a:rPr lang="de-DE" dirty="0" err="1" smtClean="0">
                <a:latin typeface="+mj-lt"/>
              </a:rPr>
              <a:t>as</a:t>
            </a:r>
            <a:r>
              <a:rPr lang="de-DE" dirty="0" smtClean="0">
                <a:latin typeface="+mj-lt"/>
              </a:rPr>
              <a:t> RDF</a:t>
            </a:r>
          </a:p>
          <a:p>
            <a:pPr marL="266700" lvl="1" indent="0">
              <a:buNone/>
            </a:pPr>
            <a:endParaRPr lang="de-DE" dirty="0" smtClean="0">
              <a:latin typeface="+mj-lt"/>
            </a:endParaRPr>
          </a:p>
          <a:p>
            <a:pPr marL="266700" lvl="1" indent="0">
              <a:buNone/>
            </a:pPr>
            <a:endParaRPr lang="de-DE" dirty="0">
              <a:latin typeface="+mj-lt"/>
            </a:endParaRP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(iii) </a:t>
            </a:r>
            <a:r>
              <a:rPr lang="de-DE" dirty="0" err="1" smtClean="0"/>
              <a:t>Linkage</a:t>
            </a:r>
            <a:r>
              <a:rPr lang="de-DE" dirty="0" smtClean="0"/>
              <a:t> …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DC40E-DBBE-4E2D-9EEC-FBF0DA0E9179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6" name="Rechteck 5"/>
          <p:cNvSpPr/>
          <p:nvPr/>
        </p:nvSpPr>
        <p:spPr>
          <a:xfrm>
            <a:off x="92774" y="5379983"/>
            <a:ext cx="766903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 smtClean="0">
                <a:latin typeface="+mj-lt"/>
              </a:rPr>
              <a:t>[1] </a:t>
            </a:r>
            <a:r>
              <a:rPr lang="en-US" sz="1050" dirty="0" err="1" smtClean="0">
                <a:latin typeface="+mj-lt"/>
              </a:rPr>
              <a:t>Tomáš</a:t>
            </a:r>
            <a:r>
              <a:rPr lang="en-US" sz="1050" dirty="0" smtClean="0">
                <a:latin typeface="+mj-lt"/>
              </a:rPr>
              <a:t> </a:t>
            </a:r>
            <a:r>
              <a:rPr lang="en-US" sz="1050" dirty="0">
                <a:latin typeface="+mj-lt"/>
              </a:rPr>
              <a:t>Knap. Towards </a:t>
            </a:r>
            <a:r>
              <a:rPr lang="en-US" sz="1050" dirty="0" err="1">
                <a:latin typeface="+mj-lt"/>
              </a:rPr>
              <a:t>Odalic</a:t>
            </a:r>
            <a:r>
              <a:rPr lang="en-US" sz="1050" dirty="0">
                <a:latin typeface="+mj-lt"/>
              </a:rPr>
              <a:t>, a Semantic Table Interpretation Tool in the </a:t>
            </a:r>
            <a:r>
              <a:rPr lang="en-US" sz="1050" dirty="0" err="1" smtClean="0">
                <a:latin typeface="+mj-lt"/>
              </a:rPr>
              <a:t>ADEQUATe</a:t>
            </a:r>
            <a:r>
              <a:rPr lang="en-US" sz="1050" dirty="0" smtClean="0">
                <a:latin typeface="+mj-lt"/>
              </a:rPr>
              <a:t> Project. </a:t>
            </a:r>
            <a:r>
              <a:rPr lang="en-US" sz="1050" dirty="0">
                <a:latin typeface="+mj-lt"/>
              </a:rPr>
              <a:t>In </a:t>
            </a:r>
            <a:r>
              <a:rPr lang="en-US" sz="1050" dirty="0" smtClean="0">
                <a:latin typeface="+mj-lt"/>
              </a:rPr>
              <a:t>LD4IE  Workshop 2017</a:t>
            </a:r>
            <a:endParaRPr lang="de-DE" sz="1050" dirty="0">
              <a:latin typeface="+mj-lt"/>
            </a:endParaRPr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68" y="2698115"/>
            <a:ext cx="5326272" cy="2505612"/>
          </a:xfrm>
          <a:prstGeom prst="rect">
            <a:avLst/>
          </a:prstGeom>
        </p:spPr>
      </p:pic>
      <p:sp>
        <p:nvSpPr>
          <p:cNvPr id="9" name="Rechteck 8"/>
          <p:cNvSpPr/>
          <p:nvPr/>
        </p:nvSpPr>
        <p:spPr>
          <a:xfrm>
            <a:off x="5155934" y="1676886"/>
            <a:ext cx="369386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39750" lvl="1" indent="-273050" defTabSz="914306">
              <a:spcAft>
                <a:spcPts val="400"/>
              </a:spcAft>
              <a:buClr>
                <a:srgbClr val="0096D3"/>
              </a:buClr>
              <a:buSzPct val="100000"/>
              <a:buFont typeface="Arial" panose="020B0604020202020204" pitchFamily="34" charset="0"/>
              <a:buChar char="•"/>
            </a:pPr>
            <a:r>
              <a:rPr lang="de-DE" sz="1500" dirty="0" err="1">
                <a:solidFill>
                  <a:srgbClr val="000000"/>
                </a:solidFill>
                <a:latin typeface="Georgia"/>
              </a:rPr>
              <a:t>Using</a:t>
            </a:r>
            <a:r>
              <a:rPr lang="de-DE" sz="1500" dirty="0">
                <a:solidFill>
                  <a:srgbClr val="000000"/>
                </a:solidFill>
                <a:latin typeface="Georgia"/>
              </a:rPr>
              <a:t> </a:t>
            </a:r>
            <a:r>
              <a:rPr lang="de-DE" sz="1500" dirty="0" err="1">
                <a:solidFill>
                  <a:srgbClr val="000000"/>
                </a:solidFill>
                <a:latin typeface="Georgia"/>
              </a:rPr>
              <a:t>ADEQUATe</a:t>
            </a:r>
            <a:r>
              <a:rPr lang="de-DE" sz="1500" dirty="0">
                <a:solidFill>
                  <a:srgbClr val="000000"/>
                </a:solidFill>
                <a:latin typeface="Georgia"/>
              </a:rPr>
              <a:t> </a:t>
            </a:r>
            <a:r>
              <a:rPr lang="de-DE" sz="1500" dirty="0" err="1">
                <a:solidFill>
                  <a:srgbClr val="000000"/>
                </a:solidFill>
                <a:latin typeface="Georgia"/>
              </a:rPr>
              <a:t>knowledge</a:t>
            </a:r>
            <a:r>
              <a:rPr lang="de-DE" sz="1500" dirty="0">
                <a:solidFill>
                  <a:srgbClr val="000000"/>
                </a:solidFill>
                <a:latin typeface="Georgia"/>
              </a:rPr>
              <a:t> </a:t>
            </a:r>
            <a:r>
              <a:rPr lang="de-DE" sz="1500" dirty="0" err="1">
                <a:solidFill>
                  <a:srgbClr val="000000"/>
                </a:solidFill>
                <a:latin typeface="Georgia"/>
              </a:rPr>
              <a:t>base</a:t>
            </a:r>
            <a:r>
              <a:rPr lang="de-DE" sz="1500" dirty="0">
                <a:solidFill>
                  <a:srgbClr val="000000"/>
                </a:solidFill>
                <a:latin typeface="Georgia"/>
              </a:rPr>
              <a:t> (Austrian-</a:t>
            </a:r>
            <a:r>
              <a:rPr lang="de-DE" sz="1500" dirty="0" err="1">
                <a:solidFill>
                  <a:srgbClr val="000000"/>
                </a:solidFill>
                <a:latin typeface="Georgia"/>
              </a:rPr>
              <a:t>specific</a:t>
            </a:r>
            <a:r>
              <a:rPr lang="de-DE" sz="1500" dirty="0">
                <a:solidFill>
                  <a:srgbClr val="000000"/>
                </a:solidFill>
                <a:latin typeface="Georgia"/>
              </a:rPr>
              <a:t> </a:t>
            </a:r>
            <a:r>
              <a:rPr lang="de-DE" sz="1500" dirty="0" err="1">
                <a:solidFill>
                  <a:srgbClr val="000000"/>
                </a:solidFill>
                <a:latin typeface="Georgia"/>
              </a:rPr>
              <a:t>knowledge</a:t>
            </a:r>
            <a:r>
              <a:rPr lang="de-DE" sz="1500" dirty="0">
                <a:solidFill>
                  <a:srgbClr val="000000"/>
                </a:solidFill>
                <a:latin typeface="Georgia"/>
              </a:rPr>
              <a:t>)</a:t>
            </a:r>
          </a:p>
        </p:txBody>
      </p:sp>
      <p:cxnSp>
        <p:nvCxnSpPr>
          <p:cNvPr id="10" name="Gerader Verbinder 9"/>
          <p:cNvCxnSpPr/>
          <p:nvPr/>
        </p:nvCxnSpPr>
        <p:spPr>
          <a:xfrm>
            <a:off x="5426998" y="1184748"/>
            <a:ext cx="0" cy="413824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998875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284277" y="1954933"/>
            <a:ext cx="3498575" cy="2704529"/>
          </a:xfrm>
        </p:spPr>
        <p:txBody>
          <a:bodyPr/>
          <a:lstStyle/>
          <a:p>
            <a:pPr marL="0" lvl="0" indent="-6350">
              <a:buClr>
                <a:srgbClr val="0096D3"/>
              </a:buClr>
              <a:buNone/>
            </a:pPr>
            <a:r>
              <a:rPr lang="de-DE" sz="1800" i="1" dirty="0" err="1">
                <a:solidFill>
                  <a:srgbClr val="000000"/>
                </a:solidFill>
                <a:latin typeface="Georgia"/>
              </a:rPr>
              <a:t>PoolParty</a:t>
            </a:r>
            <a:r>
              <a:rPr lang="de-DE" sz="1800" i="1" dirty="0">
                <a:solidFill>
                  <a:srgbClr val="000000"/>
                </a:solidFill>
                <a:latin typeface="Georgia"/>
              </a:rPr>
              <a:t> GraphSearch:</a:t>
            </a:r>
            <a:r>
              <a:rPr lang="de-DE" sz="1800" i="1" baseline="30000" dirty="0">
                <a:solidFill>
                  <a:srgbClr val="000000"/>
                </a:solidFill>
              </a:rPr>
              <a:t>1</a:t>
            </a:r>
            <a:endParaRPr lang="de-DE" sz="1800" i="1" dirty="0">
              <a:solidFill>
                <a:srgbClr val="000000"/>
              </a:solidFill>
            </a:endParaRPr>
          </a:p>
          <a:p>
            <a:pPr>
              <a:buClr>
                <a:srgbClr val="0096D3"/>
              </a:buClr>
              <a:buFont typeface="Arial" panose="020B0604020202020204" pitchFamily="34" charset="0"/>
              <a:buChar char="•"/>
            </a:pPr>
            <a:r>
              <a:rPr lang="de-DE" sz="1700" dirty="0" err="1">
                <a:solidFill>
                  <a:srgbClr val="000000"/>
                </a:solidFill>
                <a:latin typeface="Georgia"/>
              </a:rPr>
              <a:t>Full</a:t>
            </a:r>
            <a:r>
              <a:rPr lang="de-DE" sz="1700" dirty="0">
                <a:solidFill>
                  <a:srgbClr val="000000"/>
                </a:solidFill>
                <a:latin typeface="Georgia"/>
              </a:rPr>
              <a:t> </a:t>
            </a:r>
            <a:r>
              <a:rPr lang="de-DE" sz="1700" dirty="0" err="1">
                <a:solidFill>
                  <a:srgbClr val="000000"/>
                </a:solidFill>
                <a:latin typeface="Georgia"/>
              </a:rPr>
              <a:t>text</a:t>
            </a:r>
            <a:r>
              <a:rPr lang="de-DE" sz="1700" dirty="0">
                <a:solidFill>
                  <a:srgbClr val="000000"/>
                </a:solidFill>
                <a:latin typeface="Georgia"/>
              </a:rPr>
              <a:t> </a:t>
            </a:r>
            <a:r>
              <a:rPr lang="de-DE" sz="1700" dirty="0" err="1">
                <a:solidFill>
                  <a:srgbClr val="000000"/>
                </a:solidFill>
                <a:latin typeface="Georgia"/>
              </a:rPr>
              <a:t>search</a:t>
            </a:r>
            <a:endParaRPr lang="de-DE" sz="1700" dirty="0">
              <a:solidFill>
                <a:srgbClr val="000000"/>
              </a:solidFill>
              <a:latin typeface="Georgia"/>
            </a:endParaRPr>
          </a:p>
          <a:p>
            <a:pPr>
              <a:buClr>
                <a:srgbClr val="0096D3"/>
              </a:buClr>
              <a:buFont typeface="Arial" panose="020B0604020202020204" pitchFamily="34" charset="0"/>
              <a:buChar char="•"/>
            </a:pPr>
            <a:r>
              <a:rPr lang="de-DE" sz="1700" dirty="0" err="1">
                <a:solidFill>
                  <a:srgbClr val="000000"/>
                </a:solidFill>
                <a:latin typeface="Georgia"/>
              </a:rPr>
              <a:t>Faceted</a:t>
            </a:r>
            <a:r>
              <a:rPr lang="de-DE" sz="1700" dirty="0">
                <a:solidFill>
                  <a:srgbClr val="000000"/>
                </a:solidFill>
                <a:latin typeface="Georgia"/>
              </a:rPr>
              <a:t> </a:t>
            </a:r>
            <a:r>
              <a:rPr lang="de-DE" sz="1700" dirty="0" err="1">
                <a:solidFill>
                  <a:srgbClr val="000000"/>
                </a:solidFill>
                <a:latin typeface="Georgia"/>
              </a:rPr>
              <a:t>search</a:t>
            </a:r>
            <a:r>
              <a:rPr lang="de-DE" sz="1700" dirty="0">
                <a:solidFill>
                  <a:srgbClr val="000000"/>
                </a:solidFill>
                <a:latin typeface="Georgia"/>
              </a:rPr>
              <a:t>, </a:t>
            </a:r>
            <a:r>
              <a:rPr lang="de-DE" sz="1700" dirty="0" err="1">
                <a:solidFill>
                  <a:srgbClr val="000000"/>
                </a:solidFill>
                <a:latin typeface="Georgia"/>
              </a:rPr>
              <a:t>based</a:t>
            </a:r>
            <a:r>
              <a:rPr lang="de-DE" sz="1700" dirty="0">
                <a:solidFill>
                  <a:srgbClr val="000000"/>
                </a:solidFill>
                <a:latin typeface="Georgia"/>
              </a:rPr>
              <a:t> on </a:t>
            </a:r>
            <a:r>
              <a:rPr lang="de-DE" sz="1700" dirty="0" err="1">
                <a:solidFill>
                  <a:srgbClr val="000000"/>
                </a:solidFill>
                <a:latin typeface="Georgia"/>
              </a:rPr>
              <a:t>entities</a:t>
            </a:r>
            <a:r>
              <a:rPr lang="de-DE" sz="1700" dirty="0">
                <a:solidFill>
                  <a:srgbClr val="000000"/>
                </a:solidFill>
                <a:latin typeface="Georgia"/>
              </a:rPr>
              <a:t> in </a:t>
            </a:r>
            <a:r>
              <a:rPr lang="de-DE" sz="1700" dirty="0" err="1">
                <a:solidFill>
                  <a:srgbClr val="000000"/>
                </a:solidFill>
                <a:latin typeface="Georgia"/>
              </a:rPr>
              <a:t>ADEQUATe</a:t>
            </a:r>
            <a:r>
              <a:rPr lang="de-DE" sz="1700" dirty="0">
                <a:solidFill>
                  <a:srgbClr val="000000"/>
                </a:solidFill>
                <a:latin typeface="Georgia"/>
              </a:rPr>
              <a:t> </a:t>
            </a:r>
            <a:r>
              <a:rPr lang="de-DE" sz="1700" dirty="0" err="1">
                <a:solidFill>
                  <a:srgbClr val="000000"/>
                </a:solidFill>
                <a:latin typeface="Georgia"/>
              </a:rPr>
              <a:t>knowledge</a:t>
            </a:r>
            <a:r>
              <a:rPr lang="de-DE" sz="1700" dirty="0">
                <a:solidFill>
                  <a:srgbClr val="000000"/>
                </a:solidFill>
                <a:latin typeface="Georgia"/>
              </a:rPr>
              <a:t> </a:t>
            </a:r>
            <a:r>
              <a:rPr lang="de-DE" sz="1700" dirty="0" err="1">
                <a:solidFill>
                  <a:srgbClr val="000000"/>
                </a:solidFill>
                <a:latin typeface="Georgia"/>
              </a:rPr>
              <a:t>base</a:t>
            </a:r>
            <a:endParaRPr lang="de-DE" sz="1700" dirty="0">
              <a:solidFill>
                <a:srgbClr val="000000"/>
              </a:solidFill>
              <a:latin typeface="Georgia"/>
            </a:endParaRPr>
          </a:p>
          <a:p>
            <a:pPr>
              <a:buClr>
                <a:srgbClr val="0096D3"/>
              </a:buClr>
              <a:buFont typeface="Arial" panose="020B0604020202020204" pitchFamily="34" charset="0"/>
              <a:buChar char="•"/>
            </a:pPr>
            <a:r>
              <a:rPr lang="de-DE" sz="1700" i="1" dirty="0">
                <a:solidFill>
                  <a:srgbClr val="000000"/>
                </a:solidFill>
                <a:latin typeface="Georgia"/>
              </a:rPr>
              <a:t>TODO: </a:t>
            </a:r>
            <a:r>
              <a:rPr lang="de-DE" sz="1700" dirty="0" err="1">
                <a:solidFill>
                  <a:srgbClr val="000000"/>
                </a:solidFill>
                <a:latin typeface="Georgia"/>
              </a:rPr>
              <a:t>Integrating</a:t>
            </a:r>
            <a:r>
              <a:rPr lang="de-DE" sz="1700" dirty="0">
                <a:solidFill>
                  <a:srgbClr val="000000"/>
                </a:solidFill>
                <a:latin typeface="Georgia"/>
              </a:rPr>
              <a:t> </a:t>
            </a:r>
            <a:r>
              <a:rPr lang="de-DE" sz="1700" dirty="0" err="1">
                <a:solidFill>
                  <a:srgbClr val="000000"/>
                </a:solidFill>
                <a:latin typeface="Georgia"/>
              </a:rPr>
              <a:t>Odalic</a:t>
            </a:r>
            <a:r>
              <a:rPr lang="de-DE" sz="1700" dirty="0">
                <a:solidFill>
                  <a:srgbClr val="000000"/>
                </a:solidFill>
                <a:latin typeface="Georgia"/>
              </a:rPr>
              <a:t> </a:t>
            </a:r>
            <a:r>
              <a:rPr lang="de-DE" sz="1700" dirty="0" err="1">
                <a:solidFill>
                  <a:srgbClr val="000000"/>
                </a:solidFill>
                <a:latin typeface="Georgia"/>
              </a:rPr>
              <a:t>annotations</a:t>
            </a:r>
            <a:r>
              <a:rPr lang="de-DE" sz="1700" dirty="0">
                <a:solidFill>
                  <a:srgbClr val="000000"/>
                </a:solidFill>
                <a:latin typeface="Georgia"/>
              </a:rPr>
              <a:t> in </a:t>
            </a:r>
            <a:r>
              <a:rPr lang="de-DE" sz="1700" dirty="0" err="1">
                <a:solidFill>
                  <a:srgbClr val="000000"/>
                </a:solidFill>
                <a:latin typeface="Georgia"/>
              </a:rPr>
              <a:t>the</a:t>
            </a:r>
            <a:r>
              <a:rPr lang="de-DE" sz="1700" dirty="0">
                <a:solidFill>
                  <a:srgbClr val="000000"/>
                </a:solidFill>
                <a:latin typeface="Georgia"/>
              </a:rPr>
              <a:t> </a:t>
            </a:r>
            <a:r>
              <a:rPr lang="de-DE" sz="1700" dirty="0" err="1">
                <a:solidFill>
                  <a:srgbClr val="000000"/>
                </a:solidFill>
                <a:latin typeface="Georgia"/>
              </a:rPr>
              <a:t>GraphSearch</a:t>
            </a:r>
            <a:endParaRPr lang="de-DE" sz="1700" dirty="0">
              <a:solidFill>
                <a:srgbClr val="000000"/>
              </a:solidFill>
              <a:latin typeface="Georgia"/>
            </a:endParaRPr>
          </a:p>
          <a:p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(iii) </a:t>
            </a:r>
            <a:r>
              <a:rPr lang="de-DE" dirty="0" smtClean="0"/>
              <a:t>… </a:t>
            </a:r>
            <a:r>
              <a:rPr lang="de-DE" dirty="0"/>
              <a:t>&amp; Search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DC40E-DBBE-4E2D-9EEC-FBF0DA0E9179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6" name="Rechteck 5"/>
          <p:cNvSpPr/>
          <p:nvPr/>
        </p:nvSpPr>
        <p:spPr>
          <a:xfrm>
            <a:off x="284277" y="5236924"/>
            <a:ext cx="4456669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de-DE" sz="1050" i="1" baseline="30000" dirty="0">
                <a:solidFill>
                  <a:srgbClr val="000000"/>
                </a:solidFill>
              </a:rPr>
              <a:t>1   </a:t>
            </a:r>
            <a:r>
              <a:rPr lang="en-US" sz="1050" dirty="0">
                <a:solidFill>
                  <a:srgbClr val="000000"/>
                </a:solidFill>
                <a:latin typeface="Georgia"/>
              </a:rPr>
              <a:t>https://www.poolparty.biz/poolparty-semantic-graph-search-server/</a:t>
            </a:r>
            <a:endParaRPr lang="de-DE" sz="1050" dirty="0">
              <a:solidFill>
                <a:srgbClr val="000000"/>
              </a:solidFill>
              <a:latin typeface="Georgia"/>
            </a:endParaRPr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01"/>
          <a:stretch/>
        </p:blipFill>
        <p:spPr>
          <a:xfrm>
            <a:off x="3860523" y="1677720"/>
            <a:ext cx="5237398" cy="2838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96278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2153172" y="2486974"/>
            <a:ext cx="4784957" cy="963236"/>
          </a:xfrm>
        </p:spPr>
        <p:txBody>
          <a:bodyPr>
            <a:normAutofit/>
          </a:bodyPr>
          <a:lstStyle/>
          <a:p>
            <a:r>
              <a:rPr lang="de-DE" u="sng" dirty="0" err="1" smtClean="0"/>
              <a:t>Exemplary</a:t>
            </a:r>
            <a:r>
              <a:rPr lang="de-DE" u="sng" dirty="0" smtClean="0"/>
              <a:t> User Journey</a:t>
            </a:r>
            <a:endParaRPr lang="de-DE" u="sng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DC40E-DBBE-4E2D-9EEC-FBF0DA0E9179}" type="slidenum">
              <a:rPr lang="en-GB" smtClean="0"/>
              <a:pPr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159378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44001" cy="5636029"/>
          </a:xfrm>
        </p:spPr>
      </p:pic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DC40E-DBBE-4E2D-9EEC-FBF0DA0E9179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6" name="Pfeil nach rechts 5"/>
          <p:cNvSpPr/>
          <p:nvPr/>
        </p:nvSpPr>
        <p:spPr>
          <a:xfrm rot="9329144">
            <a:off x="7835916" y="2269338"/>
            <a:ext cx="1471120" cy="69407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096621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/>
        </p:nvSpPr>
        <p:spPr>
          <a:xfrm>
            <a:off x="5844619" y="961533"/>
            <a:ext cx="3299381" cy="2216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3586041" y="2751153"/>
            <a:ext cx="1685675" cy="10257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3200" i="1" dirty="0" smtClean="0">
                <a:latin typeface="+mj-lt"/>
              </a:rPr>
              <a:t>Demo</a:t>
            </a:r>
            <a:endParaRPr lang="de-DE" sz="3200" i="1" dirty="0">
              <a:latin typeface="+mj-lt"/>
            </a:endParaRP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0" name="Rechteck 9"/>
          <p:cNvSpPr/>
          <p:nvPr/>
        </p:nvSpPr>
        <p:spPr>
          <a:xfrm>
            <a:off x="0" y="0"/>
            <a:ext cx="9144000" cy="26677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8" name="Gruppieren 7"/>
          <p:cNvGrpSpPr/>
          <p:nvPr/>
        </p:nvGrpSpPr>
        <p:grpSpPr>
          <a:xfrm>
            <a:off x="705290" y="0"/>
            <a:ext cx="7447175" cy="5599523"/>
            <a:chOff x="1677972" y="767717"/>
            <a:chExt cx="5941258" cy="4449231"/>
          </a:xfrm>
        </p:grpSpPr>
        <p:pic>
          <p:nvPicPr>
            <p:cNvPr id="6" name="Inhaltsplatzhalter 4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6103"/>
            <a:stretch/>
          </p:blipFill>
          <p:spPr>
            <a:xfrm>
              <a:off x="1677972" y="4034669"/>
              <a:ext cx="5941258" cy="1182279"/>
            </a:xfrm>
            <a:prstGeom prst="rect">
              <a:avLst/>
            </a:prstGeom>
          </p:spPr>
        </p:pic>
        <p:pic>
          <p:nvPicPr>
            <p:cNvPr id="5" name="Inhaltsplatzhalter 4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4628"/>
            <a:stretch/>
          </p:blipFill>
          <p:spPr>
            <a:xfrm>
              <a:off x="1677972" y="767717"/>
              <a:ext cx="5941258" cy="3728869"/>
            </a:xfrm>
            <a:prstGeom prst="rect">
              <a:avLst/>
            </a:prstGeom>
          </p:spPr>
        </p:pic>
        <p:pic>
          <p:nvPicPr>
            <p:cNvPr id="7" name="Inhaltsplatzhalter 4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6103" r="80986" b="17450"/>
            <a:stretch/>
          </p:blipFill>
          <p:spPr>
            <a:xfrm>
              <a:off x="1677972" y="4177646"/>
              <a:ext cx="1129644" cy="318940"/>
            </a:xfrm>
            <a:prstGeom prst="rect">
              <a:avLst/>
            </a:prstGeom>
          </p:spPr>
        </p:pic>
      </p:grp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DC40E-DBBE-4E2D-9EEC-FBF0DA0E9179}" type="slidenum">
              <a:rPr lang="en-GB" smtClean="0"/>
              <a:pPr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4827550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>
          <a:xfrm>
            <a:off x="0" y="0"/>
            <a:ext cx="9144000" cy="26677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DC40E-DBBE-4E2D-9EEC-FBF0DA0E9179}" type="slidenum">
              <a:rPr lang="en-GB" smtClean="0"/>
              <a:pPr/>
              <a:t>15</a:t>
            </a:fld>
            <a:endParaRPr lang="en-GB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019" y="37708"/>
            <a:ext cx="8041069" cy="5258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14721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462019" y="1328711"/>
            <a:ext cx="7759644" cy="358705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e-DE" dirty="0" err="1" smtClean="0">
                <a:latin typeface="+mj-lt"/>
              </a:rPr>
              <a:t>Platform</a:t>
            </a:r>
            <a:r>
              <a:rPr lang="de-DE" dirty="0" smtClean="0">
                <a:latin typeface="+mj-lt"/>
              </a:rPr>
              <a:t>, </a:t>
            </a:r>
            <a:r>
              <a:rPr lang="de-DE" dirty="0" err="1">
                <a:latin typeface="+mj-lt"/>
              </a:rPr>
              <a:t>source</a:t>
            </a:r>
            <a:r>
              <a:rPr lang="de-DE" dirty="0">
                <a:latin typeface="+mj-lt"/>
              </a:rPr>
              <a:t> </a:t>
            </a:r>
            <a:r>
              <a:rPr lang="de-DE" dirty="0" err="1" smtClean="0">
                <a:latin typeface="+mj-lt"/>
              </a:rPr>
              <a:t>code</a:t>
            </a:r>
            <a:r>
              <a:rPr lang="de-DE" dirty="0" smtClean="0">
                <a:latin typeface="+mj-lt"/>
              </a:rPr>
              <a:t>, </a:t>
            </a:r>
            <a:r>
              <a:rPr lang="de-DE" dirty="0" err="1" smtClean="0">
                <a:latin typeface="+mj-lt"/>
              </a:rPr>
              <a:t>and</a:t>
            </a:r>
            <a:r>
              <a:rPr lang="de-DE" dirty="0" smtClean="0">
                <a:latin typeface="+mj-lt"/>
              </a:rPr>
              <a:t> </a:t>
            </a:r>
            <a:r>
              <a:rPr lang="de-DE" dirty="0" err="1">
                <a:latin typeface="+mj-lt"/>
              </a:rPr>
              <a:t>data</a:t>
            </a:r>
            <a:r>
              <a:rPr lang="de-DE" dirty="0">
                <a:latin typeface="+mj-lt"/>
              </a:rPr>
              <a:t> online </a:t>
            </a:r>
            <a:r>
              <a:rPr lang="de-DE" dirty="0" err="1">
                <a:latin typeface="+mj-lt"/>
              </a:rPr>
              <a:t>available</a:t>
            </a:r>
            <a:r>
              <a:rPr lang="de-DE" dirty="0">
                <a:latin typeface="+mj-lt"/>
              </a:rPr>
              <a:t>:</a:t>
            </a:r>
          </a:p>
          <a:p>
            <a:pPr lvl="1">
              <a:buClr>
                <a:srgbClr val="0096D3"/>
              </a:buClr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000000"/>
                </a:solidFill>
                <a:latin typeface="+mj-lt"/>
                <a:hlinkClick r:id="rId2"/>
              </a:rPr>
              <a:t>www.adequate.at</a:t>
            </a:r>
            <a:r>
              <a:rPr lang="de-DE" sz="16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endParaRPr lang="de-DE" sz="1600" dirty="0">
              <a:latin typeface="+mj-lt"/>
            </a:endParaRPr>
          </a:p>
          <a:p>
            <a:pPr marL="0" indent="0">
              <a:buNone/>
            </a:pPr>
            <a:r>
              <a:rPr lang="de-DE" i="1" dirty="0" smtClean="0">
                <a:latin typeface="+mj-lt"/>
              </a:rPr>
              <a:t>Outlook: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e-DE" sz="1600" dirty="0" smtClean="0">
                <a:latin typeface="+mj-lt"/>
              </a:rPr>
              <a:t>Integration </a:t>
            </a:r>
            <a:r>
              <a:rPr lang="de-DE" sz="1600" dirty="0" err="1" smtClean="0">
                <a:latin typeface="+mj-lt"/>
              </a:rPr>
              <a:t>of</a:t>
            </a:r>
            <a:r>
              <a:rPr lang="de-DE" sz="1600" dirty="0" smtClean="0">
                <a:latin typeface="+mj-lt"/>
              </a:rPr>
              <a:t> </a:t>
            </a:r>
            <a:r>
              <a:rPr lang="de-DE" sz="1600" dirty="0" err="1" smtClean="0">
                <a:latin typeface="+mj-lt"/>
              </a:rPr>
              <a:t>other</a:t>
            </a:r>
            <a:r>
              <a:rPr lang="de-DE" sz="1600" dirty="0" smtClean="0">
                <a:latin typeface="+mj-lt"/>
              </a:rPr>
              <a:t> QI </a:t>
            </a:r>
            <a:r>
              <a:rPr lang="de-DE" sz="1600" dirty="0" err="1" smtClean="0">
                <a:latin typeface="+mj-lt"/>
              </a:rPr>
              <a:t>tools</a:t>
            </a:r>
            <a:r>
              <a:rPr lang="de-DE" sz="1600" dirty="0" smtClean="0">
                <a:latin typeface="+mj-lt"/>
              </a:rPr>
              <a:t>, e.g. Open </a:t>
            </a:r>
            <a:r>
              <a:rPr lang="de-DE" sz="1600" dirty="0" err="1" smtClean="0">
                <a:latin typeface="+mj-lt"/>
              </a:rPr>
              <a:t>Refine</a:t>
            </a:r>
            <a:endParaRPr lang="de-DE" sz="1600" dirty="0" smtClean="0">
              <a:latin typeface="+mj-lt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de-DE" sz="1600" dirty="0" err="1" smtClean="0">
                <a:latin typeface="+mj-lt"/>
              </a:rPr>
              <a:t>Continuation</a:t>
            </a:r>
            <a:r>
              <a:rPr lang="de-DE" sz="1600" dirty="0" smtClean="0">
                <a:latin typeface="+mj-lt"/>
              </a:rPr>
              <a:t> in </a:t>
            </a:r>
            <a:r>
              <a:rPr lang="en-US" sz="1600" dirty="0" smtClean="0">
                <a:latin typeface="+mj-lt"/>
              </a:rPr>
              <a:t>substantively related </a:t>
            </a:r>
            <a:r>
              <a:rPr lang="en-US" sz="1600" dirty="0">
                <a:latin typeface="+mj-lt"/>
              </a:rPr>
              <a:t>Austrian project </a:t>
            </a:r>
            <a:r>
              <a:rPr lang="en-US" sz="1600" dirty="0" err="1" smtClean="0">
                <a:latin typeface="+mj-lt"/>
              </a:rPr>
              <a:t>CommuniData</a:t>
            </a:r>
            <a:r>
              <a:rPr lang="en-US" sz="1600" dirty="0">
                <a:latin typeface="+mj-lt"/>
              </a:rPr>
              <a:t>: </a:t>
            </a:r>
            <a:r>
              <a:rPr lang="en-US" sz="1600" dirty="0" smtClean="0">
                <a:latin typeface="+mj-lt"/>
                <a:hlinkClick r:id="rId3"/>
              </a:rPr>
              <a:t>www.communidata.at</a:t>
            </a:r>
            <a:endParaRPr lang="en-US" sz="1600" dirty="0" smtClean="0">
              <a:latin typeface="+mj-lt"/>
            </a:endParaRPr>
          </a:p>
          <a:p>
            <a:pPr marL="0" indent="-6350">
              <a:buNone/>
            </a:pPr>
            <a:r>
              <a:rPr lang="en-US" dirty="0" smtClean="0">
                <a:latin typeface="+mj-lt"/>
              </a:rPr>
              <a:t> </a:t>
            </a:r>
          </a:p>
          <a:p>
            <a:pPr marL="0" indent="-6350">
              <a:buNone/>
            </a:pPr>
            <a:r>
              <a:rPr lang="de-DE" i="1" dirty="0" smtClean="0">
                <a:latin typeface="+mj-lt"/>
              </a:rPr>
              <a:t>Open Challenge: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e-DE" sz="1600" dirty="0" err="1" smtClean="0">
                <a:latin typeface="+mj-lt"/>
              </a:rPr>
              <a:t>We</a:t>
            </a:r>
            <a:r>
              <a:rPr lang="de-DE" sz="1600" dirty="0" smtClean="0">
                <a:latin typeface="+mj-lt"/>
              </a:rPr>
              <a:t> </a:t>
            </a:r>
            <a:r>
              <a:rPr lang="de-DE" sz="1600" dirty="0" err="1" smtClean="0">
                <a:latin typeface="+mj-lt"/>
              </a:rPr>
              <a:t>have</a:t>
            </a:r>
            <a:r>
              <a:rPr lang="de-DE" sz="1600" dirty="0" smtClean="0">
                <a:latin typeface="+mj-lt"/>
              </a:rPr>
              <a:t> </a:t>
            </a:r>
            <a:r>
              <a:rPr lang="de-DE" sz="1600" dirty="0" err="1" smtClean="0">
                <a:latin typeface="+mj-lt"/>
              </a:rPr>
              <a:t>the</a:t>
            </a:r>
            <a:r>
              <a:rPr lang="de-DE" sz="1600" dirty="0" smtClean="0">
                <a:latin typeface="+mj-lt"/>
              </a:rPr>
              <a:t> </a:t>
            </a:r>
            <a:r>
              <a:rPr lang="de-DE" sz="1600" dirty="0" err="1" smtClean="0">
                <a:latin typeface="+mj-lt"/>
              </a:rPr>
              <a:t>tools</a:t>
            </a:r>
            <a:r>
              <a:rPr lang="de-DE" sz="1600" dirty="0" smtClean="0">
                <a:latin typeface="+mj-lt"/>
              </a:rPr>
              <a:t>, </a:t>
            </a:r>
            <a:r>
              <a:rPr lang="de-DE" sz="1600" dirty="0" err="1" smtClean="0">
                <a:latin typeface="+mj-lt"/>
              </a:rPr>
              <a:t>services</a:t>
            </a:r>
            <a:r>
              <a:rPr lang="de-DE" sz="1600" dirty="0" smtClean="0">
                <a:latin typeface="+mj-lt"/>
              </a:rPr>
              <a:t> &amp; </a:t>
            </a:r>
            <a:r>
              <a:rPr lang="de-DE" sz="1600" dirty="0" err="1" smtClean="0">
                <a:latin typeface="+mj-lt"/>
              </a:rPr>
              <a:t>platform</a:t>
            </a:r>
            <a:r>
              <a:rPr lang="de-DE" sz="1600" dirty="0" smtClean="0">
                <a:latin typeface="+mj-lt"/>
              </a:rPr>
              <a:t>…</a:t>
            </a:r>
            <a:br>
              <a:rPr lang="de-DE" sz="1600" dirty="0" smtClean="0">
                <a:latin typeface="+mj-lt"/>
              </a:rPr>
            </a:br>
            <a:r>
              <a:rPr lang="de-DE" sz="1600" b="1" dirty="0" err="1" smtClean="0">
                <a:latin typeface="+mj-lt"/>
              </a:rPr>
              <a:t>How</a:t>
            </a:r>
            <a:r>
              <a:rPr lang="de-DE" sz="1600" b="1" dirty="0" smtClean="0">
                <a:latin typeface="+mj-lt"/>
              </a:rPr>
              <a:t> </a:t>
            </a:r>
            <a:r>
              <a:rPr lang="de-DE" sz="1600" b="1" dirty="0" err="1" smtClean="0">
                <a:latin typeface="+mj-lt"/>
              </a:rPr>
              <a:t>to</a:t>
            </a:r>
            <a:r>
              <a:rPr lang="de-DE" sz="1600" b="1" dirty="0" smtClean="0">
                <a:latin typeface="+mj-lt"/>
              </a:rPr>
              <a:t> </a:t>
            </a:r>
            <a:r>
              <a:rPr lang="de-DE" sz="1600" b="1" dirty="0" err="1" smtClean="0">
                <a:latin typeface="+mj-lt"/>
              </a:rPr>
              <a:t>get</a:t>
            </a:r>
            <a:r>
              <a:rPr lang="de-DE" sz="1600" b="1" dirty="0" smtClean="0">
                <a:latin typeface="+mj-lt"/>
              </a:rPr>
              <a:t> </a:t>
            </a:r>
            <a:r>
              <a:rPr lang="de-DE" sz="1600" b="1" dirty="0" err="1" smtClean="0">
                <a:latin typeface="+mj-lt"/>
              </a:rPr>
              <a:t>the</a:t>
            </a:r>
            <a:r>
              <a:rPr lang="de-DE" sz="1600" b="1" dirty="0" smtClean="0">
                <a:latin typeface="+mj-lt"/>
              </a:rPr>
              <a:t> </a:t>
            </a:r>
            <a:r>
              <a:rPr lang="de-DE" sz="1600" b="1" dirty="0" err="1" smtClean="0">
                <a:latin typeface="+mj-lt"/>
              </a:rPr>
              <a:t>users</a:t>
            </a:r>
            <a:r>
              <a:rPr lang="de-DE" sz="1600" b="1" dirty="0" smtClean="0">
                <a:latin typeface="+mj-lt"/>
              </a:rPr>
              <a:t>?</a:t>
            </a:r>
            <a:endParaRPr lang="de-DE" sz="1600" b="1" dirty="0">
              <a:latin typeface="+mj-lt"/>
            </a:endParaRP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Outlook &amp; Open Challenge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DC40E-DBBE-4E2D-9EEC-FBF0DA0E9179}" type="slidenum">
              <a:rPr lang="en-GB" smtClean="0"/>
              <a:pPr/>
              <a:t>16</a:t>
            </a:fld>
            <a:endParaRPr lang="en-GB" dirty="0"/>
          </a:p>
        </p:txBody>
      </p:sp>
      <p:sp>
        <p:nvSpPr>
          <p:cNvPr id="9" name="Abgerundetes Rechteck 8"/>
          <p:cNvSpPr/>
          <p:nvPr/>
        </p:nvSpPr>
        <p:spPr>
          <a:xfrm>
            <a:off x="5383033" y="3616786"/>
            <a:ext cx="3530378" cy="158416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de-DE" sz="2000" b="1" dirty="0" err="1">
                <a:solidFill>
                  <a:schemeClr val="bg1"/>
                </a:solidFill>
                <a:latin typeface="Georgia"/>
              </a:rPr>
              <a:t>Thank</a:t>
            </a:r>
            <a:r>
              <a:rPr lang="de-DE" sz="2000" b="1" dirty="0">
                <a:solidFill>
                  <a:schemeClr val="bg1"/>
                </a:solidFill>
                <a:latin typeface="Georgia"/>
              </a:rPr>
              <a:t> </a:t>
            </a:r>
            <a:r>
              <a:rPr lang="de-DE" sz="2000" b="1" dirty="0" err="1">
                <a:solidFill>
                  <a:schemeClr val="bg1"/>
                </a:solidFill>
                <a:latin typeface="Georgia"/>
              </a:rPr>
              <a:t>you</a:t>
            </a:r>
            <a:r>
              <a:rPr lang="de-DE" sz="2000" b="1" dirty="0" smtClean="0">
                <a:solidFill>
                  <a:schemeClr val="bg1"/>
                </a:solidFill>
                <a:latin typeface="Georgia"/>
              </a:rPr>
              <a:t>! </a:t>
            </a:r>
            <a:r>
              <a:rPr lang="de-DE" dirty="0" smtClean="0">
                <a:solidFill>
                  <a:schemeClr val="bg1"/>
                </a:solidFill>
                <a:latin typeface="Georgia"/>
              </a:rPr>
              <a:t>sebastian.neumaier@wu.ac.at</a:t>
            </a:r>
            <a:endParaRPr lang="de-DE" dirty="0">
              <a:solidFill>
                <a:schemeClr val="bg1"/>
              </a:solidFill>
              <a:latin typeface="Georgia"/>
            </a:endParaRPr>
          </a:p>
          <a:p>
            <a:pPr lvl="0"/>
            <a:r>
              <a:rPr lang="de-DE" sz="1400" dirty="0">
                <a:solidFill>
                  <a:schemeClr val="bg1"/>
                </a:solidFill>
                <a:latin typeface="Georgia"/>
              </a:rPr>
              <a:t>https://sebneumaier.wordpress.com/</a:t>
            </a:r>
          </a:p>
          <a:p>
            <a:pPr lvl="0"/>
            <a:r>
              <a:rPr lang="de-DE" sz="1400" dirty="0" err="1">
                <a:solidFill>
                  <a:schemeClr val="bg1"/>
                </a:solidFill>
                <a:latin typeface="Georgia"/>
              </a:rPr>
              <a:t>twitter</a:t>
            </a:r>
            <a:r>
              <a:rPr lang="de-DE" sz="1400" dirty="0">
                <a:solidFill>
                  <a:schemeClr val="bg1"/>
                </a:solidFill>
                <a:latin typeface="Georgia"/>
              </a:rPr>
              <a:t>: @</a:t>
            </a:r>
            <a:r>
              <a:rPr lang="de-DE" sz="1400" dirty="0" err="1">
                <a:solidFill>
                  <a:schemeClr val="bg1"/>
                </a:solidFill>
                <a:latin typeface="Georgia"/>
              </a:rPr>
              <a:t>sebneum</a:t>
            </a:r>
            <a:endParaRPr lang="de-DE" sz="1400" dirty="0">
              <a:solidFill>
                <a:schemeClr val="bg1"/>
              </a:solidFill>
              <a:latin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42861622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EDLANGUAGE" val="English UK"/>
</p:tagLst>
</file>

<file path=ppt/theme/theme1.xml><?xml version="1.0" encoding="utf-8"?>
<a:theme xmlns:a="http://schemas.openxmlformats.org/drawingml/2006/main" name="WU 16:10">
  <a:themeElements>
    <a:clrScheme name="WU">
      <a:dk1>
        <a:srgbClr val="000000"/>
      </a:dk1>
      <a:lt1>
        <a:srgbClr val="FFFFFF"/>
      </a:lt1>
      <a:dk2>
        <a:srgbClr val="002350"/>
      </a:dk2>
      <a:lt2>
        <a:srgbClr val="E5F5FA"/>
      </a:lt2>
      <a:accent1>
        <a:srgbClr val="0096D3"/>
      </a:accent1>
      <a:accent2>
        <a:srgbClr val="002350"/>
      </a:accent2>
      <a:accent3>
        <a:srgbClr val="4B2582"/>
      </a:accent3>
      <a:accent4>
        <a:srgbClr val="457AA0"/>
      </a:accent4>
      <a:accent5>
        <a:srgbClr val="A592C0"/>
      </a:accent5>
      <a:accent6>
        <a:srgbClr val="80CFE9"/>
      </a:accent6>
      <a:hlink>
        <a:srgbClr val="405A7C"/>
      </a:hlink>
      <a:folHlink>
        <a:srgbClr val="0082AA"/>
      </a:folHlink>
    </a:clrScheme>
    <a:fontScheme name="WU neu">
      <a:majorFont>
        <a:latin typeface="Georgi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WU Farbschema neu">
        <a:dk1>
          <a:srgbClr val="000000"/>
        </a:dk1>
        <a:lt1>
          <a:sysClr val="window" lastClr="FFFFFF"/>
        </a:lt1>
        <a:dk2>
          <a:srgbClr val="002E60"/>
        </a:dk2>
        <a:lt2>
          <a:srgbClr val="E5F5FA"/>
        </a:lt2>
        <a:accent1>
          <a:srgbClr val="0096D3"/>
        </a:accent1>
        <a:accent2>
          <a:srgbClr val="002E60"/>
        </a:accent2>
        <a:accent3>
          <a:srgbClr val="532481"/>
        </a:accent3>
        <a:accent4>
          <a:srgbClr val="457AA0"/>
        </a:accent4>
        <a:accent5>
          <a:srgbClr val="A991C0"/>
        </a:accent5>
        <a:accent6>
          <a:srgbClr val="7FCAE9"/>
        </a:accent6>
        <a:hlink>
          <a:srgbClr val="406288"/>
        </a:hlink>
        <a:folHlink>
          <a:srgbClr val="008FA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WU Sample Presentation 16x10 with pictures V1.potx" id="{A40F362A-B76E-412D-8E18-69796A2AA4D0}" vid="{109EF84B-B0AD-4929-8F80-9F33A237FDD6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Kategorie xmlns="dde413db-0745-4f3a-8dca-564dc7ff6f7d">Präsentationen</Kategorie>
    <Beschreibung xmlns="dde413db-0745-4f3a-8dca-564dc7ff6f7d" xsi:nil="true"/>
    <TaxCatchAll xmlns="08b0a3ee-3d2a-451c-9a1a-7e5d5b0c9c77">
      <Value>266</Value>
      <Value>403</Value>
    </TaxCatchAll>
    <DokumentenartTaxHTField0 xmlns="1a8d9a65-8471-4209-a900-f8e11db75e0a">
      <Terms xmlns="http://schemas.microsoft.com/office/infopath/2007/PartnerControls">
        <TermInfo xmlns="http://schemas.microsoft.com/office/infopath/2007/PartnerControls">
          <TermName xmlns="http://schemas.microsoft.com/office/infopath/2007/PartnerControls">Vorlagen</TermName>
          <TermId xmlns="http://schemas.microsoft.com/office/infopath/2007/PartnerControls">17fc50ed-8ad1-47be-ab12-04243fd74ddb</TermId>
        </TermInfo>
      </Terms>
    </DokumentenartTaxHTField0>
    <WU_x0020_ThemaTaxHTField0 xmlns="1a8d9a65-8471-4209-a900-f8e11db75e0a">
      <Terms xmlns="http://schemas.microsoft.com/office/infopath/2007/PartnerControls">
        <TermInfo xmlns="http://schemas.microsoft.com/office/infopath/2007/PartnerControls">
          <TermName xmlns="http://schemas.microsoft.com/office/infopath/2007/PartnerControls">Corporate Design</TermName>
          <TermId xmlns="http://schemas.microsoft.com/office/infopath/2007/PartnerControls">19895bcd-b158-45ae-ab7b-f5ca217dfcec</TermId>
        </TermInfo>
      </Terms>
    </WU_x0020_ThemaTaxHTField0>
    <Format xmlns="dde413db-0745-4f3a-8dca-564dc7ff6f7d">Office 2007-2013</Format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CF651A35DF3154DB01328AF51148DAE" ma:contentTypeVersion="1" ma:contentTypeDescription="Ein neues Dokument erstellen." ma:contentTypeScope="" ma:versionID="0dcebb7a579e7f029c72fac92e1dfe73">
  <xsd:schema xmlns:xsd="http://www.w3.org/2001/XMLSchema" xmlns:xs="http://www.w3.org/2001/XMLSchema" xmlns:p="http://schemas.microsoft.com/office/2006/metadata/properties" xmlns:ns2="1a8d9a65-8471-4209-a900-f8e11db75e0a" xmlns:ns3="08b0a3ee-3d2a-451c-9a1a-7e5d5b0c9c77" xmlns:ns4="dde413db-0745-4f3a-8dca-564dc7ff6f7d" targetNamespace="http://schemas.microsoft.com/office/2006/metadata/properties" ma:root="true" ma:fieldsID="b5ffb9764d314564f3e389d2af5484ad" ns2:_="" ns3:_="" ns4:_="">
    <xsd:import namespace="1a8d9a65-8471-4209-a900-f8e11db75e0a"/>
    <xsd:import namespace="08b0a3ee-3d2a-451c-9a1a-7e5d5b0c9c77"/>
    <xsd:import namespace="dde413db-0745-4f3a-8dca-564dc7ff6f7d"/>
    <xsd:element name="properties">
      <xsd:complexType>
        <xsd:sequence>
          <xsd:element name="documentManagement">
            <xsd:complexType>
              <xsd:all>
                <xsd:element ref="ns2:WU_x0020_ThemaTaxHTField0" minOccurs="0"/>
                <xsd:element ref="ns3:TaxCatchAll" minOccurs="0"/>
                <xsd:element ref="ns2:DokumentenartTaxHTField0" minOccurs="0"/>
                <xsd:element ref="ns4:Beschreibung" minOccurs="0"/>
                <xsd:element ref="ns4:Format" minOccurs="0"/>
                <xsd:element ref="ns4:Kategorie" minOccurs="0"/>
                <xsd:element ref="ns3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8d9a65-8471-4209-a900-f8e11db75e0a" elementFormDefault="qualified">
    <xsd:import namespace="http://schemas.microsoft.com/office/2006/documentManagement/types"/>
    <xsd:import namespace="http://schemas.microsoft.com/office/infopath/2007/PartnerControls"/>
    <xsd:element name="WU_x0020_ThemaTaxHTField0" ma:index="9" nillable="true" ma:taxonomy="true" ma:internalName="WU_x0020_ThemaTaxHTField0" ma:taxonomyFieldName="WU_x0020_Thema" ma:displayName="Schlagwort" ma:default="" ma:fieldId="{a2eb3201-e251-4055-97e9-466604fc777f}" ma:taxonomyMulti="true" ma:sspId="59da4ae5-1217-4de6-bd64-b7a740f353bb" ma:termSetId="c1edca97-812b-4584-b6b5-1e5cade81cae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DokumentenartTaxHTField0" ma:index="12" nillable="true" ma:taxonomy="true" ma:internalName="DokumentenartTaxHTField0" ma:taxonomyFieldName="Dokumentenart" ma:displayName="Dokumentenart" ma:default="" ma:fieldId="{0f2e647f-32b7-4850-b6be-ae358ed71e70}" ma:taxonomyMulti="true" ma:sspId="59da4ae5-1217-4de6-bd64-b7a740f353bb" ma:termSetId="325756d7-e24e-4b6f-ba71-3f779d34c1ea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b0a3ee-3d2a-451c-9a1a-7e5d5b0c9c77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description="" ma:hidden="true" ma:list="{6a103bb8-3913-4e3b-a229-080a76572464}" ma:internalName="TaxCatchAll" ma:showField="CatchAllData" ma:web="08b0a3ee-3d2a-451c-9a1a-7e5d5b0c9c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Freigegeben für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e413db-0745-4f3a-8dca-564dc7ff6f7d" elementFormDefault="qualified">
    <xsd:import namespace="http://schemas.microsoft.com/office/2006/documentManagement/types"/>
    <xsd:import namespace="http://schemas.microsoft.com/office/infopath/2007/PartnerControls"/>
    <xsd:element name="Beschreibung" ma:index="13" nillable="true" ma:displayName="Beschreibung" ma:internalName="Beschreibung">
      <xsd:simpleType>
        <xsd:restriction base="dms:Note">
          <xsd:maxLength value="255"/>
        </xsd:restriction>
      </xsd:simpleType>
    </xsd:element>
    <xsd:element name="Format" ma:index="14" nillable="true" ma:displayName="Format" ma:format="Dropdown" ma:internalName="Format">
      <xsd:simpleType>
        <xsd:union memberTypes="dms:Text">
          <xsd:simpleType>
            <xsd:restriction base="dms:Choice">
              <xsd:enumeration value="LaTeX"/>
              <xsd:enumeration value="Office 2003"/>
              <xsd:enumeration value="Office 2007-2013"/>
              <xsd:enumeration value="OpenOffice 3.0"/>
            </xsd:restriction>
          </xsd:simpleType>
        </xsd:union>
      </xsd:simpleType>
    </xsd:element>
    <xsd:element name="Kategorie" ma:index="15" nillable="true" ma:displayName="Kategorie" ma:default="Anleitungen" ma:format="Dropdown" ma:internalName="Kategorie">
      <xsd:simpleType>
        <xsd:union memberTypes="dms:Text">
          <xsd:simpleType>
            <xsd:restriction base="dms:Choice">
              <xsd:enumeration value="Anleitungen"/>
              <xsd:enumeration value="Aushänge für Lift und Tür"/>
              <xsd:enumeration value="Basisvorlagen"/>
              <xsd:enumeration value="Brief-/Faxvorlagen"/>
              <xsd:enumeration value="Einladungen"/>
              <xsd:enumeration value="Etiketten"/>
              <xsd:enumeration value="Musterdateien"/>
              <xsd:enumeration value="Namensschilder"/>
              <xsd:enumeration value="Präsentationen"/>
              <xsd:enumeration value="Skripten-Cover"/>
            </xsd:restriction>
          </xsd:simpleType>
        </xsd:un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54CA5C6-2D19-402E-93C4-D8DC7CBBDCC2}">
  <ds:schemaRefs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schemas.microsoft.com/office/2006/documentManagement/types"/>
    <ds:schemaRef ds:uri="dde413db-0745-4f3a-8dca-564dc7ff6f7d"/>
    <ds:schemaRef ds:uri="08b0a3ee-3d2a-451c-9a1a-7e5d5b0c9c77"/>
    <ds:schemaRef ds:uri="http://purl.org/dc/elements/1.1/"/>
    <ds:schemaRef ds:uri="http://schemas.microsoft.com/office/2006/metadata/properties"/>
    <ds:schemaRef ds:uri="1a8d9a65-8471-4209-a900-f8e11db75e0a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DAA01B68-F869-4573-825C-4DD8EBCAED3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a8d9a65-8471-4209-a900-f8e11db75e0a"/>
    <ds:schemaRef ds:uri="08b0a3ee-3d2a-451c-9a1a-7e5d5b0c9c77"/>
    <ds:schemaRef ds:uri="dde413db-0745-4f3a-8dca-564dc7ff6f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8F21957-FCA6-4C40-BED5-A169E351779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WU Template ENGLISH 16x10 with pictures V1</Template>
  <TotalTime>0</TotalTime>
  <Words>798</Words>
  <Application>Microsoft Office PowerPoint</Application>
  <PresentationFormat>Bildschirmpräsentation (16:10)</PresentationFormat>
  <Paragraphs>132</Paragraphs>
  <Slides>16</Slides>
  <Notes>3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1" baseType="lpstr">
      <vt:lpstr>Arial</vt:lpstr>
      <vt:lpstr>Georgia</vt:lpstr>
      <vt:lpstr>Verdana</vt:lpstr>
      <vt:lpstr>Wingdings</vt:lpstr>
      <vt:lpstr>WU 16:10</vt:lpstr>
      <vt:lpstr>Search, Filter, Fork,  and Link Open Data</vt:lpstr>
      <vt:lpstr>PowerPoint-Präsentation</vt:lpstr>
      <vt:lpstr>PowerPoint-Präsentation</vt:lpstr>
      <vt:lpstr>Requirements Elicitation</vt:lpstr>
      <vt:lpstr>Survey Results </vt:lpstr>
      <vt:lpstr>The Platform</vt:lpstr>
      <vt:lpstr>(i) Data Monitoring </vt:lpstr>
      <vt:lpstr>(ii) Quality Assessment …</vt:lpstr>
      <vt:lpstr>(ii) … &amp; Quality Improvements</vt:lpstr>
      <vt:lpstr>(iii) Linkage …</vt:lpstr>
      <vt:lpstr>(iii) … &amp; Search</vt:lpstr>
      <vt:lpstr>Exemplary User Journey</vt:lpstr>
      <vt:lpstr>PowerPoint-Präsentation</vt:lpstr>
      <vt:lpstr>PowerPoint-Präsentation</vt:lpstr>
      <vt:lpstr>PowerPoint-Präsentation</vt:lpstr>
      <vt:lpstr>Outlook &amp; Open Challenge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2017-03-31T09:52:02Z</dcterms:created>
  <dcterms:modified xsi:type="dcterms:W3CDTF">2018-04-19T16:08:15Z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0x010100BCF651A35DF3154DB01328AF51148DAE</vt:lpwstr>
  </property>
  <property fmtid="{D5CDD505-2E9C-101B-9397-08002B2CF9AE}" pid="3" name="WU Thema">
    <vt:lpwstr>403;#Corporate Design|19895bcd-b158-45ae-ab7b-f5ca217dfcec</vt:lpwstr>
  </property>
  <property fmtid="{D5CDD505-2E9C-101B-9397-08002B2CF9AE}" pid="4" name="Dokumentenart">
    <vt:lpwstr>266;#Vorlagen|17fc50ed-8ad1-47be-ab12-04243fd74ddb</vt:lpwstr>
  </property>
</Properties>
</file>